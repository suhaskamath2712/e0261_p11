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7" r:id="rId2"/>
    <p:sldId id="263" r:id="rId3"/>
    <p:sldId id="259" r:id="rId4"/>
    <p:sldId id="264" r:id="rId5"/>
    <p:sldId id="266" r:id="rId6"/>
    <p:sldId id="267" r:id="rId7"/>
    <p:sldId id="261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C50486F-8A6B-4A0A-AFE7-0946823EF8E4}">
          <p14:sldIdLst>
            <p14:sldId id="257"/>
            <p14:sldId id="263"/>
            <p14:sldId id="259"/>
            <p14:sldId id="264"/>
            <p14:sldId id="266"/>
            <p14:sldId id="267"/>
            <p14:sldId id="261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2973C6-A128-8FDD-B7D4-4C8887E2D49E}" v="7" dt="2025-10-24T10:59:18.976"/>
    <p1510:client id="{71EEB687-9AB6-92D4-A88B-2C6200332080}" v="72" dt="2025-10-24T10:57:06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7FDE53-0F4C-4DC4-8800-8F40B4E903D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1EFD5ABF-2543-4D08-AAAA-ADF21F3ED5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We require query plans as input for the LLM.</a:t>
          </a:r>
        </a:p>
      </dgm:t>
    </dgm:pt>
    <dgm:pt modelId="{BDDECC53-AF25-47A0-9447-B2E0A4612C28}" type="parTrans" cxnId="{48C3602B-A297-4374-A5DA-BBD3B31A4555}">
      <dgm:prSet/>
      <dgm:spPr/>
      <dgm:t>
        <a:bodyPr/>
        <a:lstStyle/>
        <a:p>
          <a:endParaRPr lang="en-US"/>
        </a:p>
      </dgm:t>
    </dgm:pt>
    <dgm:pt modelId="{2EB5EB4C-C0FF-4BC1-8F7A-89E1FAA0D44C}" type="sibTrans" cxnId="{48C3602B-A297-4374-A5DA-BBD3B31A45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9DD66C-BF4B-436A-B5ED-8D1F58DE9C6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Use EXPLAIN JSON to obtain the query plan.</a:t>
          </a:r>
        </a:p>
      </dgm:t>
    </dgm:pt>
    <dgm:pt modelId="{E43C7069-AB80-4872-9047-D306914802C9}" type="parTrans" cxnId="{A20B5656-B382-4D76-BA5C-DB7E0EA75D1A}">
      <dgm:prSet/>
      <dgm:spPr/>
      <dgm:t>
        <a:bodyPr/>
        <a:lstStyle/>
        <a:p>
          <a:endParaRPr lang="en-US"/>
        </a:p>
      </dgm:t>
    </dgm:pt>
    <dgm:pt modelId="{4D53D419-9CC3-45C5-8402-2F64E902B731}" type="sibTrans" cxnId="{A20B5656-B382-4D76-BA5C-DB7E0EA75D1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2C64931-AC8E-4542-A6E2-B679566041F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We “clean” the query plan.</a:t>
          </a:r>
        </a:p>
      </dgm:t>
    </dgm:pt>
    <dgm:pt modelId="{BBAD090A-4F33-43AC-AA04-706C315E3D56}" type="parTrans" cxnId="{FB91AC5C-225E-472A-9BAF-F034A4405997}">
      <dgm:prSet/>
      <dgm:spPr/>
      <dgm:t>
        <a:bodyPr/>
        <a:lstStyle/>
        <a:p>
          <a:endParaRPr lang="en-US"/>
        </a:p>
      </dgm:t>
    </dgm:pt>
    <dgm:pt modelId="{A698442B-73DF-4698-89C1-5DEE9ECBBA53}" type="sibTrans" cxnId="{FB91AC5C-225E-472A-9BAF-F034A4405997}">
      <dgm:prSet/>
      <dgm:spPr/>
      <dgm:t>
        <a:bodyPr/>
        <a:lstStyle/>
        <a:p>
          <a:endParaRPr lang="en-US"/>
        </a:p>
      </dgm:t>
    </dgm:pt>
    <dgm:pt modelId="{83D3E881-ACB9-4678-A554-99A5EB1D995A}" type="pres">
      <dgm:prSet presAssocID="{DB7FDE53-0F4C-4DC4-8800-8F40B4E903DC}" presName="root" presStyleCnt="0">
        <dgm:presLayoutVars>
          <dgm:dir/>
          <dgm:resizeHandles val="exact"/>
        </dgm:presLayoutVars>
      </dgm:prSet>
      <dgm:spPr/>
    </dgm:pt>
    <dgm:pt modelId="{27D6B434-B6A0-4F07-8A15-7629CA64C5EA}" type="pres">
      <dgm:prSet presAssocID="{1EFD5ABF-2543-4D08-AAAA-ADF21F3ED538}" presName="compNode" presStyleCnt="0"/>
      <dgm:spPr/>
    </dgm:pt>
    <dgm:pt modelId="{593DA778-CC1C-4EB5-A569-23ED6987B85C}" type="pres">
      <dgm:prSet presAssocID="{1EFD5ABF-2543-4D08-AAAA-ADF21F3ED53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4E53D06-E5BE-48E8-9F60-6BB1CD74D491}" type="pres">
      <dgm:prSet presAssocID="{1EFD5ABF-2543-4D08-AAAA-ADF21F3ED538}" presName="spaceRect" presStyleCnt="0"/>
      <dgm:spPr/>
    </dgm:pt>
    <dgm:pt modelId="{6EF2B11E-10C6-4806-86DC-8B638F69FCEA}" type="pres">
      <dgm:prSet presAssocID="{1EFD5ABF-2543-4D08-AAAA-ADF21F3ED538}" presName="textRect" presStyleLbl="revTx" presStyleIdx="0" presStyleCnt="3" custLinFactNeighborX="-1857" custLinFactNeighborY="-18289">
        <dgm:presLayoutVars>
          <dgm:chMax val="1"/>
          <dgm:chPref val="1"/>
        </dgm:presLayoutVars>
      </dgm:prSet>
      <dgm:spPr/>
    </dgm:pt>
    <dgm:pt modelId="{F6451DF4-2171-4E1B-96E6-EDFA4E7DA973}" type="pres">
      <dgm:prSet presAssocID="{2EB5EB4C-C0FF-4BC1-8F7A-89E1FAA0D44C}" presName="sibTrans" presStyleCnt="0"/>
      <dgm:spPr/>
    </dgm:pt>
    <dgm:pt modelId="{EA473BDE-3EA2-4BBF-8CD9-9558C553FE19}" type="pres">
      <dgm:prSet presAssocID="{A99DD66C-BF4B-436A-B5ED-8D1F58DE9C6D}" presName="compNode" presStyleCnt="0"/>
      <dgm:spPr/>
    </dgm:pt>
    <dgm:pt modelId="{3DFC030B-141F-4924-B9C5-248EE751BCD9}" type="pres">
      <dgm:prSet presAssocID="{A99DD66C-BF4B-436A-B5ED-8D1F58DE9C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C6B831F-7319-42BD-8617-E5DD361D1981}" type="pres">
      <dgm:prSet presAssocID="{A99DD66C-BF4B-436A-B5ED-8D1F58DE9C6D}" presName="spaceRect" presStyleCnt="0"/>
      <dgm:spPr/>
    </dgm:pt>
    <dgm:pt modelId="{67B9EBBD-77E3-4226-996E-0FF4DE98CF04}" type="pres">
      <dgm:prSet presAssocID="{A99DD66C-BF4B-436A-B5ED-8D1F58DE9C6D}" presName="textRect" presStyleLbl="revTx" presStyleIdx="1" presStyleCnt="3" custLinFactNeighborX="-1857" custLinFactNeighborY="-18289">
        <dgm:presLayoutVars>
          <dgm:chMax val="1"/>
          <dgm:chPref val="1"/>
        </dgm:presLayoutVars>
      </dgm:prSet>
      <dgm:spPr/>
    </dgm:pt>
    <dgm:pt modelId="{795B3F65-EC0A-43B6-BF92-0DBD868B22DC}" type="pres">
      <dgm:prSet presAssocID="{4D53D419-9CC3-45C5-8402-2F64E902B731}" presName="sibTrans" presStyleCnt="0"/>
      <dgm:spPr/>
    </dgm:pt>
    <dgm:pt modelId="{D0E42033-A8D9-4F4E-A8E9-F240891627BD}" type="pres">
      <dgm:prSet presAssocID="{32C64931-AC8E-4542-A6E2-B679566041FC}" presName="compNode" presStyleCnt="0"/>
      <dgm:spPr/>
    </dgm:pt>
    <dgm:pt modelId="{65458E59-0F5F-4E40-9A67-9CDB82D82F98}" type="pres">
      <dgm:prSet presAssocID="{32C64931-AC8E-4542-A6E2-B679566041F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DBE4851-8932-4279-AA17-C3F214FB92FF}" type="pres">
      <dgm:prSet presAssocID="{32C64931-AC8E-4542-A6E2-B679566041FC}" presName="spaceRect" presStyleCnt="0"/>
      <dgm:spPr/>
    </dgm:pt>
    <dgm:pt modelId="{8FF78F7D-5EB7-4015-8295-175E838DDC1F}" type="pres">
      <dgm:prSet presAssocID="{32C64931-AC8E-4542-A6E2-B679566041FC}" presName="textRect" presStyleLbl="revTx" presStyleIdx="2" presStyleCnt="3" custLinFactNeighborX="-1857" custLinFactNeighborY="-18289">
        <dgm:presLayoutVars>
          <dgm:chMax val="1"/>
          <dgm:chPref val="1"/>
        </dgm:presLayoutVars>
      </dgm:prSet>
      <dgm:spPr/>
    </dgm:pt>
  </dgm:ptLst>
  <dgm:cxnLst>
    <dgm:cxn modelId="{95B8CA1B-C100-4FF2-841B-FCE6B5170E02}" type="presOf" srcId="{32C64931-AC8E-4542-A6E2-B679566041FC}" destId="{8FF78F7D-5EB7-4015-8295-175E838DDC1F}" srcOrd="0" destOrd="0" presId="urn:microsoft.com/office/officeart/2018/2/layout/IconLabelList"/>
    <dgm:cxn modelId="{48C3602B-A297-4374-A5DA-BBD3B31A4555}" srcId="{DB7FDE53-0F4C-4DC4-8800-8F40B4E903DC}" destId="{1EFD5ABF-2543-4D08-AAAA-ADF21F3ED538}" srcOrd="0" destOrd="0" parTransId="{BDDECC53-AF25-47A0-9447-B2E0A4612C28}" sibTransId="{2EB5EB4C-C0FF-4BC1-8F7A-89E1FAA0D44C}"/>
    <dgm:cxn modelId="{FB91AC5C-225E-472A-9BAF-F034A4405997}" srcId="{DB7FDE53-0F4C-4DC4-8800-8F40B4E903DC}" destId="{32C64931-AC8E-4542-A6E2-B679566041FC}" srcOrd="2" destOrd="0" parTransId="{BBAD090A-4F33-43AC-AA04-706C315E3D56}" sibTransId="{A698442B-73DF-4698-89C1-5DEE9ECBBA53}"/>
    <dgm:cxn modelId="{2C836443-B613-4EF5-8889-B06A89DA0D3C}" type="presOf" srcId="{A99DD66C-BF4B-436A-B5ED-8D1F58DE9C6D}" destId="{67B9EBBD-77E3-4226-996E-0FF4DE98CF04}" srcOrd="0" destOrd="0" presId="urn:microsoft.com/office/officeart/2018/2/layout/IconLabelList"/>
    <dgm:cxn modelId="{F1D16348-14F2-4602-9697-00D861A58993}" type="presOf" srcId="{DB7FDE53-0F4C-4DC4-8800-8F40B4E903DC}" destId="{83D3E881-ACB9-4678-A554-99A5EB1D995A}" srcOrd="0" destOrd="0" presId="urn:microsoft.com/office/officeart/2018/2/layout/IconLabelList"/>
    <dgm:cxn modelId="{A20B5656-B382-4D76-BA5C-DB7E0EA75D1A}" srcId="{DB7FDE53-0F4C-4DC4-8800-8F40B4E903DC}" destId="{A99DD66C-BF4B-436A-B5ED-8D1F58DE9C6D}" srcOrd="1" destOrd="0" parTransId="{E43C7069-AB80-4872-9047-D306914802C9}" sibTransId="{4D53D419-9CC3-45C5-8402-2F64E902B731}"/>
    <dgm:cxn modelId="{9ECAECB5-8F91-4A66-968A-3665659C8B57}" type="presOf" srcId="{1EFD5ABF-2543-4D08-AAAA-ADF21F3ED538}" destId="{6EF2B11E-10C6-4806-86DC-8B638F69FCEA}" srcOrd="0" destOrd="0" presId="urn:microsoft.com/office/officeart/2018/2/layout/IconLabelList"/>
    <dgm:cxn modelId="{C8B2C1FD-F733-4CCE-B28E-9E45DF03FC1C}" type="presParOf" srcId="{83D3E881-ACB9-4678-A554-99A5EB1D995A}" destId="{27D6B434-B6A0-4F07-8A15-7629CA64C5EA}" srcOrd="0" destOrd="0" presId="urn:microsoft.com/office/officeart/2018/2/layout/IconLabelList"/>
    <dgm:cxn modelId="{6D860A25-65DA-4BA2-990D-EDEF93133950}" type="presParOf" srcId="{27D6B434-B6A0-4F07-8A15-7629CA64C5EA}" destId="{593DA778-CC1C-4EB5-A569-23ED6987B85C}" srcOrd="0" destOrd="0" presId="urn:microsoft.com/office/officeart/2018/2/layout/IconLabelList"/>
    <dgm:cxn modelId="{530A2882-90F2-47B6-9994-E8B6285BEE59}" type="presParOf" srcId="{27D6B434-B6A0-4F07-8A15-7629CA64C5EA}" destId="{94E53D06-E5BE-48E8-9F60-6BB1CD74D491}" srcOrd="1" destOrd="0" presId="urn:microsoft.com/office/officeart/2018/2/layout/IconLabelList"/>
    <dgm:cxn modelId="{8F93238C-8A07-47F4-9D16-FE7180DA7C89}" type="presParOf" srcId="{27D6B434-B6A0-4F07-8A15-7629CA64C5EA}" destId="{6EF2B11E-10C6-4806-86DC-8B638F69FCEA}" srcOrd="2" destOrd="0" presId="urn:microsoft.com/office/officeart/2018/2/layout/IconLabelList"/>
    <dgm:cxn modelId="{6789BF37-09AF-47FA-A7DF-1E7C693C31CD}" type="presParOf" srcId="{83D3E881-ACB9-4678-A554-99A5EB1D995A}" destId="{F6451DF4-2171-4E1B-96E6-EDFA4E7DA973}" srcOrd="1" destOrd="0" presId="urn:microsoft.com/office/officeart/2018/2/layout/IconLabelList"/>
    <dgm:cxn modelId="{CB65E914-2BE6-4078-ADB8-02D00E2C8FFD}" type="presParOf" srcId="{83D3E881-ACB9-4678-A554-99A5EB1D995A}" destId="{EA473BDE-3EA2-4BBF-8CD9-9558C553FE19}" srcOrd="2" destOrd="0" presId="urn:microsoft.com/office/officeart/2018/2/layout/IconLabelList"/>
    <dgm:cxn modelId="{5A4D1F24-AB9E-4DDD-AF61-58D51F57EF84}" type="presParOf" srcId="{EA473BDE-3EA2-4BBF-8CD9-9558C553FE19}" destId="{3DFC030B-141F-4924-B9C5-248EE751BCD9}" srcOrd="0" destOrd="0" presId="urn:microsoft.com/office/officeart/2018/2/layout/IconLabelList"/>
    <dgm:cxn modelId="{D33D6D3A-7D77-4BCC-B04C-9161901790B3}" type="presParOf" srcId="{EA473BDE-3EA2-4BBF-8CD9-9558C553FE19}" destId="{EC6B831F-7319-42BD-8617-E5DD361D1981}" srcOrd="1" destOrd="0" presId="urn:microsoft.com/office/officeart/2018/2/layout/IconLabelList"/>
    <dgm:cxn modelId="{A7684C18-1027-4F14-9831-93B6B5E1BA17}" type="presParOf" srcId="{EA473BDE-3EA2-4BBF-8CD9-9558C553FE19}" destId="{67B9EBBD-77E3-4226-996E-0FF4DE98CF04}" srcOrd="2" destOrd="0" presId="urn:microsoft.com/office/officeart/2018/2/layout/IconLabelList"/>
    <dgm:cxn modelId="{4B708FCF-C251-4E84-8BEB-D7CE76B26B60}" type="presParOf" srcId="{83D3E881-ACB9-4678-A554-99A5EB1D995A}" destId="{795B3F65-EC0A-43B6-BF92-0DBD868B22DC}" srcOrd="3" destOrd="0" presId="urn:microsoft.com/office/officeart/2018/2/layout/IconLabelList"/>
    <dgm:cxn modelId="{A9B5840B-929F-4081-A981-90ED70177E42}" type="presParOf" srcId="{83D3E881-ACB9-4678-A554-99A5EB1D995A}" destId="{D0E42033-A8D9-4F4E-A8E9-F240891627BD}" srcOrd="4" destOrd="0" presId="urn:microsoft.com/office/officeart/2018/2/layout/IconLabelList"/>
    <dgm:cxn modelId="{FD728E7E-FB2D-45A1-888F-D5C932EB6D1C}" type="presParOf" srcId="{D0E42033-A8D9-4F4E-A8E9-F240891627BD}" destId="{65458E59-0F5F-4E40-9A67-9CDB82D82F98}" srcOrd="0" destOrd="0" presId="urn:microsoft.com/office/officeart/2018/2/layout/IconLabelList"/>
    <dgm:cxn modelId="{A19FC108-2E6F-459B-BED1-12C74023DA6D}" type="presParOf" srcId="{D0E42033-A8D9-4F4E-A8E9-F240891627BD}" destId="{BDBE4851-8932-4279-AA17-C3F214FB92FF}" srcOrd="1" destOrd="0" presId="urn:microsoft.com/office/officeart/2018/2/layout/IconLabelList"/>
    <dgm:cxn modelId="{4A4C6832-6378-4C8D-ADF6-5CFE6367C818}" type="presParOf" srcId="{D0E42033-A8D9-4F4E-A8E9-F240891627BD}" destId="{8FF78F7D-5EB7-4015-8295-175E838DDC1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DA778-CC1C-4EB5-A569-23ED6987B85C}">
      <dsp:nvSpPr>
        <dsp:cNvPr id="0" name=""/>
        <dsp:cNvSpPr/>
      </dsp:nvSpPr>
      <dsp:spPr>
        <a:xfrm>
          <a:off x="528430" y="180231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2B11E-10C6-4806-86DC-8B638F69FCEA}">
      <dsp:nvSpPr>
        <dsp:cNvPr id="0" name=""/>
        <dsp:cNvSpPr/>
      </dsp:nvSpPr>
      <dsp:spPr>
        <a:xfrm>
          <a:off x="4" y="1127900"/>
          <a:ext cx="180000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 require query plans as input for the LLM.</a:t>
          </a:r>
        </a:p>
      </dsp:txBody>
      <dsp:txXfrm>
        <a:off x="4" y="1127900"/>
        <a:ext cx="1800000" cy="832500"/>
      </dsp:txXfrm>
    </dsp:sp>
    <dsp:sp modelId="{3DFC030B-141F-4924-B9C5-248EE751BCD9}">
      <dsp:nvSpPr>
        <dsp:cNvPr id="0" name=""/>
        <dsp:cNvSpPr/>
      </dsp:nvSpPr>
      <dsp:spPr>
        <a:xfrm>
          <a:off x="2643430" y="180231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9EBBD-77E3-4226-996E-0FF4DE98CF04}">
      <dsp:nvSpPr>
        <dsp:cNvPr id="0" name=""/>
        <dsp:cNvSpPr/>
      </dsp:nvSpPr>
      <dsp:spPr>
        <a:xfrm>
          <a:off x="2115004" y="1127900"/>
          <a:ext cx="180000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 EXPLAIN JSON to obtain the query plan.</a:t>
          </a:r>
        </a:p>
      </dsp:txBody>
      <dsp:txXfrm>
        <a:off x="2115004" y="1127900"/>
        <a:ext cx="1800000" cy="832500"/>
      </dsp:txXfrm>
    </dsp:sp>
    <dsp:sp modelId="{65458E59-0F5F-4E40-9A67-9CDB82D82F98}">
      <dsp:nvSpPr>
        <dsp:cNvPr id="0" name=""/>
        <dsp:cNvSpPr/>
      </dsp:nvSpPr>
      <dsp:spPr>
        <a:xfrm>
          <a:off x="4758430" y="180231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78F7D-5EB7-4015-8295-175E838DDC1F}">
      <dsp:nvSpPr>
        <dsp:cNvPr id="0" name=""/>
        <dsp:cNvSpPr/>
      </dsp:nvSpPr>
      <dsp:spPr>
        <a:xfrm>
          <a:off x="4230004" y="1127900"/>
          <a:ext cx="180000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 “clean” the query plan.</a:t>
          </a:r>
        </a:p>
      </dsp:txBody>
      <dsp:txXfrm>
        <a:off x="4230004" y="1127900"/>
        <a:ext cx="1800000" cy="83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9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3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810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4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7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0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5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1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02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6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12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40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0" r:id="rId6"/>
    <p:sldLayoutId id="2147483761" r:id="rId7"/>
    <p:sldLayoutId id="2147483760" r:id="rId8"/>
    <p:sldLayoutId id="2147483759" r:id="rId9"/>
    <p:sldLayoutId id="2147483758" r:id="rId10"/>
    <p:sldLayoutId id="214748375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Illuminated server room panel">
            <a:extLst>
              <a:ext uri="{FF2B5EF4-FFF2-40B4-BE49-F238E27FC236}">
                <a16:creationId xmlns:a16="http://schemas.microsoft.com/office/drawing/2014/main" id="{2BE7843A-6746-2015-DC6F-EF9A0996C8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2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7181FE4-9339-D455-B519-61A2C571A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985233"/>
            <a:ext cx="8405597" cy="3355853"/>
          </a:xfrm>
        </p:spPr>
        <p:txBody>
          <a:bodyPr anchor="t">
            <a:normAutofit/>
          </a:bodyPr>
          <a:lstStyle/>
          <a:p>
            <a:r>
              <a:rPr lang="en-US" sz="6000" dirty="0"/>
              <a:t>Using LLM to </a:t>
            </a:r>
            <a:br>
              <a:rPr lang="en-US" sz="6000" dirty="0"/>
            </a:br>
            <a:r>
              <a:rPr lang="en-US" sz="6000" dirty="0"/>
              <a:t>Evaluate </a:t>
            </a:r>
            <a:br>
              <a:rPr lang="en-US" sz="6000" dirty="0"/>
            </a:br>
            <a:r>
              <a:rPr lang="en-US" sz="6000" dirty="0"/>
              <a:t>Query Plan Equivalence</a:t>
            </a:r>
            <a:endParaRPr lang="en-IN" sz="5600" dirty="0">
              <a:solidFill>
                <a:srgbClr val="FFFF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33FBF76-65BA-5EAC-8EE0-1F7384407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7409" y="5320406"/>
            <a:ext cx="4439920" cy="1104721"/>
          </a:xfrm>
        </p:spPr>
        <p:txBody>
          <a:bodyPr anchor="t">
            <a:normAutofit fontScale="85000" lnSpcReduction="20000"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Suhas Kamath </a:t>
            </a:r>
          </a:p>
          <a:p>
            <a:pPr algn="ctr"/>
            <a:r>
              <a:rPr lang="en-US" dirty="0">
                <a:solidFill>
                  <a:srgbClr val="FFFFFF"/>
                </a:solidFill>
              </a:rPr>
              <a:t>&amp;</a:t>
            </a:r>
          </a:p>
          <a:p>
            <a:pPr algn="ctr"/>
            <a:r>
              <a:rPr lang="en-US" dirty="0">
                <a:solidFill>
                  <a:srgbClr val="FFFFFF"/>
                </a:solidFill>
              </a:rPr>
              <a:t>Anish Tiwari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142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8ECBD-20CB-39A4-A816-8FA94011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947" y="296738"/>
            <a:ext cx="10168106" cy="82590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600"/>
              <a:t>Motivation &amp; </a:t>
            </a:r>
            <a:r>
              <a:rPr lang="en-US" sz="6000" spc="300"/>
              <a:t>Project Objectives</a:t>
            </a:r>
            <a:endParaRPr lang="en-US" sz="56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218255-D126-80CE-E99E-6188D0EE8397}"/>
              </a:ext>
            </a:extLst>
          </p:cNvPr>
          <p:cNvGrpSpPr/>
          <p:nvPr/>
        </p:nvGrpSpPr>
        <p:grpSpPr>
          <a:xfrm>
            <a:off x="992570" y="1419379"/>
            <a:ext cx="4978176" cy="4673436"/>
            <a:chOff x="4303332" y="892229"/>
            <a:chExt cx="7216416" cy="511001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C5F76C2-F456-EB0A-E3BC-5523BDDBC6E4}"/>
                </a:ext>
              </a:extLst>
            </p:cNvPr>
            <p:cNvSpPr/>
            <p:nvPr/>
          </p:nvSpPr>
          <p:spPr>
            <a:xfrm>
              <a:off x="4303332" y="892229"/>
              <a:ext cx="7216416" cy="146000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sz="2400"/>
            </a:p>
          </p:txBody>
        </p:sp>
        <p:sp>
          <p:nvSpPr>
            <p:cNvPr id="16" name="Rectangle 15" descr="Database">
              <a:extLst>
                <a:ext uri="{FF2B5EF4-FFF2-40B4-BE49-F238E27FC236}">
                  <a16:creationId xmlns:a16="http://schemas.microsoft.com/office/drawing/2014/main" id="{D5FA9E71-22B2-173B-40E1-B4EAA2F01B46}"/>
                </a:ext>
              </a:extLst>
            </p:cNvPr>
            <p:cNvSpPr/>
            <p:nvPr/>
          </p:nvSpPr>
          <p:spPr>
            <a:xfrm>
              <a:off x="4744983" y="1220730"/>
              <a:ext cx="803001" cy="803001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24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4103C60-0390-F96B-02F5-BA41EA1AAA54}"/>
                </a:ext>
              </a:extLst>
            </p:cNvPr>
            <p:cNvSpPr/>
            <p:nvPr/>
          </p:nvSpPr>
          <p:spPr>
            <a:xfrm>
              <a:off x="5989636" y="892229"/>
              <a:ext cx="5530111" cy="1460003"/>
            </a:xfrm>
            <a:custGeom>
              <a:avLst/>
              <a:gdLst>
                <a:gd name="connsiteX0" fmla="*/ 0 w 5530111"/>
                <a:gd name="connsiteY0" fmla="*/ 0 h 1460003"/>
                <a:gd name="connsiteX1" fmla="*/ 5530111 w 5530111"/>
                <a:gd name="connsiteY1" fmla="*/ 0 h 1460003"/>
                <a:gd name="connsiteX2" fmla="*/ 5530111 w 5530111"/>
                <a:gd name="connsiteY2" fmla="*/ 1460003 h 1460003"/>
                <a:gd name="connsiteX3" fmla="*/ 0 w 5530111"/>
                <a:gd name="connsiteY3" fmla="*/ 1460003 h 1460003"/>
                <a:gd name="connsiteX4" fmla="*/ 0 w 5530111"/>
                <a:gd name="connsiteY4" fmla="*/ 0 h 146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0111" h="1460003">
                  <a:moveTo>
                    <a:pt x="0" y="0"/>
                  </a:moveTo>
                  <a:lnTo>
                    <a:pt x="5530111" y="0"/>
                  </a:lnTo>
                  <a:lnTo>
                    <a:pt x="5530111" y="1460003"/>
                  </a:lnTo>
                  <a:lnTo>
                    <a:pt x="0" y="14600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4517" tIns="154517" rIns="154517" bIns="154517" numCol="1" spcCol="1270" anchor="ctr" anchorCtr="0">
              <a:noAutofit/>
            </a:bodyPr>
            <a:lstStyle/>
            <a:p>
              <a:pPr defTabSz="625856"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Query plans for the same SQL query can look different but still be equivalent.</a:t>
              </a:r>
              <a:endParaRPr lang="en-US" sz="3200" kern="1200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C5ED1E5-241D-4871-8EF6-B18017311875}"/>
                </a:ext>
              </a:extLst>
            </p:cNvPr>
            <p:cNvSpPr/>
            <p:nvPr/>
          </p:nvSpPr>
          <p:spPr>
            <a:xfrm>
              <a:off x="4303332" y="2717234"/>
              <a:ext cx="7216416" cy="146000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sz="2400"/>
            </a:p>
          </p:txBody>
        </p:sp>
        <p:sp>
          <p:nvSpPr>
            <p:cNvPr id="19" name="Rectangle 18" descr="Processor">
              <a:extLst>
                <a:ext uri="{FF2B5EF4-FFF2-40B4-BE49-F238E27FC236}">
                  <a16:creationId xmlns:a16="http://schemas.microsoft.com/office/drawing/2014/main" id="{93093BDE-C1F3-5BC8-9E0E-2490D8BDCC30}"/>
                </a:ext>
              </a:extLst>
            </p:cNvPr>
            <p:cNvSpPr/>
            <p:nvPr/>
          </p:nvSpPr>
          <p:spPr>
            <a:xfrm>
              <a:off x="4744983" y="3045735"/>
              <a:ext cx="803001" cy="803001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24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35F17D6-F8B7-7611-5A8F-9FECD501653A}"/>
                </a:ext>
              </a:extLst>
            </p:cNvPr>
            <p:cNvSpPr/>
            <p:nvPr/>
          </p:nvSpPr>
          <p:spPr>
            <a:xfrm>
              <a:off x="5989636" y="2717234"/>
              <a:ext cx="5530111" cy="1460003"/>
            </a:xfrm>
            <a:custGeom>
              <a:avLst/>
              <a:gdLst>
                <a:gd name="connsiteX0" fmla="*/ 0 w 5530111"/>
                <a:gd name="connsiteY0" fmla="*/ 0 h 1460003"/>
                <a:gd name="connsiteX1" fmla="*/ 5530111 w 5530111"/>
                <a:gd name="connsiteY1" fmla="*/ 0 h 1460003"/>
                <a:gd name="connsiteX2" fmla="*/ 5530111 w 5530111"/>
                <a:gd name="connsiteY2" fmla="*/ 1460003 h 1460003"/>
                <a:gd name="connsiteX3" fmla="*/ 0 w 5530111"/>
                <a:gd name="connsiteY3" fmla="*/ 1460003 h 1460003"/>
                <a:gd name="connsiteX4" fmla="*/ 0 w 5530111"/>
                <a:gd name="connsiteY4" fmla="*/ 0 h 146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0111" h="1460003">
                  <a:moveTo>
                    <a:pt x="0" y="0"/>
                  </a:moveTo>
                  <a:lnTo>
                    <a:pt x="5530111" y="0"/>
                  </a:lnTo>
                  <a:lnTo>
                    <a:pt x="5530111" y="1460003"/>
                  </a:lnTo>
                  <a:lnTo>
                    <a:pt x="0" y="14600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4517" tIns="154517" rIns="154517" bIns="154517" numCol="1" spcCol="1270" anchor="ctr" anchorCtr="0">
              <a:noAutofit/>
            </a:bodyPr>
            <a:lstStyle/>
            <a:p>
              <a:pPr defTabSz="625856"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Equivalence testing is important for database optimizers, correctness testing, and detecting redundant queries.</a:t>
              </a:r>
              <a:endParaRPr lang="en-US" sz="3200" kern="120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5713F50-5833-A2D3-8B12-EDC517CD0728}"/>
                </a:ext>
              </a:extLst>
            </p:cNvPr>
            <p:cNvSpPr/>
            <p:nvPr/>
          </p:nvSpPr>
          <p:spPr>
            <a:xfrm>
              <a:off x="4303332" y="4542238"/>
              <a:ext cx="7216416" cy="146000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sz="2400"/>
            </a:p>
          </p:txBody>
        </p:sp>
        <p:sp>
          <p:nvSpPr>
            <p:cNvPr id="22" name="Rectangle 21" descr="Presentation with Checklist">
              <a:extLst>
                <a:ext uri="{FF2B5EF4-FFF2-40B4-BE49-F238E27FC236}">
                  <a16:creationId xmlns:a16="http://schemas.microsoft.com/office/drawing/2014/main" id="{237E8F63-2D19-7503-F4AF-BB5CFE16A452}"/>
                </a:ext>
              </a:extLst>
            </p:cNvPr>
            <p:cNvSpPr/>
            <p:nvPr/>
          </p:nvSpPr>
          <p:spPr>
            <a:xfrm>
              <a:off x="4744983" y="4870739"/>
              <a:ext cx="803001" cy="803001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24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A2DC2D2-99B5-5150-2D25-2ED74211423A}"/>
                </a:ext>
              </a:extLst>
            </p:cNvPr>
            <p:cNvSpPr/>
            <p:nvPr/>
          </p:nvSpPr>
          <p:spPr>
            <a:xfrm>
              <a:off x="5989636" y="4542238"/>
              <a:ext cx="5530111" cy="1460003"/>
            </a:xfrm>
            <a:custGeom>
              <a:avLst/>
              <a:gdLst>
                <a:gd name="connsiteX0" fmla="*/ 0 w 5530111"/>
                <a:gd name="connsiteY0" fmla="*/ 0 h 1460003"/>
                <a:gd name="connsiteX1" fmla="*/ 5530111 w 5530111"/>
                <a:gd name="connsiteY1" fmla="*/ 0 h 1460003"/>
                <a:gd name="connsiteX2" fmla="*/ 5530111 w 5530111"/>
                <a:gd name="connsiteY2" fmla="*/ 1460003 h 1460003"/>
                <a:gd name="connsiteX3" fmla="*/ 0 w 5530111"/>
                <a:gd name="connsiteY3" fmla="*/ 1460003 h 1460003"/>
                <a:gd name="connsiteX4" fmla="*/ 0 w 5530111"/>
                <a:gd name="connsiteY4" fmla="*/ 0 h 146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0111" h="1460003">
                  <a:moveTo>
                    <a:pt x="0" y="0"/>
                  </a:moveTo>
                  <a:lnTo>
                    <a:pt x="5530111" y="0"/>
                  </a:lnTo>
                  <a:lnTo>
                    <a:pt x="5530111" y="1460003"/>
                  </a:lnTo>
                  <a:lnTo>
                    <a:pt x="0" y="14600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4517" tIns="154517" rIns="154517" bIns="154517" numCol="1" spcCol="1270" anchor="ctr" anchorCtr="0">
              <a:noAutofit/>
            </a:bodyPr>
            <a:lstStyle/>
            <a:p>
              <a:pPr defTabSz="625856"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Existing tools (like PostgreSQL’s planner) can’t easily verify plan equivalence — hence this research.</a:t>
              </a:r>
              <a:endParaRPr lang="en-US" sz="3200" kern="12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040B56-FDCF-2821-7585-2F7022C1AEAC}"/>
              </a:ext>
            </a:extLst>
          </p:cNvPr>
          <p:cNvGrpSpPr/>
          <p:nvPr/>
        </p:nvGrpSpPr>
        <p:grpSpPr>
          <a:xfrm>
            <a:off x="6182500" y="1419379"/>
            <a:ext cx="4978176" cy="4673435"/>
            <a:chOff x="640929" y="2559050"/>
            <a:chExt cx="10889228" cy="373886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2125CFA-6DEC-427B-8BB1-207498AD5220}"/>
                </a:ext>
              </a:extLst>
            </p:cNvPr>
            <p:cNvSpPr/>
            <p:nvPr/>
          </p:nvSpPr>
          <p:spPr>
            <a:xfrm>
              <a:off x="640929" y="2559050"/>
              <a:ext cx="3445958" cy="3738863"/>
            </a:xfrm>
            <a:custGeom>
              <a:avLst/>
              <a:gdLst>
                <a:gd name="connsiteX0" fmla="*/ 0 w 3445958"/>
                <a:gd name="connsiteY0" fmla="*/ 0 h 3738863"/>
                <a:gd name="connsiteX1" fmla="*/ 3445958 w 3445958"/>
                <a:gd name="connsiteY1" fmla="*/ 0 h 3738863"/>
                <a:gd name="connsiteX2" fmla="*/ 3445958 w 3445958"/>
                <a:gd name="connsiteY2" fmla="*/ 3738863 h 3738863"/>
                <a:gd name="connsiteX3" fmla="*/ 0 w 3445958"/>
                <a:gd name="connsiteY3" fmla="*/ 3738863 h 3738863"/>
                <a:gd name="connsiteX4" fmla="*/ 0 w 3445958"/>
                <a:gd name="connsiteY4" fmla="*/ 0 h 3738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3738863">
                  <a:moveTo>
                    <a:pt x="0" y="0"/>
                  </a:moveTo>
                  <a:lnTo>
                    <a:pt x="3445958" y="0"/>
                  </a:lnTo>
                  <a:lnTo>
                    <a:pt x="3445958" y="3738863"/>
                  </a:lnTo>
                  <a:lnTo>
                    <a:pt x="0" y="37388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495545" rIns="340384" bIns="330201" numCol="1" spcCol="1270" anchor="t" anchorCtr="0">
              <a:noAutofit/>
            </a:bodyPr>
            <a:lstStyle/>
            <a:p>
              <a:pPr defTabSz="65430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Using LLMs to check if two query plans are equal</a:t>
              </a:r>
              <a:endParaRPr lang="en-US" sz="4400" kern="120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44BD23B-19C0-F64B-1C4C-732BE9CA36E8}"/>
                </a:ext>
              </a:extLst>
            </p:cNvPr>
            <p:cNvSpPr/>
            <p:nvPr/>
          </p:nvSpPr>
          <p:spPr>
            <a:xfrm>
              <a:off x="640929" y="2559050"/>
              <a:ext cx="3445958" cy="1495545"/>
            </a:xfrm>
            <a:custGeom>
              <a:avLst/>
              <a:gdLst>
                <a:gd name="connsiteX0" fmla="*/ 0 w 3445958"/>
                <a:gd name="connsiteY0" fmla="*/ 0 h 1495545"/>
                <a:gd name="connsiteX1" fmla="*/ 3445958 w 3445958"/>
                <a:gd name="connsiteY1" fmla="*/ 0 h 1495545"/>
                <a:gd name="connsiteX2" fmla="*/ 3445958 w 3445958"/>
                <a:gd name="connsiteY2" fmla="*/ 1495545 h 1495545"/>
                <a:gd name="connsiteX3" fmla="*/ 0 w 3445958"/>
                <a:gd name="connsiteY3" fmla="*/ 1495545 h 1495545"/>
                <a:gd name="connsiteX4" fmla="*/ 0 w 3445958"/>
                <a:gd name="connsiteY4" fmla="*/ 0 h 1495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1495545">
                  <a:moveTo>
                    <a:pt x="0" y="0"/>
                  </a:moveTo>
                  <a:lnTo>
                    <a:pt x="3445958" y="0"/>
                  </a:lnTo>
                  <a:lnTo>
                    <a:pt x="3445958" y="1495545"/>
                  </a:lnTo>
                  <a:lnTo>
                    <a:pt x="0" y="14955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65100" rIns="340384" bIns="165100" numCol="1" spcCol="1270" anchor="ctr" anchorCtr="0">
              <a:noAutofit/>
            </a:bodyPr>
            <a:lstStyle/>
            <a:p>
              <a:pPr defTabSz="187756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en-US" sz="6600" kern="12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13B0FB7-1917-A548-AC1E-ED232D43E6DB}"/>
                </a:ext>
              </a:extLst>
            </p:cNvPr>
            <p:cNvSpPr/>
            <p:nvPr/>
          </p:nvSpPr>
          <p:spPr>
            <a:xfrm>
              <a:off x="4362564" y="2559050"/>
              <a:ext cx="3445958" cy="3738863"/>
            </a:xfrm>
            <a:custGeom>
              <a:avLst/>
              <a:gdLst>
                <a:gd name="connsiteX0" fmla="*/ 0 w 3445958"/>
                <a:gd name="connsiteY0" fmla="*/ 0 h 3738863"/>
                <a:gd name="connsiteX1" fmla="*/ 3445958 w 3445958"/>
                <a:gd name="connsiteY1" fmla="*/ 0 h 3738863"/>
                <a:gd name="connsiteX2" fmla="*/ 3445958 w 3445958"/>
                <a:gd name="connsiteY2" fmla="*/ 3738863 h 3738863"/>
                <a:gd name="connsiteX3" fmla="*/ 0 w 3445958"/>
                <a:gd name="connsiteY3" fmla="*/ 3738863 h 3738863"/>
                <a:gd name="connsiteX4" fmla="*/ 0 w 3445958"/>
                <a:gd name="connsiteY4" fmla="*/ 0 h 3738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3738863">
                  <a:moveTo>
                    <a:pt x="0" y="0"/>
                  </a:moveTo>
                  <a:lnTo>
                    <a:pt x="3445958" y="0"/>
                  </a:lnTo>
                  <a:lnTo>
                    <a:pt x="3445958" y="3738863"/>
                  </a:lnTo>
                  <a:lnTo>
                    <a:pt x="0" y="37388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495545" rIns="340384" bIns="330201" numCol="1" spcCol="1270" anchor="t" anchorCtr="0">
              <a:noAutofit/>
            </a:bodyPr>
            <a:lstStyle/>
            <a:p>
              <a:pPr defTabSz="65430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If the plans are equal, what are the transformations required to map from Plan A to Plan B?</a:t>
              </a:r>
              <a:endParaRPr lang="en-US" sz="3600" kern="120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575D309-0637-5A0D-92CE-1B89671843B9}"/>
                </a:ext>
              </a:extLst>
            </p:cNvPr>
            <p:cNvSpPr/>
            <p:nvPr/>
          </p:nvSpPr>
          <p:spPr>
            <a:xfrm>
              <a:off x="4362564" y="2559050"/>
              <a:ext cx="3445958" cy="1495545"/>
            </a:xfrm>
            <a:custGeom>
              <a:avLst/>
              <a:gdLst>
                <a:gd name="connsiteX0" fmla="*/ 0 w 3445958"/>
                <a:gd name="connsiteY0" fmla="*/ 0 h 1495545"/>
                <a:gd name="connsiteX1" fmla="*/ 3445958 w 3445958"/>
                <a:gd name="connsiteY1" fmla="*/ 0 h 1495545"/>
                <a:gd name="connsiteX2" fmla="*/ 3445958 w 3445958"/>
                <a:gd name="connsiteY2" fmla="*/ 1495545 h 1495545"/>
                <a:gd name="connsiteX3" fmla="*/ 0 w 3445958"/>
                <a:gd name="connsiteY3" fmla="*/ 1495545 h 1495545"/>
                <a:gd name="connsiteX4" fmla="*/ 0 w 3445958"/>
                <a:gd name="connsiteY4" fmla="*/ 0 h 1495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1495545">
                  <a:moveTo>
                    <a:pt x="0" y="0"/>
                  </a:moveTo>
                  <a:lnTo>
                    <a:pt x="3445958" y="0"/>
                  </a:lnTo>
                  <a:lnTo>
                    <a:pt x="3445958" y="1495545"/>
                  </a:lnTo>
                  <a:lnTo>
                    <a:pt x="0" y="14955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65100" rIns="340384" bIns="165100" numCol="1" spcCol="1270" anchor="ctr" anchorCtr="0">
              <a:noAutofit/>
            </a:bodyPr>
            <a:lstStyle/>
            <a:p>
              <a:pPr defTabSz="187756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en-US" sz="6600" kern="12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CA85-DF93-46A3-EB21-9A768D10610F}"/>
                </a:ext>
              </a:extLst>
            </p:cNvPr>
            <p:cNvSpPr/>
            <p:nvPr/>
          </p:nvSpPr>
          <p:spPr>
            <a:xfrm>
              <a:off x="8084199" y="2559050"/>
              <a:ext cx="3445958" cy="3738863"/>
            </a:xfrm>
            <a:custGeom>
              <a:avLst/>
              <a:gdLst>
                <a:gd name="connsiteX0" fmla="*/ 0 w 3445958"/>
                <a:gd name="connsiteY0" fmla="*/ 0 h 3738863"/>
                <a:gd name="connsiteX1" fmla="*/ 3445958 w 3445958"/>
                <a:gd name="connsiteY1" fmla="*/ 0 h 3738863"/>
                <a:gd name="connsiteX2" fmla="*/ 3445958 w 3445958"/>
                <a:gd name="connsiteY2" fmla="*/ 3738863 h 3738863"/>
                <a:gd name="connsiteX3" fmla="*/ 0 w 3445958"/>
                <a:gd name="connsiteY3" fmla="*/ 3738863 h 3738863"/>
                <a:gd name="connsiteX4" fmla="*/ 0 w 3445958"/>
                <a:gd name="connsiteY4" fmla="*/ 0 h 3738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3738863">
                  <a:moveTo>
                    <a:pt x="0" y="0"/>
                  </a:moveTo>
                  <a:lnTo>
                    <a:pt x="3445958" y="0"/>
                  </a:lnTo>
                  <a:lnTo>
                    <a:pt x="3445958" y="3738863"/>
                  </a:lnTo>
                  <a:lnTo>
                    <a:pt x="0" y="37388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495545" rIns="340384" bIns="330201" numCol="1" spcCol="1270" anchor="t" anchorCtr="0">
              <a:noAutofit/>
            </a:bodyPr>
            <a:lstStyle/>
            <a:p>
              <a:pPr defTabSz="65430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Using Apache Calcite to check the LLM’s response</a:t>
              </a:r>
              <a:endParaRPr lang="en-US" sz="4400" kern="120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70C03DC-1CD3-2EB5-C162-D779C53F13C8}"/>
                </a:ext>
              </a:extLst>
            </p:cNvPr>
            <p:cNvSpPr/>
            <p:nvPr/>
          </p:nvSpPr>
          <p:spPr>
            <a:xfrm>
              <a:off x="8084199" y="2559050"/>
              <a:ext cx="3445958" cy="1495545"/>
            </a:xfrm>
            <a:custGeom>
              <a:avLst/>
              <a:gdLst>
                <a:gd name="connsiteX0" fmla="*/ 0 w 3445958"/>
                <a:gd name="connsiteY0" fmla="*/ 0 h 1495545"/>
                <a:gd name="connsiteX1" fmla="*/ 3445958 w 3445958"/>
                <a:gd name="connsiteY1" fmla="*/ 0 h 1495545"/>
                <a:gd name="connsiteX2" fmla="*/ 3445958 w 3445958"/>
                <a:gd name="connsiteY2" fmla="*/ 1495545 h 1495545"/>
                <a:gd name="connsiteX3" fmla="*/ 0 w 3445958"/>
                <a:gd name="connsiteY3" fmla="*/ 1495545 h 1495545"/>
                <a:gd name="connsiteX4" fmla="*/ 0 w 3445958"/>
                <a:gd name="connsiteY4" fmla="*/ 0 h 1495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1495545">
                  <a:moveTo>
                    <a:pt x="0" y="0"/>
                  </a:moveTo>
                  <a:lnTo>
                    <a:pt x="3445958" y="0"/>
                  </a:lnTo>
                  <a:lnTo>
                    <a:pt x="3445958" y="1495545"/>
                  </a:lnTo>
                  <a:lnTo>
                    <a:pt x="0" y="14955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65100" rIns="340384" bIns="165100" numCol="1" spcCol="1270" anchor="ctr" anchorCtr="0">
              <a:noAutofit/>
            </a:bodyPr>
            <a:lstStyle/>
            <a:p>
              <a:pPr defTabSz="187756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en-US" sz="66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364554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4A43-2A0F-E441-BED7-4A3EA794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095" y="235974"/>
            <a:ext cx="4185751" cy="1905401"/>
          </a:xfrm>
        </p:spPr>
        <p:txBody>
          <a:bodyPr anchor="t">
            <a:normAutofit/>
          </a:bodyPr>
          <a:lstStyle/>
          <a:p>
            <a:r>
              <a:rPr lang="en-US" sz="3700" dirty="0"/>
              <a:t>Step 1: Extracting query plans from PostgreSQL</a:t>
            </a:r>
            <a:endParaRPr lang="en-IN" sz="3700" dirty="0"/>
          </a:p>
        </p:txBody>
      </p:sp>
      <p:pic>
        <p:nvPicPr>
          <p:cNvPr id="2050" name="Picture 2" descr="Intro to PostgreSQL. Create and Query Postgres Database | by Lauren  Cunningham | CodeX | Medium">
            <a:extLst>
              <a:ext uri="{FF2B5EF4-FFF2-40B4-BE49-F238E27FC236}">
                <a16:creationId xmlns:a16="http://schemas.microsoft.com/office/drawing/2014/main" id="{13001CFF-F7D0-9DF8-72B9-89BAD36E8A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5" r="66162" b="8248"/>
          <a:stretch>
            <a:fillRect/>
          </a:stretch>
        </p:blipFill>
        <p:spPr bwMode="auto">
          <a:xfrm>
            <a:off x="857908" y="68779"/>
            <a:ext cx="755659" cy="84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9E69138-E433-0D39-FFBA-25EF3FA5DF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390735"/>
              </p:ext>
            </p:extLst>
          </p:nvPr>
        </p:nvGraphicFramePr>
        <p:xfrm>
          <a:off x="5877846" y="66854"/>
          <a:ext cx="6096861" cy="2292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FF82CAD1-AD69-CFCC-6520-7D6E95E3E895}"/>
              </a:ext>
            </a:extLst>
          </p:cNvPr>
          <p:cNvSpPr>
            <a:spLocks noGrp="1"/>
          </p:cNvSpPr>
          <p:nvPr/>
        </p:nvSpPr>
        <p:spPr>
          <a:xfrm>
            <a:off x="334171" y="2753191"/>
            <a:ext cx="4683323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Step 2: Prompt Engineering</a:t>
            </a:r>
            <a:endParaRPr lang="en-IN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5C97AC4-C5E7-977F-C895-E8AD9238A815}"/>
              </a:ext>
            </a:extLst>
          </p:cNvPr>
          <p:cNvSpPr>
            <a:spLocks noGrp="1"/>
          </p:cNvSpPr>
          <p:nvPr/>
        </p:nvSpPr>
        <p:spPr>
          <a:xfrm>
            <a:off x="261598" y="4462288"/>
            <a:ext cx="4755896" cy="216705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need the LLM to output only two things:</a:t>
            </a:r>
          </a:p>
          <a:p>
            <a:pPr lvl="1"/>
            <a:r>
              <a:rPr lang="en-IN" dirty="0"/>
              <a:t>Whether the query plans are equal</a:t>
            </a:r>
          </a:p>
          <a:p>
            <a:pPr lvl="1"/>
            <a:r>
              <a:rPr lang="en-IN" dirty="0"/>
              <a:t>If they are equivalent, what are the transformations that map from plan A to plan B.</a:t>
            </a:r>
          </a:p>
          <a:p>
            <a:r>
              <a:rPr lang="en-IN" dirty="0"/>
              <a:t>After plenty of trials, we have found that the following prompt achieves the best results: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B7E8608-2568-D853-9CBD-D04F72D2940A}"/>
              </a:ext>
            </a:extLst>
          </p:cNvPr>
          <p:cNvSpPr txBox="1">
            <a:spLocks/>
          </p:cNvSpPr>
          <p:nvPr/>
        </p:nvSpPr>
        <p:spPr>
          <a:xfrm>
            <a:off x="5246305" y="2512142"/>
            <a:ext cx="6728402" cy="41098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Given ORIGINAL_PLAN and TARGET_PLAN (both in simplified JSON plan format, see "Plan Format" below), determine whether the two plans are equivalent by producing a sequence of Apache Calcite transformations (from SUPPORTED_TRANSFORMATIONS) that maps ORIGINAL_PLAN -&gt; TARGET_PLAN.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&lt;Response rules (omitted)&gt;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&lt;Plan format (omitted)&gt;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&lt;Supported transformations (omitted)&gt;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&lt;Schema for context (omitted)&gt;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&lt;Example of input &amp; output (omitted)&gt;</a:t>
            </a:r>
          </a:p>
        </p:txBody>
      </p:sp>
    </p:spTree>
    <p:extLst>
      <p:ext uri="{BB962C8B-B14F-4D97-AF65-F5344CB8AC3E}">
        <p14:creationId xmlns:p14="http://schemas.microsoft.com/office/powerpoint/2010/main" val="105515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5" grpId="0">
        <p:bldAsOne/>
      </p:bldGraphic>
      <p:bldP spid="13" grpId="0"/>
      <p:bldP spid="14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5E60851-CD4D-8445-68B7-6984089E782D}"/>
              </a:ext>
            </a:extLst>
          </p:cNvPr>
          <p:cNvSpPr txBox="1">
            <a:spLocks/>
          </p:cNvSpPr>
          <p:nvPr/>
        </p:nvSpPr>
        <p:spPr>
          <a:xfrm>
            <a:off x="640080" y="914399"/>
            <a:ext cx="10847494" cy="11710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Step 3: Apache Calcite</a:t>
            </a:r>
          </a:p>
        </p:txBody>
      </p:sp>
      <p:pic>
        <p:nvPicPr>
          <p:cNvPr id="12" name="Picture 11" descr="Apache calcite : How to produced physical(Optimised) tree ...">
            <a:extLst>
              <a:ext uri="{FF2B5EF4-FFF2-40B4-BE49-F238E27FC236}">
                <a16:creationId xmlns:a16="http://schemas.microsoft.com/office/drawing/2014/main" id="{EA6FAC9B-6193-D582-F7A8-F28DBCCAC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467"/>
          <a:stretch>
            <a:fillRect/>
          </a:stretch>
        </p:blipFill>
        <p:spPr bwMode="auto">
          <a:xfrm>
            <a:off x="904151" y="2085468"/>
            <a:ext cx="1417019" cy="191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ED1B2E3-2F67-623D-81AB-061B43FF851A}"/>
              </a:ext>
            </a:extLst>
          </p:cNvPr>
          <p:cNvSpPr txBox="1">
            <a:spLocks/>
          </p:cNvSpPr>
          <p:nvPr/>
        </p:nvSpPr>
        <p:spPr>
          <a:xfrm>
            <a:off x="4202552" y="1678075"/>
            <a:ext cx="7276216" cy="43386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dirty="0"/>
              <a:t>Apache Calcite is an open-source framework for building databases and data management systems. It includes a SQL parser, an API for building expressions in relational algebra, and a query planning engine.</a:t>
            </a:r>
          </a:p>
          <a:p>
            <a:pPr>
              <a:lnSpc>
                <a:spcPct val="110000"/>
              </a:lnSpc>
            </a:pPr>
            <a:r>
              <a:rPr lang="en-US" dirty="0"/>
              <a:t>We use Apache Calcite to check the LLM’s answers</a:t>
            </a:r>
          </a:p>
          <a:p>
            <a:pPr>
              <a:lnSpc>
                <a:spcPct val="110000"/>
              </a:lnSpc>
            </a:pPr>
            <a:r>
              <a:rPr lang="en-US" dirty="0"/>
              <a:t>We can now compare two query plans with/without any transformations.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9EB3E40-4F89-522D-385C-AD357A2AD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7FB38E-504A-F6BD-33A0-1E15DF267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29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7480E81-FE4F-B116-48BE-0023BDCC9A76}"/>
              </a:ext>
            </a:extLst>
          </p:cNvPr>
          <p:cNvSpPr txBox="1">
            <a:spLocks/>
          </p:cNvSpPr>
          <p:nvPr/>
        </p:nvSpPr>
        <p:spPr>
          <a:xfrm>
            <a:off x="636390" y="255147"/>
            <a:ext cx="2528841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968EE36-A79D-2D6F-2339-66A13A72EA62}"/>
              </a:ext>
            </a:extLst>
          </p:cNvPr>
          <p:cNvSpPr txBox="1">
            <a:spLocks/>
          </p:cNvSpPr>
          <p:nvPr/>
        </p:nvSpPr>
        <p:spPr>
          <a:xfrm>
            <a:off x="4309806" y="334638"/>
            <a:ext cx="7446940" cy="2700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pic>
        <p:nvPicPr>
          <p:cNvPr id="1026" name="Picture 2" descr="A red and blue logo&#10;&#10;AI-generated content may be incorrect.">
            <a:extLst>
              <a:ext uri="{FF2B5EF4-FFF2-40B4-BE49-F238E27FC236}">
                <a16:creationId xmlns:a16="http://schemas.microsoft.com/office/drawing/2014/main" id="{2C5E1A06-0508-6717-6D60-F542A2D89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877" y="138091"/>
            <a:ext cx="1501701" cy="114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3A348A7-DB87-8BDA-5B81-2430760A9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164795"/>
            <a:ext cx="1575868" cy="1097280"/>
          </a:xfrm>
        </p:spPr>
        <p:txBody>
          <a:bodyPr/>
          <a:lstStyle/>
          <a:p>
            <a:r>
              <a:rPr lang="en-US" dirty="0"/>
              <a:t>LITHE</a:t>
            </a:r>
            <a:endParaRPr lang="en-IN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A264D7A-7916-B377-1955-AF72F0F96EF0}"/>
              </a:ext>
            </a:extLst>
          </p:cNvPr>
          <p:cNvGrpSpPr/>
          <p:nvPr/>
        </p:nvGrpSpPr>
        <p:grpSpPr>
          <a:xfrm>
            <a:off x="636390" y="2256544"/>
            <a:ext cx="6298680" cy="3212525"/>
            <a:chOff x="688803" y="1913886"/>
            <a:chExt cx="6298680" cy="321252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CA654A2-954A-D37D-1C89-235B4E034C36}"/>
                </a:ext>
              </a:extLst>
            </p:cNvPr>
            <p:cNvSpPr/>
            <p:nvPr/>
          </p:nvSpPr>
          <p:spPr>
            <a:xfrm>
              <a:off x="767461" y="1913886"/>
              <a:ext cx="823454" cy="823454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sz="2800"/>
            </a:p>
          </p:txBody>
        </p:sp>
        <p:sp>
          <p:nvSpPr>
            <p:cNvPr id="11" name="Rectangle 10" descr="Programmer">
              <a:extLst>
                <a:ext uri="{FF2B5EF4-FFF2-40B4-BE49-F238E27FC236}">
                  <a16:creationId xmlns:a16="http://schemas.microsoft.com/office/drawing/2014/main" id="{1C8AE76F-171C-EC47-2903-A48C3F08CDFA}"/>
                </a:ext>
              </a:extLst>
            </p:cNvPr>
            <p:cNvSpPr/>
            <p:nvPr/>
          </p:nvSpPr>
          <p:spPr>
            <a:xfrm>
              <a:off x="940386" y="2086811"/>
              <a:ext cx="477603" cy="477603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2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4EFE444-282F-2A30-18E1-370BABE6A3D6}"/>
                </a:ext>
              </a:extLst>
            </p:cNvPr>
            <p:cNvSpPr/>
            <p:nvPr/>
          </p:nvSpPr>
          <p:spPr>
            <a:xfrm>
              <a:off x="1767370" y="1913886"/>
              <a:ext cx="1941000" cy="823454"/>
            </a:xfrm>
            <a:custGeom>
              <a:avLst/>
              <a:gdLst>
                <a:gd name="connsiteX0" fmla="*/ 0 w 1941000"/>
                <a:gd name="connsiteY0" fmla="*/ 0 h 823454"/>
                <a:gd name="connsiteX1" fmla="*/ 1941000 w 1941000"/>
                <a:gd name="connsiteY1" fmla="*/ 0 h 823454"/>
                <a:gd name="connsiteX2" fmla="*/ 1941000 w 1941000"/>
                <a:gd name="connsiteY2" fmla="*/ 823454 h 823454"/>
                <a:gd name="connsiteX3" fmla="*/ 0 w 1941000"/>
                <a:gd name="connsiteY3" fmla="*/ 823454 h 823454"/>
                <a:gd name="connsiteX4" fmla="*/ 0 w 1941000"/>
                <a:gd name="connsiteY4" fmla="*/ 0 h 8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1000" h="823454">
                  <a:moveTo>
                    <a:pt x="0" y="0"/>
                  </a:moveTo>
                  <a:lnTo>
                    <a:pt x="1941000" y="0"/>
                  </a:lnTo>
                  <a:lnTo>
                    <a:pt x="1941000" y="823454"/>
                  </a:lnTo>
                  <a:lnTo>
                    <a:pt x="0" y="82345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5334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LITHE is a software that leverages the power of LLMs to improve query performance.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2F8B1F6-AD28-7CD5-3159-DEF6387423B5}"/>
                </a:ext>
              </a:extLst>
            </p:cNvPr>
            <p:cNvSpPr/>
            <p:nvPr/>
          </p:nvSpPr>
          <p:spPr>
            <a:xfrm>
              <a:off x="4046574" y="1913886"/>
              <a:ext cx="823454" cy="823454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sz="2800"/>
            </a:p>
          </p:txBody>
        </p:sp>
        <p:sp>
          <p:nvSpPr>
            <p:cNvPr id="16" name="Rectangle 15" descr="Database">
              <a:extLst>
                <a:ext uri="{FF2B5EF4-FFF2-40B4-BE49-F238E27FC236}">
                  <a16:creationId xmlns:a16="http://schemas.microsoft.com/office/drawing/2014/main" id="{ACE13E72-9734-0BB5-FAD6-9836ACD17D35}"/>
                </a:ext>
              </a:extLst>
            </p:cNvPr>
            <p:cNvSpPr/>
            <p:nvPr/>
          </p:nvSpPr>
          <p:spPr>
            <a:xfrm>
              <a:off x="4219500" y="2086811"/>
              <a:ext cx="477603" cy="477603"/>
            </a:xfrm>
            <a:prstGeom prst="rect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2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A9FA3E8-ACEE-2B16-03D3-E5AE6A6F00EC}"/>
                </a:ext>
              </a:extLst>
            </p:cNvPr>
            <p:cNvSpPr/>
            <p:nvPr/>
          </p:nvSpPr>
          <p:spPr>
            <a:xfrm>
              <a:off x="5046483" y="1913886"/>
              <a:ext cx="1941000" cy="823454"/>
            </a:xfrm>
            <a:custGeom>
              <a:avLst/>
              <a:gdLst>
                <a:gd name="connsiteX0" fmla="*/ 0 w 1941000"/>
                <a:gd name="connsiteY0" fmla="*/ 0 h 823454"/>
                <a:gd name="connsiteX1" fmla="*/ 1941000 w 1941000"/>
                <a:gd name="connsiteY1" fmla="*/ 0 h 823454"/>
                <a:gd name="connsiteX2" fmla="*/ 1941000 w 1941000"/>
                <a:gd name="connsiteY2" fmla="*/ 823454 h 823454"/>
                <a:gd name="connsiteX3" fmla="*/ 0 w 1941000"/>
                <a:gd name="connsiteY3" fmla="*/ 823454 h 823454"/>
                <a:gd name="connsiteX4" fmla="*/ 0 w 1941000"/>
                <a:gd name="connsiteY4" fmla="*/ 0 h 8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1000" h="823454">
                  <a:moveTo>
                    <a:pt x="0" y="0"/>
                  </a:moveTo>
                  <a:lnTo>
                    <a:pt x="1941000" y="0"/>
                  </a:lnTo>
                  <a:lnTo>
                    <a:pt x="1941000" y="823454"/>
                  </a:lnTo>
                  <a:lnTo>
                    <a:pt x="0" y="82345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5334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Developed at Database Systems Lab (DSL), IISc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72AEC23-59C2-76EB-DEFE-EAFD06C3BDAD}"/>
                </a:ext>
              </a:extLst>
            </p:cNvPr>
            <p:cNvSpPr/>
            <p:nvPr/>
          </p:nvSpPr>
          <p:spPr>
            <a:xfrm>
              <a:off x="688803" y="4302957"/>
              <a:ext cx="823454" cy="823454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sz="2800"/>
            </a:p>
          </p:txBody>
        </p:sp>
        <p:sp>
          <p:nvSpPr>
            <p:cNvPr id="19" name="Rectangle 18" descr="Question mark">
              <a:extLst>
                <a:ext uri="{FF2B5EF4-FFF2-40B4-BE49-F238E27FC236}">
                  <a16:creationId xmlns:a16="http://schemas.microsoft.com/office/drawing/2014/main" id="{4F40022F-68BD-F10D-7C37-422908661B23}"/>
                </a:ext>
              </a:extLst>
            </p:cNvPr>
            <p:cNvSpPr/>
            <p:nvPr/>
          </p:nvSpPr>
          <p:spPr>
            <a:xfrm>
              <a:off x="861728" y="4475882"/>
              <a:ext cx="477603" cy="477603"/>
            </a:xfrm>
            <a:prstGeom prst="rect">
              <a:avLst/>
            </a:prstGeom>
            <a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28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B7773B6-D0ED-6985-959C-30978B09CD88}"/>
                </a:ext>
              </a:extLst>
            </p:cNvPr>
            <p:cNvSpPr/>
            <p:nvPr/>
          </p:nvSpPr>
          <p:spPr>
            <a:xfrm>
              <a:off x="1688712" y="4302957"/>
              <a:ext cx="1941000" cy="823454"/>
            </a:xfrm>
            <a:custGeom>
              <a:avLst/>
              <a:gdLst>
                <a:gd name="connsiteX0" fmla="*/ 0 w 1941000"/>
                <a:gd name="connsiteY0" fmla="*/ 0 h 823454"/>
                <a:gd name="connsiteX1" fmla="*/ 1941000 w 1941000"/>
                <a:gd name="connsiteY1" fmla="*/ 0 h 823454"/>
                <a:gd name="connsiteX2" fmla="*/ 1941000 w 1941000"/>
                <a:gd name="connsiteY2" fmla="*/ 823454 h 823454"/>
                <a:gd name="connsiteX3" fmla="*/ 0 w 1941000"/>
                <a:gd name="connsiteY3" fmla="*/ 823454 h 823454"/>
                <a:gd name="connsiteX4" fmla="*/ 0 w 1941000"/>
                <a:gd name="connsiteY4" fmla="*/ 0 h 8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1000" h="823454">
                  <a:moveTo>
                    <a:pt x="0" y="0"/>
                  </a:moveTo>
                  <a:lnTo>
                    <a:pt x="1941000" y="0"/>
                  </a:lnTo>
                  <a:lnTo>
                    <a:pt x="1941000" y="823454"/>
                  </a:lnTo>
                  <a:lnTo>
                    <a:pt x="0" y="82345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5334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It works by rewriting a query to another equivalent query by leveraging the ability of LLMs.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DF26A53-43C2-1BB4-1957-BB2E89F92970}"/>
                </a:ext>
              </a:extLst>
            </p:cNvPr>
            <p:cNvSpPr/>
            <p:nvPr/>
          </p:nvSpPr>
          <p:spPr>
            <a:xfrm>
              <a:off x="3967916" y="4302957"/>
              <a:ext cx="823454" cy="823454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sz="2800"/>
            </a:p>
          </p:txBody>
        </p:sp>
        <p:sp>
          <p:nvSpPr>
            <p:cNvPr id="22" name="Rectangle 21" descr="Flowchart">
              <a:extLst>
                <a:ext uri="{FF2B5EF4-FFF2-40B4-BE49-F238E27FC236}">
                  <a16:creationId xmlns:a16="http://schemas.microsoft.com/office/drawing/2014/main" id="{101ED868-DFD1-DD75-B847-72AF3E680BA9}"/>
                </a:ext>
              </a:extLst>
            </p:cNvPr>
            <p:cNvSpPr/>
            <p:nvPr/>
          </p:nvSpPr>
          <p:spPr>
            <a:xfrm>
              <a:off x="4140842" y="4475882"/>
              <a:ext cx="477603" cy="477603"/>
            </a:xfrm>
            <a:prstGeom prst="rect">
              <a:avLst/>
            </a:prstGeom>
            <a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2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468F9D6-8AD0-790E-AF8B-4452783F9D16}"/>
                </a:ext>
              </a:extLst>
            </p:cNvPr>
            <p:cNvSpPr/>
            <p:nvPr/>
          </p:nvSpPr>
          <p:spPr>
            <a:xfrm>
              <a:off x="4967825" y="4302957"/>
              <a:ext cx="1941000" cy="823454"/>
            </a:xfrm>
            <a:custGeom>
              <a:avLst/>
              <a:gdLst>
                <a:gd name="connsiteX0" fmla="*/ 0 w 1941000"/>
                <a:gd name="connsiteY0" fmla="*/ 0 h 823454"/>
                <a:gd name="connsiteX1" fmla="*/ 1941000 w 1941000"/>
                <a:gd name="connsiteY1" fmla="*/ 0 h 823454"/>
                <a:gd name="connsiteX2" fmla="*/ 1941000 w 1941000"/>
                <a:gd name="connsiteY2" fmla="*/ 823454 h 823454"/>
                <a:gd name="connsiteX3" fmla="*/ 0 w 1941000"/>
                <a:gd name="connsiteY3" fmla="*/ 823454 h 823454"/>
                <a:gd name="connsiteX4" fmla="*/ 0 w 1941000"/>
                <a:gd name="connsiteY4" fmla="*/ 0 h 8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1000" h="823454">
                  <a:moveTo>
                    <a:pt x="0" y="0"/>
                  </a:moveTo>
                  <a:lnTo>
                    <a:pt x="1941000" y="0"/>
                  </a:lnTo>
                  <a:lnTo>
                    <a:pt x="1941000" y="823454"/>
                  </a:lnTo>
                  <a:lnTo>
                    <a:pt x="0" y="82345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5334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We used this software to rewrite queries, so that we can test them using our program.</a:t>
              </a:r>
            </a:p>
          </p:txBody>
        </p:sp>
      </p:grpSp>
      <p:pic>
        <p:nvPicPr>
          <p:cNvPr id="7" name="Picture 6" descr="Diagram of a diagram of a software system&#10;&#10;AI-generated content may be incorrect.">
            <a:extLst>
              <a:ext uri="{FF2B5EF4-FFF2-40B4-BE49-F238E27FC236}">
                <a16:creationId xmlns:a16="http://schemas.microsoft.com/office/drawing/2014/main" id="{4493F719-2199-31BF-DA80-7433D38CDD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7716" y="1789916"/>
            <a:ext cx="4499030" cy="40650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B77201-760C-4FB4-5D6C-1713C1182C8D}"/>
              </a:ext>
            </a:extLst>
          </p:cNvPr>
          <p:cNvSpPr txBox="1"/>
          <p:nvPr/>
        </p:nvSpPr>
        <p:spPr>
          <a:xfrm>
            <a:off x="0" y="6553891"/>
            <a:ext cx="12059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DHARWADA, S., DEVRANI, H., HARITSA, J., AND DORAISWAMY, H. Query Rewriting via LLMs. March 2026 (2025), ACM.</a:t>
            </a:r>
          </a:p>
        </p:txBody>
      </p:sp>
    </p:spTree>
    <p:extLst>
      <p:ext uri="{BB962C8B-B14F-4D97-AF65-F5344CB8AC3E}">
        <p14:creationId xmlns:p14="http://schemas.microsoft.com/office/powerpoint/2010/main" val="284583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C8522-DEFD-975B-463F-58E37397F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441" y="5793311"/>
            <a:ext cx="7031117" cy="9339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Current Program Flow</a:t>
            </a:r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22D6203A-A9BB-9365-299C-C6805E5C3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" t="12724" r="2781" b="11696"/>
          <a:stretch>
            <a:fillRect/>
          </a:stretch>
        </p:blipFill>
        <p:spPr>
          <a:xfrm>
            <a:off x="0" y="140607"/>
            <a:ext cx="12005797" cy="539113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40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87AF5-A9BF-C338-F682-7A7EF305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447" y="191684"/>
            <a:ext cx="10168106" cy="83931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dirty="0"/>
              <a:t>Results</a:t>
            </a:r>
          </a:p>
        </p:txBody>
      </p:sp>
      <p:pic>
        <p:nvPicPr>
          <p:cNvPr id="9" name="Picture 8" descr="A pair of colored socks with different colored lines&#10;&#10;AI-generated content may be incorrect.">
            <a:extLst>
              <a:ext uri="{FF2B5EF4-FFF2-40B4-BE49-F238E27FC236}">
                <a16:creationId xmlns:a16="http://schemas.microsoft.com/office/drawing/2014/main" id="{32F2EA4F-844D-F5B5-BF4E-4A73E0245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7" r="128"/>
          <a:stretch>
            <a:fillRect/>
          </a:stretch>
        </p:blipFill>
        <p:spPr>
          <a:xfrm>
            <a:off x="0" y="1402641"/>
            <a:ext cx="5669298" cy="3424407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094CEEE-2F5A-669F-077A-19A5508DA86C}"/>
              </a:ext>
            </a:extLst>
          </p:cNvPr>
          <p:cNvSpPr txBox="1">
            <a:spLocks/>
          </p:cNvSpPr>
          <p:nvPr/>
        </p:nvSpPr>
        <p:spPr>
          <a:xfrm>
            <a:off x="307997" y="4699137"/>
            <a:ext cx="11457301" cy="20752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94E3E09-2E83-B0D8-1FAB-63D38690BA80}"/>
              </a:ext>
            </a:extLst>
          </p:cNvPr>
          <p:cNvSpPr txBox="1">
            <a:spLocks/>
          </p:cNvSpPr>
          <p:nvPr/>
        </p:nvSpPr>
        <p:spPr>
          <a:xfrm>
            <a:off x="1098447" y="5070776"/>
            <a:ext cx="4515773" cy="10136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Overall accuracy of 96%.</a:t>
            </a:r>
          </a:p>
          <a:p>
            <a:r>
              <a:rPr lang="en-US" dirty="0"/>
              <a:t>Much better results than last time!</a:t>
            </a:r>
          </a:p>
        </p:txBody>
      </p:sp>
      <p:pic>
        <p:nvPicPr>
          <p:cNvPr id="13" name="Picture 12" descr="A close-up of a diagram&#10;&#10;AI-generated content may be incorrect.">
            <a:extLst>
              <a:ext uri="{FF2B5EF4-FFF2-40B4-BE49-F238E27FC236}">
                <a16:creationId xmlns:a16="http://schemas.microsoft.com/office/drawing/2014/main" id="{ADADA2E8-1A02-5535-8C14-C52035A9B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232" y="1792558"/>
            <a:ext cx="6459064" cy="290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9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0943F-094E-57A9-5F24-71F20BED5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1CB45AAA-8E66-C561-50CD-B2735A02D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88"/>
            <a:ext cx="10786959" cy="68399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519790-4979-BB3E-6C4A-65CF1E921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883" y="88873"/>
            <a:ext cx="7031117" cy="9339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Alternate Program Flow</a:t>
            </a:r>
          </a:p>
        </p:txBody>
      </p:sp>
    </p:spTree>
    <p:extLst>
      <p:ext uri="{BB962C8B-B14F-4D97-AF65-F5344CB8AC3E}">
        <p14:creationId xmlns:p14="http://schemas.microsoft.com/office/powerpoint/2010/main" val="4134895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FDB15-0AA9-DEDB-C1ED-18264E35F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4" y="328865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GB" dirty="0"/>
              <a:t>Advantages of Alternate Program Flow</a:t>
            </a:r>
            <a:endParaRPr lang="en-IN" dirty="0"/>
          </a:p>
        </p:txBody>
      </p:sp>
      <p:pic>
        <p:nvPicPr>
          <p:cNvPr id="8" name="Picture 7" descr="A diagram of calories in calories&#10;&#10;AI-generated content may be incorrect.">
            <a:extLst>
              <a:ext uri="{FF2B5EF4-FFF2-40B4-BE49-F238E27FC236}">
                <a16:creationId xmlns:a16="http://schemas.microsoft.com/office/drawing/2014/main" id="{AE4CDE92-73EA-AAFF-D021-FE5003C0B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10" y="1499934"/>
            <a:ext cx="6663697" cy="37483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703B5-4B88-0123-8849-08B34853E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49" y="1426869"/>
            <a:ext cx="5012243" cy="4589878"/>
          </a:xfrm>
        </p:spPr>
        <p:txBody>
          <a:bodyPr anchor="t">
            <a:normAutofit/>
          </a:bodyPr>
          <a:lstStyle/>
          <a:p>
            <a:r>
              <a:rPr lang="en-GB" dirty="0"/>
              <a:t>Reduction in LLM calls by a factor of 40%.</a:t>
            </a:r>
          </a:p>
          <a:p>
            <a:r>
              <a:rPr lang="en-GB" dirty="0"/>
              <a:t>Reduces cost and time.</a:t>
            </a:r>
          </a:p>
          <a:p>
            <a:r>
              <a:rPr lang="en-GB" dirty="0"/>
              <a:t>Making an LLM API call takes upwards of 45 seconds, whereas the current Calcite-based deterministic check requires less than 5 seconds.</a:t>
            </a:r>
          </a:p>
          <a:p>
            <a:r>
              <a:rPr lang="en-GB" dirty="0"/>
              <a:t>Lesser tokens are used.</a:t>
            </a:r>
            <a:endParaRPr lang="en-I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17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72781-28FE-9C78-42A1-4311C2A6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19550"/>
            <a:ext cx="10890929" cy="1097280"/>
          </a:xfrm>
        </p:spPr>
        <p:txBody>
          <a:bodyPr/>
          <a:lstStyle/>
          <a:p>
            <a:r>
              <a:rPr lang="en-GB" dirty="0"/>
              <a:t>Future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8DC57-079B-D61D-0B5F-51DA82987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238865"/>
            <a:ext cx="10890928" cy="496076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41297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293</TotalTime>
  <Words>506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Grandview Display</vt:lpstr>
      <vt:lpstr>DashVTI</vt:lpstr>
      <vt:lpstr>Using LLM to  Evaluate  Query Plan Equivalence</vt:lpstr>
      <vt:lpstr>Motivation &amp; Project Objectives</vt:lpstr>
      <vt:lpstr>Step 1: Extracting query plans from PostgreSQL</vt:lpstr>
      <vt:lpstr>PowerPoint Presentation</vt:lpstr>
      <vt:lpstr>LITHE</vt:lpstr>
      <vt:lpstr>Current Program Flow</vt:lpstr>
      <vt:lpstr>Results</vt:lpstr>
      <vt:lpstr>Alternate Program Flow</vt:lpstr>
      <vt:lpstr>Advantages of Alternate Program Flow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Suhas Kamath</dc:creator>
  <cp:lastModifiedBy>Suhas Kamath</cp:lastModifiedBy>
  <cp:revision>41</cp:revision>
  <dcterms:created xsi:type="dcterms:W3CDTF">2025-10-22T05:14:40Z</dcterms:created>
  <dcterms:modified xsi:type="dcterms:W3CDTF">2025-12-02T17:58:30Z</dcterms:modified>
</cp:coreProperties>
</file>