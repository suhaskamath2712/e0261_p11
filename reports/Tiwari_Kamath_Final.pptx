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7" r:id="rId1"/>
  </p:sldMasterIdLst>
  <p:sldIdLst>
    <p:sldId id="257" r:id="rId2"/>
    <p:sldId id="263" r:id="rId3"/>
    <p:sldId id="259" r:id="rId4"/>
    <p:sldId id="271" r:id="rId5"/>
    <p:sldId id="266" r:id="rId6"/>
    <p:sldId id="267" r:id="rId7"/>
    <p:sldId id="261" r:id="rId8"/>
    <p:sldId id="272" r:id="rId9"/>
    <p:sldId id="268" r:id="rId10"/>
    <p:sldId id="269" r:id="rId11"/>
    <p:sldId id="270"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DC50486F-8A6B-4A0A-AFE7-0946823EF8E4}">
          <p14:sldIdLst>
            <p14:sldId id="257"/>
            <p14:sldId id="263"/>
            <p14:sldId id="259"/>
            <p14:sldId id="271"/>
            <p14:sldId id="266"/>
            <p14:sldId id="267"/>
            <p14:sldId id="261"/>
            <p14:sldId id="272"/>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22973C6-A128-8FDD-B7D4-4C8887E2D49E}" v="7" dt="2025-10-24T10:59:18.976"/>
    <p1510:client id="{71EEB687-9AB6-92D4-A88B-2C6200332080}" v="72" dt="2025-10-24T10:57:06.54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8" d="100"/>
          <a:sy n="78" d="100"/>
        </p:scale>
        <p:origin x="87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svg"/><Relationship Id="rId1" Type="http://schemas.openxmlformats.org/officeDocument/2006/relationships/image" Target="../media/image9.png"/><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diagrams/_rels/data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svg"/><Relationship Id="rId1" Type="http://schemas.openxmlformats.org/officeDocument/2006/relationships/image" Target="../media/image31.png"/><Relationship Id="rId6" Type="http://schemas.openxmlformats.org/officeDocument/2006/relationships/image" Target="../media/image36.svg"/><Relationship Id="rId5" Type="http://schemas.openxmlformats.org/officeDocument/2006/relationships/image" Target="../media/image35.png"/><Relationship Id="rId4" Type="http://schemas.openxmlformats.org/officeDocument/2006/relationships/image" Target="../media/image3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svg"/><Relationship Id="rId1" Type="http://schemas.openxmlformats.org/officeDocument/2006/relationships/image" Target="../media/image9.png"/><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diagrams/_rels/drawing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svg"/><Relationship Id="rId1" Type="http://schemas.openxmlformats.org/officeDocument/2006/relationships/image" Target="../media/image31.png"/><Relationship Id="rId6" Type="http://schemas.openxmlformats.org/officeDocument/2006/relationships/image" Target="../media/image36.svg"/><Relationship Id="rId5" Type="http://schemas.openxmlformats.org/officeDocument/2006/relationships/image" Target="../media/image35.png"/><Relationship Id="rId4" Type="http://schemas.openxmlformats.org/officeDocument/2006/relationships/image" Target="../media/image34.svg"/></Relationships>
</file>

<file path=ppt/diagrams/colors1.xml><?xml version="1.0" encoding="utf-8"?>
<dgm:colorsDef xmlns:dgm="http://schemas.openxmlformats.org/drawingml/2006/diagram" xmlns:a="http://schemas.openxmlformats.org/drawingml/2006/main" uniqueId="urn:microsoft.com/office/officeart/2018/5/colors/Iconchunking_neutralbg_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a:alpha val="0"/>
      </a:schemeClr>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B7FDE53-0F4C-4DC4-8800-8F40B4E903DC}" type="doc">
      <dgm:prSet loTypeId="urn:microsoft.com/office/officeart/2018/2/layout/IconLabelList" loCatId="icon" qsTypeId="urn:microsoft.com/office/officeart/2005/8/quickstyle/simple1" qsCatId="simple" csTypeId="urn:microsoft.com/office/officeart/2018/5/colors/Iconchunking_neutralbg_accent0_3" csCatId="mainScheme" phldr="1"/>
      <dgm:spPr/>
      <dgm:t>
        <a:bodyPr/>
        <a:lstStyle/>
        <a:p>
          <a:endParaRPr lang="en-US"/>
        </a:p>
      </dgm:t>
    </dgm:pt>
    <dgm:pt modelId="{1EFD5ABF-2543-4D08-AAAA-ADF21F3ED538}">
      <dgm:prSet custT="1"/>
      <dgm:spPr/>
      <dgm:t>
        <a:bodyPr/>
        <a:lstStyle/>
        <a:p>
          <a:pPr>
            <a:lnSpc>
              <a:spcPct val="100000"/>
            </a:lnSpc>
          </a:pPr>
          <a:r>
            <a:rPr lang="en-US" sz="1800" dirty="0"/>
            <a:t>We require query plans as input for the LLM.</a:t>
          </a:r>
        </a:p>
      </dgm:t>
    </dgm:pt>
    <dgm:pt modelId="{BDDECC53-AF25-47A0-9447-B2E0A4612C28}" type="parTrans" cxnId="{48C3602B-A297-4374-A5DA-BBD3B31A4555}">
      <dgm:prSet/>
      <dgm:spPr/>
      <dgm:t>
        <a:bodyPr/>
        <a:lstStyle/>
        <a:p>
          <a:endParaRPr lang="en-US"/>
        </a:p>
      </dgm:t>
    </dgm:pt>
    <dgm:pt modelId="{2EB5EB4C-C0FF-4BC1-8F7A-89E1FAA0D44C}" type="sibTrans" cxnId="{48C3602B-A297-4374-A5DA-BBD3B31A4555}">
      <dgm:prSet/>
      <dgm:spPr/>
      <dgm:t>
        <a:bodyPr/>
        <a:lstStyle/>
        <a:p>
          <a:pPr>
            <a:lnSpc>
              <a:spcPct val="100000"/>
            </a:lnSpc>
          </a:pPr>
          <a:endParaRPr lang="en-US"/>
        </a:p>
      </dgm:t>
    </dgm:pt>
    <dgm:pt modelId="{A99DD66C-BF4B-436A-B5ED-8D1F58DE9C6D}">
      <dgm:prSet custT="1"/>
      <dgm:spPr/>
      <dgm:t>
        <a:bodyPr/>
        <a:lstStyle/>
        <a:p>
          <a:pPr>
            <a:lnSpc>
              <a:spcPct val="100000"/>
            </a:lnSpc>
          </a:pPr>
          <a:r>
            <a:rPr lang="en-US" sz="1600" dirty="0"/>
            <a:t>Use EXPLAIN JSON to obtain the query plan.</a:t>
          </a:r>
        </a:p>
      </dgm:t>
    </dgm:pt>
    <dgm:pt modelId="{E43C7069-AB80-4872-9047-D306914802C9}" type="parTrans" cxnId="{A20B5656-B382-4D76-BA5C-DB7E0EA75D1A}">
      <dgm:prSet/>
      <dgm:spPr/>
      <dgm:t>
        <a:bodyPr/>
        <a:lstStyle/>
        <a:p>
          <a:endParaRPr lang="en-US"/>
        </a:p>
      </dgm:t>
    </dgm:pt>
    <dgm:pt modelId="{4D53D419-9CC3-45C5-8402-2F64E902B731}" type="sibTrans" cxnId="{A20B5656-B382-4D76-BA5C-DB7E0EA75D1A}">
      <dgm:prSet/>
      <dgm:spPr/>
      <dgm:t>
        <a:bodyPr/>
        <a:lstStyle/>
        <a:p>
          <a:pPr>
            <a:lnSpc>
              <a:spcPct val="100000"/>
            </a:lnSpc>
          </a:pPr>
          <a:endParaRPr lang="en-US"/>
        </a:p>
      </dgm:t>
    </dgm:pt>
    <dgm:pt modelId="{32C64931-AC8E-4542-A6E2-B679566041FC}">
      <dgm:prSet custT="1"/>
      <dgm:spPr/>
      <dgm:t>
        <a:bodyPr/>
        <a:lstStyle/>
        <a:p>
          <a:pPr>
            <a:lnSpc>
              <a:spcPct val="100000"/>
            </a:lnSpc>
          </a:pPr>
          <a:r>
            <a:rPr lang="en-US" sz="1800" dirty="0"/>
            <a:t>We “clean” the query plan.</a:t>
          </a:r>
        </a:p>
      </dgm:t>
    </dgm:pt>
    <dgm:pt modelId="{BBAD090A-4F33-43AC-AA04-706C315E3D56}" type="parTrans" cxnId="{FB91AC5C-225E-472A-9BAF-F034A4405997}">
      <dgm:prSet/>
      <dgm:spPr/>
      <dgm:t>
        <a:bodyPr/>
        <a:lstStyle/>
        <a:p>
          <a:endParaRPr lang="en-US"/>
        </a:p>
      </dgm:t>
    </dgm:pt>
    <dgm:pt modelId="{A698442B-73DF-4698-89C1-5DEE9ECBBA53}" type="sibTrans" cxnId="{FB91AC5C-225E-472A-9BAF-F034A4405997}">
      <dgm:prSet/>
      <dgm:spPr/>
      <dgm:t>
        <a:bodyPr/>
        <a:lstStyle/>
        <a:p>
          <a:endParaRPr lang="en-US"/>
        </a:p>
      </dgm:t>
    </dgm:pt>
    <dgm:pt modelId="{83D3E881-ACB9-4678-A554-99A5EB1D995A}" type="pres">
      <dgm:prSet presAssocID="{DB7FDE53-0F4C-4DC4-8800-8F40B4E903DC}" presName="root" presStyleCnt="0">
        <dgm:presLayoutVars>
          <dgm:dir/>
          <dgm:resizeHandles val="exact"/>
        </dgm:presLayoutVars>
      </dgm:prSet>
      <dgm:spPr/>
    </dgm:pt>
    <dgm:pt modelId="{27D6B434-B6A0-4F07-8A15-7629CA64C5EA}" type="pres">
      <dgm:prSet presAssocID="{1EFD5ABF-2543-4D08-AAAA-ADF21F3ED538}" presName="compNode" presStyleCnt="0"/>
      <dgm:spPr/>
    </dgm:pt>
    <dgm:pt modelId="{593DA778-CC1C-4EB5-A569-23ED6987B85C}" type="pres">
      <dgm:prSet presAssocID="{1EFD5ABF-2543-4D08-AAAA-ADF21F3ED538}"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Flowchart"/>
        </a:ext>
      </dgm:extLst>
    </dgm:pt>
    <dgm:pt modelId="{94E53D06-E5BE-48E8-9F60-6BB1CD74D491}" type="pres">
      <dgm:prSet presAssocID="{1EFD5ABF-2543-4D08-AAAA-ADF21F3ED538}" presName="spaceRect" presStyleCnt="0"/>
      <dgm:spPr/>
    </dgm:pt>
    <dgm:pt modelId="{6EF2B11E-10C6-4806-86DC-8B638F69FCEA}" type="pres">
      <dgm:prSet presAssocID="{1EFD5ABF-2543-4D08-AAAA-ADF21F3ED538}" presName="textRect" presStyleLbl="revTx" presStyleIdx="0" presStyleCnt="3" custLinFactNeighborX="-1857" custLinFactNeighborY="-18289">
        <dgm:presLayoutVars>
          <dgm:chMax val="1"/>
          <dgm:chPref val="1"/>
        </dgm:presLayoutVars>
      </dgm:prSet>
      <dgm:spPr/>
    </dgm:pt>
    <dgm:pt modelId="{F6451DF4-2171-4E1B-96E6-EDFA4E7DA973}" type="pres">
      <dgm:prSet presAssocID="{2EB5EB4C-C0FF-4BC1-8F7A-89E1FAA0D44C}" presName="sibTrans" presStyleCnt="0"/>
      <dgm:spPr/>
    </dgm:pt>
    <dgm:pt modelId="{EA473BDE-3EA2-4BBF-8CD9-9558C553FE19}" type="pres">
      <dgm:prSet presAssocID="{A99DD66C-BF4B-436A-B5ED-8D1F58DE9C6D}" presName="compNode" presStyleCnt="0"/>
      <dgm:spPr/>
    </dgm:pt>
    <dgm:pt modelId="{3DFC030B-141F-4924-B9C5-248EE751BCD9}" type="pres">
      <dgm:prSet presAssocID="{A99DD66C-BF4B-436A-B5ED-8D1F58DE9C6D}"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ocument"/>
        </a:ext>
      </dgm:extLst>
    </dgm:pt>
    <dgm:pt modelId="{EC6B831F-7319-42BD-8617-E5DD361D1981}" type="pres">
      <dgm:prSet presAssocID="{A99DD66C-BF4B-436A-B5ED-8D1F58DE9C6D}" presName="spaceRect" presStyleCnt="0"/>
      <dgm:spPr/>
    </dgm:pt>
    <dgm:pt modelId="{67B9EBBD-77E3-4226-996E-0FF4DE98CF04}" type="pres">
      <dgm:prSet presAssocID="{A99DD66C-BF4B-436A-B5ED-8D1F58DE9C6D}" presName="textRect" presStyleLbl="revTx" presStyleIdx="1" presStyleCnt="3" custLinFactNeighborX="-1857" custLinFactNeighborY="-18289">
        <dgm:presLayoutVars>
          <dgm:chMax val="1"/>
          <dgm:chPref val="1"/>
        </dgm:presLayoutVars>
      </dgm:prSet>
      <dgm:spPr/>
    </dgm:pt>
    <dgm:pt modelId="{795B3F65-EC0A-43B6-BF92-0DBD868B22DC}" type="pres">
      <dgm:prSet presAssocID="{4D53D419-9CC3-45C5-8402-2F64E902B731}" presName="sibTrans" presStyleCnt="0"/>
      <dgm:spPr/>
    </dgm:pt>
    <dgm:pt modelId="{D0E42033-A8D9-4F4E-A8E9-F240891627BD}" type="pres">
      <dgm:prSet presAssocID="{32C64931-AC8E-4542-A6E2-B679566041FC}" presName="compNode" presStyleCnt="0"/>
      <dgm:spPr/>
    </dgm:pt>
    <dgm:pt modelId="{65458E59-0F5F-4E40-9A67-9CDB82D82F98}" type="pres">
      <dgm:prSet presAssocID="{32C64931-AC8E-4542-A6E2-B679566041FC}"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Table"/>
        </a:ext>
      </dgm:extLst>
    </dgm:pt>
    <dgm:pt modelId="{BDBE4851-8932-4279-AA17-C3F214FB92FF}" type="pres">
      <dgm:prSet presAssocID="{32C64931-AC8E-4542-A6E2-B679566041FC}" presName="spaceRect" presStyleCnt="0"/>
      <dgm:spPr/>
    </dgm:pt>
    <dgm:pt modelId="{8FF78F7D-5EB7-4015-8295-175E838DDC1F}" type="pres">
      <dgm:prSet presAssocID="{32C64931-AC8E-4542-A6E2-B679566041FC}" presName="textRect" presStyleLbl="revTx" presStyleIdx="2" presStyleCnt="3" custLinFactNeighborX="-1857" custLinFactNeighborY="-18289">
        <dgm:presLayoutVars>
          <dgm:chMax val="1"/>
          <dgm:chPref val="1"/>
        </dgm:presLayoutVars>
      </dgm:prSet>
      <dgm:spPr/>
    </dgm:pt>
  </dgm:ptLst>
  <dgm:cxnLst>
    <dgm:cxn modelId="{95B8CA1B-C100-4FF2-841B-FCE6B5170E02}" type="presOf" srcId="{32C64931-AC8E-4542-A6E2-B679566041FC}" destId="{8FF78F7D-5EB7-4015-8295-175E838DDC1F}" srcOrd="0" destOrd="0" presId="urn:microsoft.com/office/officeart/2018/2/layout/IconLabelList"/>
    <dgm:cxn modelId="{48C3602B-A297-4374-A5DA-BBD3B31A4555}" srcId="{DB7FDE53-0F4C-4DC4-8800-8F40B4E903DC}" destId="{1EFD5ABF-2543-4D08-AAAA-ADF21F3ED538}" srcOrd="0" destOrd="0" parTransId="{BDDECC53-AF25-47A0-9447-B2E0A4612C28}" sibTransId="{2EB5EB4C-C0FF-4BC1-8F7A-89E1FAA0D44C}"/>
    <dgm:cxn modelId="{FB91AC5C-225E-472A-9BAF-F034A4405997}" srcId="{DB7FDE53-0F4C-4DC4-8800-8F40B4E903DC}" destId="{32C64931-AC8E-4542-A6E2-B679566041FC}" srcOrd="2" destOrd="0" parTransId="{BBAD090A-4F33-43AC-AA04-706C315E3D56}" sibTransId="{A698442B-73DF-4698-89C1-5DEE9ECBBA53}"/>
    <dgm:cxn modelId="{2C836443-B613-4EF5-8889-B06A89DA0D3C}" type="presOf" srcId="{A99DD66C-BF4B-436A-B5ED-8D1F58DE9C6D}" destId="{67B9EBBD-77E3-4226-996E-0FF4DE98CF04}" srcOrd="0" destOrd="0" presId="urn:microsoft.com/office/officeart/2018/2/layout/IconLabelList"/>
    <dgm:cxn modelId="{F1D16348-14F2-4602-9697-00D861A58993}" type="presOf" srcId="{DB7FDE53-0F4C-4DC4-8800-8F40B4E903DC}" destId="{83D3E881-ACB9-4678-A554-99A5EB1D995A}" srcOrd="0" destOrd="0" presId="urn:microsoft.com/office/officeart/2018/2/layout/IconLabelList"/>
    <dgm:cxn modelId="{A20B5656-B382-4D76-BA5C-DB7E0EA75D1A}" srcId="{DB7FDE53-0F4C-4DC4-8800-8F40B4E903DC}" destId="{A99DD66C-BF4B-436A-B5ED-8D1F58DE9C6D}" srcOrd="1" destOrd="0" parTransId="{E43C7069-AB80-4872-9047-D306914802C9}" sibTransId="{4D53D419-9CC3-45C5-8402-2F64E902B731}"/>
    <dgm:cxn modelId="{9ECAECB5-8F91-4A66-968A-3665659C8B57}" type="presOf" srcId="{1EFD5ABF-2543-4D08-AAAA-ADF21F3ED538}" destId="{6EF2B11E-10C6-4806-86DC-8B638F69FCEA}" srcOrd="0" destOrd="0" presId="urn:microsoft.com/office/officeart/2018/2/layout/IconLabelList"/>
    <dgm:cxn modelId="{C8B2C1FD-F733-4CCE-B28E-9E45DF03FC1C}" type="presParOf" srcId="{83D3E881-ACB9-4678-A554-99A5EB1D995A}" destId="{27D6B434-B6A0-4F07-8A15-7629CA64C5EA}" srcOrd="0" destOrd="0" presId="urn:microsoft.com/office/officeart/2018/2/layout/IconLabelList"/>
    <dgm:cxn modelId="{6D860A25-65DA-4BA2-990D-EDEF93133950}" type="presParOf" srcId="{27D6B434-B6A0-4F07-8A15-7629CA64C5EA}" destId="{593DA778-CC1C-4EB5-A569-23ED6987B85C}" srcOrd="0" destOrd="0" presId="urn:microsoft.com/office/officeart/2018/2/layout/IconLabelList"/>
    <dgm:cxn modelId="{530A2882-90F2-47B6-9994-E8B6285BEE59}" type="presParOf" srcId="{27D6B434-B6A0-4F07-8A15-7629CA64C5EA}" destId="{94E53D06-E5BE-48E8-9F60-6BB1CD74D491}" srcOrd="1" destOrd="0" presId="urn:microsoft.com/office/officeart/2018/2/layout/IconLabelList"/>
    <dgm:cxn modelId="{8F93238C-8A07-47F4-9D16-FE7180DA7C89}" type="presParOf" srcId="{27D6B434-B6A0-4F07-8A15-7629CA64C5EA}" destId="{6EF2B11E-10C6-4806-86DC-8B638F69FCEA}" srcOrd="2" destOrd="0" presId="urn:microsoft.com/office/officeart/2018/2/layout/IconLabelList"/>
    <dgm:cxn modelId="{6789BF37-09AF-47FA-A7DF-1E7C693C31CD}" type="presParOf" srcId="{83D3E881-ACB9-4678-A554-99A5EB1D995A}" destId="{F6451DF4-2171-4E1B-96E6-EDFA4E7DA973}" srcOrd="1" destOrd="0" presId="urn:microsoft.com/office/officeart/2018/2/layout/IconLabelList"/>
    <dgm:cxn modelId="{CB65E914-2BE6-4078-ADB8-02D00E2C8FFD}" type="presParOf" srcId="{83D3E881-ACB9-4678-A554-99A5EB1D995A}" destId="{EA473BDE-3EA2-4BBF-8CD9-9558C553FE19}" srcOrd="2" destOrd="0" presId="urn:microsoft.com/office/officeart/2018/2/layout/IconLabelList"/>
    <dgm:cxn modelId="{5A4D1F24-AB9E-4DDD-AF61-58D51F57EF84}" type="presParOf" srcId="{EA473BDE-3EA2-4BBF-8CD9-9558C553FE19}" destId="{3DFC030B-141F-4924-B9C5-248EE751BCD9}" srcOrd="0" destOrd="0" presId="urn:microsoft.com/office/officeart/2018/2/layout/IconLabelList"/>
    <dgm:cxn modelId="{D33D6D3A-7D77-4BCC-B04C-9161901790B3}" type="presParOf" srcId="{EA473BDE-3EA2-4BBF-8CD9-9558C553FE19}" destId="{EC6B831F-7319-42BD-8617-E5DD361D1981}" srcOrd="1" destOrd="0" presId="urn:microsoft.com/office/officeart/2018/2/layout/IconLabelList"/>
    <dgm:cxn modelId="{A7684C18-1027-4F14-9831-93B6B5E1BA17}" type="presParOf" srcId="{EA473BDE-3EA2-4BBF-8CD9-9558C553FE19}" destId="{67B9EBBD-77E3-4226-996E-0FF4DE98CF04}" srcOrd="2" destOrd="0" presId="urn:microsoft.com/office/officeart/2018/2/layout/IconLabelList"/>
    <dgm:cxn modelId="{4B708FCF-C251-4E84-8BEB-D7CE76B26B60}" type="presParOf" srcId="{83D3E881-ACB9-4678-A554-99A5EB1D995A}" destId="{795B3F65-EC0A-43B6-BF92-0DBD868B22DC}" srcOrd="3" destOrd="0" presId="urn:microsoft.com/office/officeart/2018/2/layout/IconLabelList"/>
    <dgm:cxn modelId="{A9B5840B-929F-4081-A981-90ED70177E42}" type="presParOf" srcId="{83D3E881-ACB9-4678-A554-99A5EB1D995A}" destId="{D0E42033-A8D9-4F4E-A8E9-F240891627BD}" srcOrd="4" destOrd="0" presId="urn:microsoft.com/office/officeart/2018/2/layout/IconLabelList"/>
    <dgm:cxn modelId="{FD728E7E-FB2D-45A1-888F-D5C932EB6D1C}" type="presParOf" srcId="{D0E42033-A8D9-4F4E-A8E9-F240891627BD}" destId="{65458E59-0F5F-4E40-9A67-9CDB82D82F98}" srcOrd="0" destOrd="0" presId="urn:microsoft.com/office/officeart/2018/2/layout/IconLabelList"/>
    <dgm:cxn modelId="{A19FC108-2E6F-459B-BED1-12C74023DA6D}" type="presParOf" srcId="{D0E42033-A8D9-4F4E-A8E9-F240891627BD}" destId="{BDBE4851-8932-4279-AA17-C3F214FB92FF}" srcOrd="1" destOrd="0" presId="urn:microsoft.com/office/officeart/2018/2/layout/IconLabelList"/>
    <dgm:cxn modelId="{4A4C6832-6378-4C8D-ADF6-5CFE6367C818}" type="presParOf" srcId="{D0E42033-A8D9-4F4E-A8E9-F240891627BD}" destId="{8FF78F7D-5EB7-4015-8295-175E838DDC1F}"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E40DB37-3123-4CD6-BE51-B0364C92C71B}"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5F94255D-EF16-4150-9410-3B78AED1F75E}">
      <dgm:prSet/>
      <dgm:spPr/>
      <dgm:t>
        <a:bodyPr/>
        <a:lstStyle/>
        <a:p>
          <a:pPr>
            <a:lnSpc>
              <a:spcPct val="100000"/>
            </a:lnSpc>
          </a:pPr>
          <a:r>
            <a:rPr lang="en-US"/>
            <a:t>We do not know the reasons for which the LLM is not providing the correct transformations.</a:t>
          </a:r>
        </a:p>
      </dgm:t>
    </dgm:pt>
    <dgm:pt modelId="{91B6BB61-EF8B-491B-9360-5012672D29FB}" type="parTrans" cxnId="{9AF25B3E-F38D-4F6C-ABD2-F9B16C65DB6B}">
      <dgm:prSet/>
      <dgm:spPr/>
      <dgm:t>
        <a:bodyPr/>
        <a:lstStyle/>
        <a:p>
          <a:endParaRPr lang="en-US"/>
        </a:p>
      </dgm:t>
    </dgm:pt>
    <dgm:pt modelId="{1AF7EB16-571C-44E6-9D68-D0F3EEDC1E13}" type="sibTrans" cxnId="{9AF25B3E-F38D-4F6C-ABD2-F9B16C65DB6B}">
      <dgm:prSet/>
      <dgm:spPr/>
      <dgm:t>
        <a:bodyPr/>
        <a:lstStyle/>
        <a:p>
          <a:endParaRPr lang="en-US"/>
        </a:p>
      </dgm:t>
    </dgm:pt>
    <dgm:pt modelId="{B168B6DF-4C2B-4A44-8370-66C6542048E9}">
      <dgm:prSet/>
      <dgm:spPr/>
      <dgm:t>
        <a:bodyPr/>
        <a:lstStyle/>
        <a:p>
          <a:pPr>
            <a:lnSpc>
              <a:spcPct val="100000"/>
            </a:lnSpc>
          </a:pPr>
          <a:r>
            <a:rPr lang="en-US"/>
            <a:t>We can investigate this further and try to find the proper reason for these anomalies. </a:t>
          </a:r>
        </a:p>
      </dgm:t>
    </dgm:pt>
    <dgm:pt modelId="{C1B683F3-93A0-473A-A13C-DF7D9BE3490D}" type="parTrans" cxnId="{A47F4451-A984-410E-B4B5-FC28F9FBC003}">
      <dgm:prSet/>
      <dgm:spPr/>
      <dgm:t>
        <a:bodyPr/>
        <a:lstStyle/>
        <a:p>
          <a:endParaRPr lang="en-US"/>
        </a:p>
      </dgm:t>
    </dgm:pt>
    <dgm:pt modelId="{702061D5-971C-42F2-980C-CD379A9702F5}" type="sibTrans" cxnId="{A47F4451-A984-410E-B4B5-FC28F9FBC003}">
      <dgm:prSet/>
      <dgm:spPr/>
      <dgm:t>
        <a:bodyPr/>
        <a:lstStyle/>
        <a:p>
          <a:endParaRPr lang="en-US"/>
        </a:p>
      </dgm:t>
    </dgm:pt>
    <dgm:pt modelId="{6BF13466-11DC-4832-8FBC-1E6A99B82CBD}">
      <dgm:prSet/>
      <dgm:spPr/>
      <dgm:t>
        <a:bodyPr/>
        <a:lstStyle/>
        <a:p>
          <a:pPr>
            <a:lnSpc>
              <a:spcPct val="100000"/>
            </a:lnSpc>
          </a:pPr>
          <a:r>
            <a:rPr lang="en-US"/>
            <a:t>Once we figure out the reason, we can then attempt to fix those, either by prompt engineering, or other means.</a:t>
          </a:r>
        </a:p>
      </dgm:t>
    </dgm:pt>
    <dgm:pt modelId="{17CF82A0-D432-434D-8D76-9F19B1826CA1}" type="parTrans" cxnId="{5531F8A8-AF71-4852-9DC9-87B2D5BC9793}">
      <dgm:prSet/>
      <dgm:spPr/>
      <dgm:t>
        <a:bodyPr/>
        <a:lstStyle/>
        <a:p>
          <a:endParaRPr lang="en-US"/>
        </a:p>
      </dgm:t>
    </dgm:pt>
    <dgm:pt modelId="{8A20A8C5-FC21-4F9C-B24B-6D502BC2D6C4}" type="sibTrans" cxnId="{5531F8A8-AF71-4852-9DC9-87B2D5BC9793}">
      <dgm:prSet/>
      <dgm:spPr/>
      <dgm:t>
        <a:bodyPr/>
        <a:lstStyle/>
        <a:p>
          <a:endParaRPr lang="en-US"/>
        </a:p>
      </dgm:t>
    </dgm:pt>
    <dgm:pt modelId="{641CF73E-B78F-447D-B035-3EAE94EFE91D}" type="pres">
      <dgm:prSet presAssocID="{CE40DB37-3123-4CD6-BE51-B0364C92C71B}" presName="root" presStyleCnt="0">
        <dgm:presLayoutVars>
          <dgm:dir/>
          <dgm:resizeHandles val="exact"/>
        </dgm:presLayoutVars>
      </dgm:prSet>
      <dgm:spPr/>
    </dgm:pt>
    <dgm:pt modelId="{61B548CA-AE62-494D-804E-1EB59FD4CD3B}" type="pres">
      <dgm:prSet presAssocID="{5F94255D-EF16-4150-9410-3B78AED1F75E}" presName="compNode" presStyleCnt="0"/>
      <dgm:spPr/>
    </dgm:pt>
    <dgm:pt modelId="{AB197F07-9EC6-49C3-8F57-DFC8C557D0CA}" type="pres">
      <dgm:prSet presAssocID="{5F94255D-EF16-4150-9410-3B78AED1F75E}" presName="bgRect" presStyleLbl="bgShp" presStyleIdx="0" presStyleCnt="3"/>
      <dgm:spPr/>
    </dgm:pt>
    <dgm:pt modelId="{F156B02E-3E7A-4CF4-8B0A-FED215185D5C}" type="pres">
      <dgm:prSet presAssocID="{5F94255D-EF16-4150-9410-3B78AED1F75E}"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Drawing Compass"/>
        </a:ext>
      </dgm:extLst>
    </dgm:pt>
    <dgm:pt modelId="{6DC7EC26-F6C5-4593-B4B7-7EBE681E15FC}" type="pres">
      <dgm:prSet presAssocID="{5F94255D-EF16-4150-9410-3B78AED1F75E}" presName="spaceRect" presStyleCnt="0"/>
      <dgm:spPr/>
    </dgm:pt>
    <dgm:pt modelId="{FDAB0C1A-10F8-460C-9FBF-AC34F8729F88}" type="pres">
      <dgm:prSet presAssocID="{5F94255D-EF16-4150-9410-3B78AED1F75E}" presName="parTx" presStyleLbl="revTx" presStyleIdx="0" presStyleCnt="3">
        <dgm:presLayoutVars>
          <dgm:chMax val="0"/>
          <dgm:chPref val="0"/>
        </dgm:presLayoutVars>
      </dgm:prSet>
      <dgm:spPr/>
    </dgm:pt>
    <dgm:pt modelId="{3B6538E4-50D9-419D-9217-79512A8120CA}" type="pres">
      <dgm:prSet presAssocID="{1AF7EB16-571C-44E6-9D68-D0F3EEDC1E13}" presName="sibTrans" presStyleCnt="0"/>
      <dgm:spPr/>
    </dgm:pt>
    <dgm:pt modelId="{74EAF7BD-7320-4FA0-B3B9-9369DEFF17AD}" type="pres">
      <dgm:prSet presAssocID="{B168B6DF-4C2B-4A44-8370-66C6542048E9}" presName="compNode" presStyleCnt="0"/>
      <dgm:spPr/>
    </dgm:pt>
    <dgm:pt modelId="{C10BED90-5E21-4ED3-AA72-A5579E8EC088}" type="pres">
      <dgm:prSet presAssocID="{B168B6DF-4C2B-4A44-8370-66C6542048E9}" presName="bgRect" presStyleLbl="bgShp" presStyleIdx="1" presStyleCnt="3"/>
      <dgm:spPr/>
    </dgm:pt>
    <dgm:pt modelId="{A7E8C2F4-0C03-4F81-9B69-2C28C0498B94}" type="pres">
      <dgm:prSet presAssocID="{B168B6DF-4C2B-4A44-8370-66C6542048E9}"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Microscope"/>
        </a:ext>
      </dgm:extLst>
    </dgm:pt>
    <dgm:pt modelId="{6CD824C0-06DC-41DC-9176-A3A90D5A81A1}" type="pres">
      <dgm:prSet presAssocID="{B168B6DF-4C2B-4A44-8370-66C6542048E9}" presName="spaceRect" presStyleCnt="0"/>
      <dgm:spPr/>
    </dgm:pt>
    <dgm:pt modelId="{D49B1670-6B3F-490D-9CAF-8040FBCA2770}" type="pres">
      <dgm:prSet presAssocID="{B168B6DF-4C2B-4A44-8370-66C6542048E9}" presName="parTx" presStyleLbl="revTx" presStyleIdx="1" presStyleCnt="3">
        <dgm:presLayoutVars>
          <dgm:chMax val="0"/>
          <dgm:chPref val="0"/>
        </dgm:presLayoutVars>
      </dgm:prSet>
      <dgm:spPr/>
    </dgm:pt>
    <dgm:pt modelId="{6582F741-5C1C-4504-9F15-F6712E4F1FCC}" type="pres">
      <dgm:prSet presAssocID="{702061D5-971C-42F2-980C-CD379A9702F5}" presName="sibTrans" presStyleCnt="0"/>
      <dgm:spPr/>
    </dgm:pt>
    <dgm:pt modelId="{E313ACE9-1A9B-402C-98CC-9AA85438CFF1}" type="pres">
      <dgm:prSet presAssocID="{6BF13466-11DC-4832-8FBC-1E6A99B82CBD}" presName="compNode" presStyleCnt="0"/>
      <dgm:spPr/>
    </dgm:pt>
    <dgm:pt modelId="{CC914B6C-D6D4-4ACD-B5C4-49088D464385}" type="pres">
      <dgm:prSet presAssocID="{6BF13466-11DC-4832-8FBC-1E6A99B82CBD}" presName="bgRect" presStyleLbl="bgShp" presStyleIdx="2" presStyleCnt="3"/>
      <dgm:spPr/>
    </dgm:pt>
    <dgm:pt modelId="{DC7689DF-2C12-435C-8AD4-083CA3984880}" type="pres">
      <dgm:prSet presAssocID="{6BF13466-11DC-4832-8FBC-1E6A99B82CBD}"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Bulldozer"/>
        </a:ext>
      </dgm:extLst>
    </dgm:pt>
    <dgm:pt modelId="{8022CC60-0E2D-48F2-80A4-CB5FC0A33C22}" type="pres">
      <dgm:prSet presAssocID="{6BF13466-11DC-4832-8FBC-1E6A99B82CBD}" presName="spaceRect" presStyleCnt="0"/>
      <dgm:spPr/>
    </dgm:pt>
    <dgm:pt modelId="{A966F53A-AB05-47B6-B5D1-DA105D2473F2}" type="pres">
      <dgm:prSet presAssocID="{6BF13466-11DC-4832-8FBC-1E6A99B82CBD}" presName="parTx" presStyleLbl="revTx" presStyleIdx="2" presStyleCnt="3">
        <dgm:presLayoutVars>
          <dgm:chMax val="0"/>
          <dgm:chPref val="0"/>
        </dgm:presLayoutVars>
      </dgm:prSet>
      <dgm:spPr/>
    </dgm:pt>
  </dgm:ptLst>
  <dgm:cxnLst>
    <dgm:cxn modelId="{9AF25B3E-F38D-4F6C-ABD2-F9B16C65DB6B}" srcId="{CE40DB37-3123-4CD6-BE51-B0364C92C71B}" destId="{5F94255D-EF16-4150-9410-3B78AED1F75E}" srcOrd="0" destOrd="0" parTransId="{91B6BB61-EF8B-491B-9360-5012672D29FB}" sibTransId="{1AF7EB16-571C-44E6-9D68-D0F3EEDC1E13}"/>
    <dgm:cxn modelId="{A47F4451-A984-410E-B4B5-FC28F9FBC003}" srcId="{CE40DB37-3123-4CD6-BE51-B0364C92C71B}" destId="{B168B6DF-4C2B-4A44-8370-66C6542048E9}" srcOrd="1" destOrd="0" parTransId="{C1B683F3-93A0-473A-A13C-DF7D9BE3490D}" sibTransId="{702061D5-971C-42F2-980C-CD379A9702F5}"/>
    <dgm:cxn modelId="{4156F574-DE50-482A-9571-9F1A394AEDD1}" type="presOf" srcId="{5F94255D-EF16-4150-9410-3B78AED1F75E}" destId="{FDAB0C1A-10F8-460C-9FBF-AC34F8729F88}" srcOrd="0" destOrd="0" presId="urn:microsoft.com/office/officeart/2018/2/layout/IconVerticalSolidList"/>
    <dgm:cxn modelId="{F25DFDA7-75C6-4D81-8A86-14C903AE5B48}" type="presOf" srcId="{B168B6DF-4C2B-4A44-8370-66C6542048E9}" destId="{D49B1670-6B3F-490D-9CAF-8040FBCA2770}" srcOrd="0" destOrd="0" presId="urn:microsoft.com/office/officeart/2018/2/layout/IconVerticalSolidList"/>
    <dgm:cxn modelId="{5531F8A8-AF71-4852-9DC9-87B2D5BC9793}" srcId="{CE40DB37-3123-4CD6-BE51-B0364C92C71B}" destId="{6BF13466-11DC-4832-8FBC-1E6A99B82CBD}" srcOrd="2" destOrd="0" parTransId="{17CF82A0-D432-434D-8D76-9F19B1826CA1}" sibTransId="{8A20A8C5-FC21-4F9C-B24B-6D502BC2D6C4}"/>
    <dgm:cxn modelId="{8FB859D9-3F9B-48BB-95A4-572A243F8D96}" type="presOf" srcId="{CE40DB37-3123-4CD6-BE51-B0364C92C71B}" destId="{641CF73E-B78F-447D-B035-3EAE94EFE91D}" srcOrd="0" destOrd="0" presId="urn:microsoft.com/office/officeart/2018/2/layout/IconVerticalSolidList"/>
    <dgm:cxn modelId="{B6973FE5-7DC9-4741-B021-573311454231}" type="presOf" srcId="{6BF13466-11DC-4832-8FBC-1E6A99B82CBD}" destId="{A966F53A-AB05-47B6-B5D1-DA105D2473F2}" srcOrd="0" destOrd="0" presId="urn:microsoft.com/office/officeart/2018/2/layout/IconVerticalSolidList"/>
    <dgm:cxn modelId="{57C93989-B0A8-4609-9750-4B5C82ED12D7}" type="presParOf" srcId="{641CF73E-B78F-447D-B035-3EAE94EFE91D}" destId="{61B548CA-AE62-494D-804E-1EB59FD4CD3B}" srcOrd="0" destOrd="0" presId="urn:microsoft.com/office/officeart/2018/2/layout/IconVerticalSolidList"/>
    <dgm:cxn modelId="{7F778C07-F047-41DA-9C64-DD82D03D5607}" type="presParOf" srcId="{61B548CA-AE62-494D-804E-1EB59FD4CD3B}" destId="{AB197F07-9EC6-49C3-8F57-DFC8C557D0CA}" srcOrd="0" destOrd="0" presId="urn:microsoft.com/office/officeart/2018/2/layout/IconVerticalSolidList"/>
    <dgm:cxn modelId="{DAF133EA-A9B9-41B6-BA2B-97E411A83C24}" type="presParOf" srcId="{61B548CA-AE62-494D-804E-1EB59FD4CD3B}" destId="{F156B02E-3E7A-4CF4-8B0A-FED215185D5C}" srcOrd="1" destOrd="0" presId="urn:microsoft.com/office/officeart/2018/2/layout/IconVerticalSolidList"/>
    <dgm:cxn modelId="{A4C49848-81FA-4ACD-899D-67393221EDBE}" type="presParOf" srcId="{61B548CA-AE62-494D-804E-1EB59FD4CD3B}" destId="{6DC7EC26-F6C5-4593-B4B7-7EBE681E15FC}" srcOrd="2" destOrd="0" presId="urn:microsoft.com/office/officeart/2018/2/layout/IconVerticalSolidList"/>
    <dgm:cxn modelId="{38369F6D-B1E8-465B-AB0E-8C3F9EDE76C3}" type="presParOf" srcId="{61B548CA-AE62-494D-804E-1EB59FD4CD3B}" destId="{FDAB0C1A-10F8-460C-9FBF-AC34F8729F88}" srcOrd="3" destOrd="0" presId="urn:microsoft.com/office/officeart/2018/2/layout/IconVerticalSolidList"/>
    <dgm:cxn modelId="{E539C73E-5D57-47CC-821D-34D819AE2F7C}" type="presParOf" srcId="{641CF73E-B78F-447D-B035-3EAE94EFE91D}" destId="{3B6538E4-50D9-419D-9217-79512A8120CA}" srcOrd="1" destOrd="0" presId="urn:microsoft.com/office/officeart/2018/2/layout/IconVerticalSolidList"/>
    <dgm:cxn modelId="{764382D1-D9CE-4623-8EE5-37EEF8826318}" type="presParOf" srcId="{641CF73E-B78F-447D-B035-3EAE94EFE91D}" destId="{74EAF7BD-7320-4FA0-B3B9-9369DEFF17AD}" srcOrd="2" destOrd="0" presId="urn:microsoft.com/office/officeart/2018/2/layout/IconVerticalSolidList"/>
    <dgm:cxn modelId="{63354A29-F0FF-4B6C-8C39-0DC8EF221A21}" type="presParOf" srcId="{74EAF7BD-7320-4FA0-B3B9-9369DEFF17AD}" destId="{C10BED90-5E21-4ED3-AA72-A5579E8EC088}" srcOrd="0" destOrd="0" presId="urn:microsoft.com/office/officeart/2018/2/layout/IconVerticalSolidList"/>
    <dgm:cxn modelId="{7A2D99AB-ABDE-478D-9238-E21B28421A4B}" type="presParOf" srcId="{74EAF7BD-7320-4FA0-B3B9-9369DEFF17AD}" destId="{A7E8C2F4-0C03-4F81-9B69-2C28C0498B94}" srcOrd="1" destOrd="0" presId="urn:microsoft.com/office/officeart/2018/2/layout/IconVerticalSolidList"/>
    <dgm:cxn modelId="{5E3D13EF-52D5-4E1F-ACBF-D15E365A1D79}" type="presParOf" srcId="{74EAF7BD-7320-4FA0-B3B9-9369DEFF17AD}" destId="{6CD824C0-06DC-41DC-9176-A3A90D5A81A1}" srcOrd="2" destOrd="0" presId="urn:microsoft.com/office/officeart/2018/2/layout/IconVerticalSolidList"/>
    <dgm:cxn modelId="{6425A45D-717F-473F-AEA6-5B3561D05BCD}" type="presParOf" srcId="{74EAF7BD-7320-4FA0-B3B9-9369DEFF17AD}" destId="{D49B1670-6B3F-490D-9CAF-8040FBCA2770}" srcOrd="3" destOrd="0" presId="urn:microsoft.com/office/officeart/2018/2/layout/IconVerticalSolidList"/>
    <dgm:cxn modelId="{2E189083-C39E-4E00-B38C-2350FDF70D30}" type="presParOf" srcId="{641CF73E-B78F-447D-B035-3EAE94EFE91D}" destId="{6582F741-5C1C-4504-9F15-F6712E4F1FCC}" srcOrd="3" destOrd="0" presId="urn:microsoft.com/office/officeart/2018/2/layout/IconVerticalSolidList"/>
    <dgm:cxn modelId="{7847E897-AF17-4284-B781-F99A3E71299E}" type="presParOf" srcId="{641CF73E-B78F-447D-B035-3EAE94EFE91D}" destId="{E313ACE9-1A9B-402C-98CC-9AA85438CFF1}" srcOrd="4" destOrd="0" presId="urn:microsoft.com/office/officeart/2018/2/layout/IconVerticalSolidList"/>
    <dgm:cxn modelId="{0E29C922-F951-402E-935D-E65A1DA1E72D}" type="presParOf" srcId="{E313ACE9-1A9B-402C-98CC-9AA85438CFF1}" destId="{CC914B6C-D6D4-4ACD-B5C4-49088D464385}" srcOrd="0" destOrd="0" presId="urn:microsoft.com/office/officeart/2018/2/layout/IconVerticalSolidList"/>
    <dgm:cxn modelId="{922E8581-C5F3-450A-A0E9-F50D57C70552}" type="presParOf" srcId="{E313ACE9-1A9B-402C-98CC-9AA85438CFF1}" destId="{DC7689DF-2C12-435C-8AD4-083CA3984880}" srcOrd="1" destOrd="0" presId="urn:microsoft.com/office/officeart/2018/2/layout/IconVerticalSolidList"/>
    <dgm:cxn modelId="{EE5D4A7E-CC84-4F01-B595-F77C502F4722}" type="presParOf" srcId="{E313ACE9-1A9B-402C-98CC-9AA85438CFF1}" destId="{8022CC60-0E2D-48F2-80A4-CB5FC0A33C22}" srcOrd="2" destOrd="0" presId="urn:microsoft.com/office/officeart/2018/2/layout/IconVerticalSolidList"/>
    <dgm:cxn modelId="{DE91913A-06DA-4CF8-BFD2-45A6440A0AF7}" type="presParOf" srcId="{E313ACE9-1A9B-402C-98CC-9AA85438CFF1}" destId="{A966F53A-AB05-47B6-B5D1-DA105D2473F2}"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3DA778-CC1C-4EB5-A569-23ED6987B85C}">
      <dsp:nvSpPr>
        <dsp:cNvPr id="0" name=""/>
        <dsp:cNvSpPr/>
      </dsp:nvSpPr>
      <dsp:spPr>
        <a:xfrm>
          <a:off x="528430" y="180231"/>
          <a:ext cx="810000" cy="81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EF2B11E-10C6-4806-86DC-8B638F69FCEA}">
      <dsp:nvSpPr>
        <dsp:cNvPr id="0" name=""/>
        <dsp:cNvSpPr/>
      </dsp:nvSpPr>
      <dsp:spPr>
        <a:xfrm>
          <a:off x="4" y="1127900"/>
          <a:ext cx="1800000" cy="83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pPr>
          <a:r>
            <a:rPr lang="en-US" sz="1800" kern="1200" dirty="0"/>
            <a:t>We require query plans as input for the LLM.</a:t>
          </a:r>
        </a:p>
      </dsp:txBody>
      <dsp:txXfrm>
        <a:off x="4" y="1127900"/>
        <a:ext cx="1800000" cy="832500"/>
      </dsp:txXfrm>
    </dsp:sp>
    <dsp:sp modelId="{3DFC030B-141F-4924-B9C5-248EE751BCD9}">
      <dsp:nvSpPr>
        <dsp:cNvPr id="0" name=""/>
        <dsp:cNvSpPr/>
      </dsp:nvSpPr>
      <dsp:spPr>
        <a:xfrm>
          <a:off x="2643430" y="180231"/>
          <a:ext cx="810000" cy="81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7B9EBBD-77E3-4226-996E-0FF4DE98CF04}">
      <dsp:nvSpPr>
        <dsp:cNvPr id="0" name=""/>
        <dsp:cNvSpPr/>
      </dsp:nvSpPr>
      <dsp:spPr>
        <a:xfrm>
          <a:off x="2115004" y="1127900"/>
          <a:ext cx="1800000" cy="83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11200">
            <a:lnSpc>
              <a:spcPct val="100000"/>
            </a:lnSpc>
            <a:spcBef>
              <a:spcPct val="0"/>
            </a:spcBef>
            <a:spcAft>
              <a:spcPct val="35000"/>
            </a:spcAft>
            <a:buNone/>
          </a:pPr>
          <a:r>
            <a:rPr lang="en-US" sz="1600" kern="1200" dirty="0"/>
            <a:t>Use EXPLAIN JSON to obtain the query plan.</a:t>
          </a:r>
        </a:p>
      </dsp:txBody>
      <dsp:txXfrm>
        <a:off x="2115004" y="1127900"/>
        <a:ext cx="1800000" cy="832500"/>
      </dsp:txXfrm>
    </dsp:sp>
    <dsp:sp modelId="{65458E59-0F5F-4E40-9A67-9CDB82D82F98}">
      <dsp:nvSpPr>
        <dsp:cNvPr id="0" name=""/>
        <dsp:cNvSpPr/>
      </dsp:nvSpPr>
      <dsp:spPr>
        <a:xfrm>
          <a:off x="4758430" y="180231"/>
          <a:ext cx="810000" cy="8100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FF78F7D-5EB7-4015-8295-175E838DDC1F}">
      <dsp:nvSpPr>
        <dsp:cNvPr id="0" name=""/>
        <dsp:cNvSpPr/>
      </dsp:nvSpPr>
      <dsp:spPr>
        <a:xfrm>
          <a:off x="4230004" y="1127900"/>
          <a:ext cx="1800000" cy="832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100000"/>
            </a:lnSpc>
            <a:spcBef>
              <a:spcPct val="0"/>
            </a:spcBef>
            <a:spcAft>
              <a:spcPct val="35000"/>
            </a:spcAft>
            <a:buNone/>
          </a:pPr>
          <a:r>
            <a:rPr lang="en-US" sz="1800" kern="1200" dirty="0"/>
            <a:t>We “clean” the query plan.</a:t>
          </a:r>
        </a:p>
      </dsp:txBody>
      <dsp:txXfrm>
        <a:off x="4230004" y="1127900"/>
        <a:ext cx="1800000" cy="8325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B197F07-9EC6-49C3-8F57-DFC8C557D0CA}">
      <dsp:nvSpPr>
        <dsp:cNvPr id="0" name=""/>
        <dsp:cNvSpPr/>
      </dsp:nvSpPr>
      <dsp:spPr>
        <a:xfrm>
          <a:off x="0" y="553"/>
          <a:ext cx="5212080" cy="1295288"/>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156B02E-3E7A-4CF4-8B0A-FED215185D5C}">
      <dsp:nvSpPr>
        <dsp:cNvPr id="0" name=""/>
        <dsp:cNvSpPr/>
      </dsp:nvSpPr>
      <dsp:spPr>
        <a:xfrm>
          <a:off x="391824" y="291993"/>
          <a:ext cx="712408" cy="712408"/>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DAB0C1A-10F8-460C-9FBF-AC34F8729F88}">
      <dsp:nvSpPr>
        <dsp:cNvPr id="0" name=""/>
        <dsp:cNvSpPr/>
      </dsp:nvSpPr>
      <dsp:spPr>
        <a:xfrm>
          <a:off x="1496057" y="553"/>
          <a:ext cx="3716022" cy="12952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085" tIns="137085" rIns="137085" bIns="137085" numCol="1" spcCol="1270" anchor="ctr" anchorCtr="0">
          <a:noAutofit/>
        </a:bodyPr>
        <a:lstStyle/>
        <a:p>
          <a:pPr marL="0" lvl="0" indent="0" algn="l" defTabSz="711200">
            <a:lnSpc>
              <a:spcPct val="100000"/>
            </a:lnSpc>
            <a:spcBef>
              <a:spcPct val="0"/>
            </a:spcBef>
            <a:spcAft>
              <a:spcPct val="35000"/>
            </a:spcAft>
            <a:buNone/>
          </a:pPr>
          <a:r>
            <a:rPr lang="en-US" sz="1600" kern="1200"/>
            <a:t>We do not know the reasons for which the LLM is not providing the correct transformations.</a:t>
          </a:r>
        </a:p>
      </dsp:txBody>
      <dsp:txXfrm>
        <a:off x="1496057" y="553"/>
        <a:ext cx="3716022" cy="1295288"/>
      </dsp:txXfrm>
    </dsp:sp>
    <dsp:sp modelId="{C10BED90-5E21-4ED3-AA72-A5579E8EC088}">
      <dsp:nvSpPr>
        <dsp:cNvPr id="0" name=""/>
        <dsp:cNvSpPr/>
      </dsp:nvSpPr>
      <dsp:spPr>
        <a:xfrm>
          <a:off x="0" y="1619663"/>
          <a:ext cx="5212080" cy="1295288"/>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7E8C2F4-0C03-4F81-9B69-2C28C0498B94}">
      <dsp:nvSpPr>
        <dsp:cNvPr id="0" name=""/>
        <dsp:cNvSpPr/>
      </dsp:nvSpPr>
      <dsp:spPr>
        <a:xfrm>
          <a:off x="391824" y="1911103"/>
          <a:ext cx="712408" cy="712408"/>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49B1670-6B3F-490D-9CAF-8040FBCA2770}">
      <dsp:nvSpPr>
        <dsp:cNvPr id="0" name=""/>
        <dsp:cNvSpPr/>
      </dsp:nvSpPr>
      <dsp:spPr>
        <a:xfrm>
          <a:off x="1496057" y="1619663"/>
          <a:ext cx="3716022" cy="12952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085" tIns="137085" rIns="137085" bIns="137085" numCol="1" spcCol="1270" anchor="ctr" anchorCtr="0">
          <a:noAutofit/>
        </a:bodyPr>
        <a:lstStyle/>
        <a:p>
          <a:pPr marL="0" lvl="0" indent="0" algn="l" defTabSz="711200">
            <a:lnSpc>
              <a:spcPct val="100000"/>
            </a:lnSpc>
            <a:spcBef>
              <a:spcPct val="0"/>
            </a:spcBef>
            <a:spcAft>
              <a:spcPct val="35000"/>
            </a:spcAft>
            <a:buNone/>
          </a:pPr>
          <a:r>
            <a:rPr lang="en-US" sz="1600" kern="1200"/>
            <a:t>We can investigate this further and try to find the proper reason for these anomalies. </a:t>
          </a:r>
        </a:p>
      </dsp:txBody>
      <dsp:txXfrm>
        <a:off x="1496057" y="1619663"/>
        <a:ext cx="3716022" cy="1295288"/>
      </dsp:txXfrm>
    </dsp:sp>
    <dsp:sp modelId="{CC914B6C-D6D4-4ACD-B5C4-49088D464385}">
      <dsp:nvSpPr>
        <dsp:cNvPr id="0" name=""/>
        <dsp:cNvSpPr/>
      </dsp:nvSpPr>
      <dsp:spPr>
        <a:xfrm>
          <a:off x="0" y="3238774"/>
          <a:ext cx="5212080" cy="1295288"/>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C7689DF-2C12-435C-8AD4-083CA3984880}">
      <dsp:nvSpPr>
        <dsp:cNvPr id="0" name=""/>
        <dsp:cNvSpPr/>
      </dsp:nvSpPr>
      <dsp:spPr>
        <a:xfrm>
          <a:off x="391824" y="3530214"/>
          <a:ext cx="712408" cy="712408"/>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966F53A-AB05-47B6-B5D1-DA105D2473F2}">
      <dsp:nvSpPr>
        <dsp:cNvPr id="0" name=""/>
        <dsp:cNvSpPr/>
      </dsp:nvSpPr>
      <dsp:spPr>
        <a:xfrm>
          <a:off x="1496057" y="3238774"/>
          <a:ext cx="3716022" cy="12952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7085" tIns="137085" rIns="137085" bIns="137085" numCol="1" spcCol="1270" anchor="ctr" anchorCtr="0">
          <a:noAutofit/>
        </a:bodyPr>
        <a:lstStyle/>
        <a:p>
          <a:pPr marL="0" lvl="0" indent="0" algn="l" defTabSz="711200">
            <a:lnSpc>
              <a:spcPct val="100000"/>
            </a:lnSpc>
            <a:spcBef>
              <a:spcPct val="0"/>
            </a:spcBef>
            <a:spcAft>
              <a:spcPct val="35000"/>
            </a:spcAft>
            <a:buNone/>
          </a:pPr>
          <a:r>
            <a:rPr lang="en-US" sz="1600" kern="1200"/>
            <a:t>Once we figure out the reason, we can then attempt to fix those, either by prompt engineering, or other means.</a:t>
          </a:r>
        </a:p>
      </dsp:txBody>
      <dsp:txXfrm>
        <a:off x="1496057" y="3238774"/>
        <a:ext cx="3716022" cy="1295288"/>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5610A-17B4-4656-93CF-E1D9982860F7}"/>
              </a:ext>
            </a:extLst>
          </p:cNvPr>
          <p:cNvSpPr>
            <a:spLocks noGrp="1"/>
          </p:cNvSpPr>
          <p:nvPr>
            <p:ph type="ctrTitle"/>
          </p:nvPr>
        </p:nvSpPr>
        <p:spPr>
          <a:xfrm>
            <a:off x="640080" y="1371599"/>
            <a:ext cx="6675120" cy="2951825"/>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51C80B-DFD6-415B-BA5B-E56E510CD12B}"/>
              </a:ext>
            </a:extLst>
          </p:cNvPr>
          <p:cNvSpPr>
            <a:spLocks noGrp="1"/>
          </p:cNvSpPr>
          <p:nvPr>
            <p:ph type="subTitle" idx="1"/>
          </p:nvPr>
        </p:nvSpPr>
        <p:spPr>
          <a:xfrm>
            <a:off x="640080" y="4584879"/>
            <a:ext cx="6675120" cy="1287887"/>
          </a:xfrm>
        </p:spPr>
        <p:txBody>
          <a:bodyPr anchor="b">
            <a:normAutofit/>
          </a:bodyPr>
          <a:lstStyle>
            <a:lvl1pPr marL="0" indent="0" algn="l">
              <a:lnSpc>
                <a:spcPct val="130000"/>
              </a:lnSpc>
              <a:buNone/>
              <a:defRPr sz="18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67A2065B-06FF-4991-9F8A-4BE25457B479}"/>
              </a:ext>
            </a:extLst>
          </p:cNvPr>
          <p:cNvSpPr>
            <a:spLocks noGrp="1"/>
          </p:cNvSpPr>
          <p:nvPr>
            <p:ph type="dt" sz="half" idx="10"/>
          </p:nvPr>
        </p:nvSpPr>
        <p:spPr/>
        <p:txBody>
          <a:bodyPr/>
          <a:lstStyle/>
          <a:p>
            <a:fld id="{6444479B-705B-4489-957E-7E8A228BDFA0}" type="datetime1">
              <a:rPr lang="en-US" smtClean="0"/>
              <a:t>12/3/2025</a:t>
            </a:fld>
            <a:endParaRPr lang="en-US"/>
          </a:p>
        </p:txBody>
      </p:sp>
      <p:sp>
        <p:nvSpPr>
          <p:cNvPr id="5" name="Footer Placeholder 4">
            <a:extLst>
              <a:ext uri="{FF2B5EF4-FFF2-40B4-BE49-F238E27FC236}">
                <a16:creationId xmlns:a16="http://schemas.microsoft.com/office/drawing/2014/main" id="{B20DF2FA-C604-45D8-A633-11D3742EC14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2EE5DA9-2D04-4850-AB9F-BD353816504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31405912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08B246-6A68-46BE-9DBD-614FA8CF4E26}"/>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3E47706-8D18-4093-A7C1-F30D7543CED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C7C8FC-AAEA-4AB6-9DB5-2503F58F0E69}"/>
              </a:ext>
            </a:extLst>
          </p:cNvPr>
          <p:cNvSpPr>
            <a:spLocks noGrp="1"/>
          </p:cNvSpPr>
          <p:nvPr>
            <p:ph type="dt" sz="half" idx="10"/>
          </p:nvPr>
        </p:nvSpPr>
        <p:spPr/>
        <p:txBody>
          <a:bodyPr/>
          <a:lstStyle/>
          <a:p>
            <a:fld id="{9F89F774-3FA6-43B8-9241-99959C8FD463}" type="datetime1">
              <a:rPr lang="en-US" smtClean="0"/>
              <a:t>12/3/2025</a:t>
            </a:fld>
            <a:endParaRPr lang="en-US"/>
          </a:p>
        </p:txBody>
      </p:sp>
      <p:sp>
        <p:nvSpPr>
          <p:cNvPr id="5" name="Footer Placeholder 4">
            <a:extLst>
              <a:ext uri="{FF2B5EF4-FFF2-40B4-BE49-F238E27FC236}">
                <a16:creationId xmlns:a16="http://schemas.microsoft.com/office/drawing/2014/main" id="{E8B1616B-3F08-4869-A522-773C38940F6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3E030CE6-9124-4B3A-A912-AE16B5C34003}"/>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2071314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1BB59B6-79B9-97F5-AC3B-DF65899D39D8}"/>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6C78885-57B2-4930-BD7D-CBF916EDF1C6}"/>
              </a:ext>
            </a:extLst>
          </p:cNvPr>
          <p:cNvSpPr>
            <a:spLocks noGrp="1"/>
          </p:cNvSpPr>
          <p:nvPr>
            <p:ph type="title"/>
          </p:nvPr>
        </p:nvSpPr>
        <p:spPr>
          <a:xfrm>
            <a:off x="640080" y="1291366"/>
            <a:ext cx="9214884" cy="3159974"/>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BE495E4-2F8B-4CC7-88AC-A312067E60D2}"/>
              </a:ext>
            </a:extLst>
          </p:cNvPr>
          <p:cNvSpPr>
            <a:spLocks noGrp="1"/>
          </p:cNvSpPr>
          <p:nvPr>
            <p:ph type="body" idx="1"/>
          </p:nvPr>
        </p:nvSpPr>
        <p:spPr>
          <a:xfrm>
            <a:off x="640080" y="5018567"/>
            <a:ext cx="7907079" cy="1073889"/>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8585CC9-BAD3-4807-90BB-97DA2D6A6BE2}"/>
              </a:ext>
            </a:extLst>
          </p:cNvPr>
          <p:cNvSpPr>
            <a:spLocks noGrp="1"/>
          </p:cNvSpPr>
          <p:nvPr>
            <p:ph type="dt" sz="half" idx="10"/>
          </p:nvPr>
        </p:nvSpPr>
        <p:spPr/>
        <p:txBody>
          <a:bodyPr/>
          <a:lstStyle/>
          <a:p>
            <a:fld id="{F9504452-5DCC-4FE2-A5C9-8A5EF6714D65}" type="datetime1">
              <a:rPr lang="en-US" smtClean="0"/>
              <a:t>12/3/2025</a:t>
            </a:fld>
            <a:endParaRPr lang="en-US"/>
          </a:p>
        </p:txBody>
      </p:sp>
      <p:sp>
        <p:nvSpPr>
          <p:cNvPr id="5" name="Footer Placeholder 4">
            <a:extLst>
              <a:ext uri="{FF2B5EF4-FFF2-40B4-BE49-F238E27FC236}">
                <a16:creationId xmlns:a16="http://schemas.microsoft.com/office/drawing/2014/main" id="{5F108CEF-165F-4D7E-9666-5CD0156B497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E0EBC3D-3277-4D34-9F67-71040C21E3B3}"/>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FF05EAE5-4812-F718-6D75-9627884180BF}"/>
              </a:ext>
              <a:ext uri="{C183D7F6-B498-43B3-948B-1728B52AA6E4}">
                <adec:decorative xmlns:adec="http://schemas.microsoft.com/office/drawing/2017/decorative" val="1"/>
              </a:ext>
            </a:extLst>
          </p:cNvPr>
          <p:cNvCxnSpPr>
            <a:cxnSpLocks/>
          </p:cNvCxnSpPr>
          <p:nvPr/>
        </p:nvCxnSpPr>
        <p:spPr>
          <a:xfrm>
            <a:off x="716281" y="4715234"/>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3810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B477A4-4D01-45B6-9563-0BF13BA72F7C}"/>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EE17E00-96AC-45F0-82B2-9F601E9B93C2}"/>
              </a:ext>
            </a:extLst>
          </p:cNvPr>
          <p:cNvSpPr>
            <a:spLocks noGrp="1"/>
          </p:cNvSpPr>
          <p:nvPr>
            <p:ph sz="half" idx="1"/>
          </p:nvPr>
        </p:nvSpPr>
        <p:spPr>
          <a:xfrm>
            <a:off x="640080"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BA30CD-95C0-427B-A571-A7D8A53278F4}"/>
              </a:ext>
            </a:extLst>
          </p:cNvPr>
          <p:cNvSpPr>
            <a:spLocks noGrp="1"/>
          </p:cNvSpPr>
          <p:nvPr>
            <p:ph sz="half" idx="2"/>
          </p:nvPr>
        </p:nvSpPr>
        <p:spPr>
          <a:xfrm>
            <a:off x="6318928" y="2633472"/>
            <a:ext cx="5212080" cy="35661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6F67CAC-53E4-44AF-BEAC-8FFB96F05A86}"/>
              </a:ext>
            </a:extLst>
          </p:cNvPr>
          <p:cNvSpPr>
            <a:spLocks noGrp="1"/>
          </p:cNvSpPr>
          <p:nvPr>
            <p:ph type="dt" sz="half" idx="10"/>
          </p:nvPr>
        </p:nvSpPr>
        <p:spPr/>
        <p:txBody>
          <a:bodyPr/>
          <a:lstStyle/>
          <a:p>
            <a:fld id="{E579ABC2-0180-4F3A-A895-A85BC724D472}" type="datetime1">
              <a:rPr lang="en-US" smtClean="0"/>
              <a:t>12/3/2025</a:t>
            </a:fld>
            <a:endParaRPr lang="en-US"/>
          </a:p>
        </p:txBody>
      </p:sp>
      <p:sp>
        <p:nvSpPr>
          <p:cNvPr id="6" name="Footer Placeholder 5">
            <a:extLst>
              <a:ext uri="{FF2B5EF4-FFF2-40B4-BE49-F238E27FC236}">
                <a16:creationId xmlns:a16="http://schemas.microsoft.com/office/drawing/2014/main" id="{083D9F3A-E7F0-45E7-AFA8-0D4A669EC16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C5F008B-58BB-45FF-923F-5909DAB49D34}"/>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17422493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97B549-9E51-42E0-992A-73E775957773}"/>
              </a:ext>
            </a:extLst>
          </p:cNvPr>
          <p:cNvSpPr>
            <a:spLocks noGrp="1"/>
          </p:cNvSpPr>
          <p:nvPr>
            <p:ph type="title"/>
          </p:nvPr>
        </p:nvSpPr>
        <p:spPr>
          <a:xfrm>
            <a:off x="640079" y="1371599"/>
            <a:ext cx="10890929" cy="93975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C81A5FDC-7C4B-45FB-8462-E2CE79919F33}"/>
              </a:ext>
            </a:extLst>
          </p:cNvPr>
          <p:cNvSpPr>
            <a:spLocks noGrp="1"/>
          </p:cNvSpPr>
          <p:nvPr>
            <p:ph type="body" idx="1"/>
          </p:nvPr>
        </p:nvSpPr>
        <p:spPr>
          <a:xfrm>
            <a:off x="640079"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BD8B686-2E92-45B9-A3D7-9DCAA0C50B36}"/>
              </a:ext>
            </a:extLst>
          </p:cNvPr>
          <p:cNvSpPr>
            <a:spLocks noGrp="1"/>
          </p:cNvSpPr>
          <p:nvPr>
            <p:ph sz="half" idx="2"/>
          </p:nvPr>
        </p:nvSpPr>
        <p:spPr>
          <a:xfrm>
            <a:off x="640079"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86ADB526-4A44-47B6-8D14-93202E590AA7}"/>
              </a:ext>
            </a:extLst>
          </p:cNvPr>
          <p:cNvSpPr>
            <a:spLocks noGrp="1"/>
          </p:cNvSpPr>
          <p:nvPr>
            <p:ph type="body" sz="quarter" idx="3"/>
          </p:nvPr>
        </p:nvSpPr>
        <p:spPr>
          <a:xfrm>
            <a:off x="6318928" y="2311352"/>
            <a:ext cx="5212080" cy="695373"/>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74177CA-5C13-4311-BFD3-B98FBD942DA5}"/>
              </a:ext>
            </a:extLst>
          </p:cNvPr>
          <p:cNvSpPr>
            <a:spLocks noGrp="1"/>
          </p:cNvSpPr>
          <p:nvPr>
            <p:ph sz="quarter" idx="4"/>
          </p:nvPr>
        </p:nvSpPr>
        <p:spPr>
          <a:xfrm>
            <a:off x="6318928" y="3006725"/>
            <a:ext cx="5212080" cy="31912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DEA255A-4CB5-40CA-B756-1AA5E27C20BF}"/>
              </a:ext>
            </a:extLst>
          </p:cNvPr>
          <p:cNvSpPr>
            <a:spLocks noGrp="1"/>
          </p:cNvSpPr>
          <p:nvPr>
            <p:ph type="dt" sz="half" idx="10"/>
          </p:nvPr>
        </p:nvSpPr>
        <p:spPr/>
        <p:txBody>
          <a:bodyPr/>
          <a:lstStyle/>
          <a:p>
            <a:fld id="{6AEEA9BA-4E8F-439E-BEA4-91FBA01E3F5F}" type="datetime1">
              <a:rPr lang="en-US" smtClean="0"/>
              <a:t>12/3/2025</a:t>
            </a:fld>
            <a:endParaRPr lang="en-US"/>
          </a:p>
        </p:txBody>
      </p:sp>
      <p:sp>
        <p:nvSpPr>
          <p:cNvPr id="8" name="Footer Placeholder 7">
            <a:extLst>
              <a:ext uri="{FF2B5EF4-FFF2-40B4-BE49-F238E27FC236}">
                <a16:creationId xmlns:a16="http://schemas.microsoft.com/office/drawing/2014/main" id="{FF3072C4-10F1-49B8-B0BF-69204EDDCFAE}"/>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4A5ACC97-44C1-4887-909B-E6732D3C1FF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9913701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7D313-943A-47E0-8A7A-DFFBCC297AB7}"/>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23AC25A7-81C8-4AA1-AD9F-C78A451FDE2E}"/>
              </a:ext>
            </a:extLst>
          </p:cNvPr>
          <p:cNvSpPr>
            <a:spLocks noGrp="1"/>
          </p:cNvSpPr>
          <p:nvPr>
            <p:ph type="dt" sz="half" idx="10"/>
          </p:nvPr>
        </p:nvSpPr>
        <p:spPr/>
        <p:txBody>
          <a:bodyPr/>
          <a:lstStyle/>
          <a:p>
            <a:fld id="{BE15BF18-0007-481C-AA29-413124BC3EE7}" type="datetime1">
              <a:rPr lang="en-US" smtClean="0"/>
              <a:t>12/3/2025</a:t>
            </a:fld>
            <a:endParaRPr lang="en-US"/>
          </a:p>
        </p:txBody>
      </p:sp>
      <p:sp>
        <p:nvSpPr>
          <p:cNvPr id="4" name="Footer Placeholder 3">
            <a:extLst>
              <a:ext uri="{FF2B5EF4-FFF2-40B4-BE49-F238E27FC236}">
                <a16:creationId xmlns:a16="http://schemas.microsoft.com/office/drawing/2014/main" id="{6EF54740-6022-46B2-9C55-B60E9651684F}"/>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089497C9-6B5E-46D6-8FE9-0A5E0CF7F95B}"/>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7413015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5" name="Rectangle 4">
            <a:extLst>
              <a:ext uri="{FF2B5EF4-FFF2-40B4-BE49-F238E27FC236}">
                <a16:creationId xmlns:a16="http://schemas.microsoft.com/office/drawing/2014/main" id="{149F9F0F-FB8C-5565-247C-BDCC156B5CAF}"/>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92740D3C-270A-401A-810C-2F86BBBB87D4}"/>
              </a:ext>
            </a:extLst>
          </p:cNvPr>
          <p:cNvSpPr>
            <a:spLocks noGrp="1"/>
          </p:cNvSpPr>
          <p:nvPr>
            <p:ph type="dt" sz="half" idx="10"/>
          </p:nvPr>
        </p:nvSpPr>
        <p:spPr/>
        <p:txBody>
          <a:bodyPr/>
          <a:lstStyle/>
          <a:p>
            <a:fld id="{09BE9870-3748-43AD-B547-02A075CB4A1D}" type="datetime1">
              <a:rPr lang="en-US" smtClean="0"/>
              <a:t>12/3/2025</a:t>
            </a:fld>
            <a:endParaRPr lang="en-US"/>
          </a:p>
        </p:txBody>
      </p:sp>
      <p:sp>
        <p:nvSpPr>
          <p:cNvPr id="3" name="Footer Placeholder 2">
            <a:extLst>
              <a:ext uri="{FF2B5EF4-FFF2-40B4-BE49-F238E27FC236}">
                <a16:creationId xmlns:a16="http://schemas.microsoft.com/office/drawing/2014/main" id="{DDCBE9F8-1765-4F36-A4DE-1DB136025AC9}"/>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7790CF9E-A6C6-4873-ADBE-7A2939319E58}"/>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4384557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8CDF8-00AD-4441-A6D5-9D7A659EB6C0}"/>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8C330AF-CB7E-420A-AE8A-E02E90325885}"/>
              </a:ext>
            </a:extLst>
          </p:cNvPr>
          <p:cNvSpPr>
            <a:spLocks noGrp="1"/>
          </p:cNvSpPr>
          <p:nvPr>
            <p:ph idx="1"/>
          </p:nvPr>
        </p:nvSpPr>
        <p:spPr>
          <a:xfrm>
            <a:off x="4936519" y="1031001"/>
            <a:ext cx="6594490" cy="516636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F43257AD-2422-4CDA-9C55-700F4B5BF251}"/>
              </a:ext>
            </a:extLst>
          </p:cNvPr>
          <p:cNvSpPr>
            <a:spLocks noGrp="1"/>
          </p:cNvSpPr>
          <p:nvPr>
            <p:ph type="body" sz="half" idx="2"/>
          </p:nvPr>
        </p:nvSpPr>
        <p:spPr>
          <a:xfrm>
            <a:off x="640080" y="2972168"/>
            <a:ext cx="3859397" cy="32268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1B7454-C1CC-46F2-A6FB-1FE786C48F49}"/>
              </a:ext>
            </a:extLst>
          </p:cNvPr>
          <p:cNvSpPr>
            <a:spLocks noGrp="1"/>
          </p:cNvSpPr>
          <p:nvPr>
            <p:ph type="dt" sz="half" idx="10"/>
          </p:nvPr>
        </p:nvSpPr>
        <p:spPr/>
        <p:txBody>
          <a:bodyPr/>
          <a:lstStyle/>
          <a:p>
            <a:fld id="{558E7897-33C5-4F1A-9307-D068E37F3DC7}" type="datetime1">
              <a:rPr lang="en-US" smtClean="0"/>
              <a:t>12/3/2025</a:t>
            </a:fld>
            <a:endParaRPr lang="en-US"/>
          </a:p>
        </p:txBody>
      </p:sp>
      <p:sp>
        <p:nvSpPr>
          <p:cNvPr id="6" name="Footer Placeholder 5">
            <a:extLst>
              <a:ext uri="{FF2B5EF4-FFF2-40B4-BE49-F238E27FC236}">
                <a16:creationId xmlns:a16="http://schemas.microsoft.com/office/drawing/2014/main" id="{49077DBE-6CC7-421B-AB5E-341E20BD922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D6EAB8F-7526-4CDB-B782-FAD8B3E70B0A}"/>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42068122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31647F-5A61-44C9-81DC-331C9AE5DDAE}"/>
              </a:ext>
            </a:extLst>
          </p:cNvPr>
          <p:cNvSpPr>
            <a:spLocks noGrp="1"/>
          </p:cNvSpPr>
          <p:nvPr>
            <p:ph type="title"/>
          </p:nvPr>
        </p:nvSpPr>
        <p:spPr>
          <a:xfrm>
            <a:off x="640080" y="1371600"/>
            <a:ext cx="3859397" cy="1451723"/>
          </a:xfrm>
        </p:spPr>
        <p:txBody>
          <a:bodyPr anchor="t">
            <a:normAutofit/>
          </a:bodyPr>
          <a:lstStyle>
            <a:lvl1pPr>
              <a:defRPr sz="36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1627A0F-F1B8-49BE-A0FF-7FE16E3BDCC1}"/>
              </a:ext>
            </a:extLst>
          </p:cNvPr>
          <p:cNvSpPr>
            <a:spLocks noGrp="1"/>
          </p:cNvSpPr>
          <p:nvPr>
            <p:ph type="pic" idx="1"/>
          </p:nvPr>
        </p:nvSpPr>
        <p:spPr>
          <a:xfrm>
            <a:off x="4937760" y="1033271"/>
            <a:ext cx="6592824" cy="516636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C86D1BD6-1519-4431-9FAF-7D4F4129972C}"/>
              </a:ext>
            </a:extLst>
          </p:cNvPr>
          <p:cNvSpPr>
            <a:spLocks noGrp="1"/>
          </p:cNvSpPr>
          <p:nvPr>
            <p:ph type="body" sz="half" idx="2"/>
          </p:nvPr>
        </p:nvSpPr>
        <p:spPr>
          <a:xfrm>
            <a:off x="640080" y="2972167"/>
            <a:ext cx="3859397" cy="32268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A587A0-353B-42C2-BA96-B1ADEDF642BE}"/>
              </a:ext>
            </a:extLst>
          </p:cNvPr>
          <p:cNvSpPr>
            <a:spLocks noGrp="1"/>
          </p:cNvSpPr>
          <p:nvPr>
            <p:ph type="dt" sz="half" idx="10"/>
          </p:nvPr>
        </p:nvSpPr>
        <p:spPr/>
        <p:txBody>
          <a:bodyPr/>
          <a:lstStyle/>
          <a:p>
            <a:fld id="{82E171BA-CC09-47C8-A6DF-F5C5CB59CEEC}" type="datetime1">
              <a:rPr lang="en-US" smtClean="0"/>
              <a:t>12/3/2025</a:t>
            </a:fld>
            <a:endParaRPr lang="en-US"/>
          </a:p>
        </p:txBody>
      </p:sp>
      <p:sp>
        <p:nvSpPr>
          <p:cNvPr id="6" name="Footer Placeholder 5">
            <a:extLst>
              <a:ext uri="{FF2B5EF4-FFF2-40B4-BE49-F238E27FC236}">
                <a16:creationId xmlns:a16="http://schemas.microsoft.com/office/drawing/2014/main" id="{44D5A88E-3957-4B76-B1BE-4164029217B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5F7C5FD-E56A-4C66-8F23-087F95A2FD0E}"/>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42104029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E4BB7-3F30-4C31-9BB2-8EC24FC0A1D6}"/>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1ECF4134-70F5-4EE6-88BE-49D129630C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19EABC7-C044-44DE-B303-55A0581DA1E8}"/>
              </a:ext>
            </a:extLst>
          </p:cNvPr>
          <p:cNvSpPr>
            <a:spLocks noGrp="1"/>
          </p:cNvSpPr>
          <p:nvPr>
            <p:ph type="dt" sz="half" idx="10"/>
          </p:nvPr>
        </p:nvSpPr>
        <p:spPr/>
        <p:txBody>
          <a:bodyPr/>
          <a:lstStyle/>
          <a:p>
            <a:fld id="{C07B66AD-7C08-490A-ADA4-B47E10FB2407}" type="datetime1">
              <a:rPr lang="en-US" smtClean="0"/>
              <a:t>12/3/2025</a:t>
            </a:fld>
            <a:endParaRPr lang="en-US"/>
          </a:p>
        </p:txBody>
      </p:sp>
      <p:sp>
        <p:nvSpPr>
          <p:cNvPr id="5" name="Footer Placeholder 4">
            <a:extLst>
              <a:ext uri="{FF2B5EF4-FFF2-40B4-BE49-F238E27FC236}">
                <a16:creationId xmlns:a16="http://schemas.microsoft.com/office/drawing/2014/main" id="{4D4A63E1-5BC5-402E-9916-BAB84BCF0BB2}"/>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0A2EF915-AF64-4ECC-8B1A-B7E6A89B7917}"/>
              </a:ext>
            </a:extLst>
          </p:cNvPr>
          <p:cNvSpPr>
            <a:spLocks noGrp="1"/>
          </p:cNvSpPr>
          <p:nvPr>
            <p:ph type="sldNum" sz="quarter" idx="12"/>
          </p:nvPr>
        </p:nvSpPr>
        <p:spPr/>
        <p:txBody>
          <a:bodyPr/>
          <a:lstStyle/>
          <a:p>
            <a:fld id="{70C12960-6E85-460F-B6E3-5B82CB31AF3D}" type="slidenum">
              <a:rPr lang="en-US" smtClean="0"/>
              <a:t>‹#›</a:t>
            </a:fld>
            <a:endParaRPr lang="en-US"/>
          </a:p>
        </p:txBody>
      </p:sp>
    </p:spTree>
    <p:extLst>
      <p:ext uri="{BB962C8B-B14F-4D97-AF65-F5344CB8AC3E}">
        <p14:creationId xmlns:p14="http://schemas.microsoft.com/office/powerpoint/2010/main" val="28461644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1CB3635-47E1-90D8-B693-DA85A66B3831}"/>
              </a:ext>
            </a:extLst>
          </p:cNvPr>
          <p:cNvSpPr/>
          <p:nvPr/>
        </p:nvSpPr>
        <p:spPr>
          <a:xfrm>
            <a:off x="0" y="0"/>
            <a:ext cx="1219200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Vertical Title 1">
            <a:extLst>
              <a:ext uri="{FF2B5EF4-FFF2-40B4-BE49-F238E27FC236}">
                <a16:creationId xmlns:a16="http://schemas.microsoft.com/office/drawing/2014/main" id="{6EB09414-2AA1-4D8E-A00A-C092FBC92D91}"/>
              </a:ext>
            </a:extLst>
          </p:cNvPr>
          <p:cNvSpPr>
            <a:spLocks noGrp="1"/>
          </p:cNvSpPr>
          <p:nvPr>
            <p:ph type="title" orient="vert"/>
          </p:nvPr>
        </p:nvSpPr>
        <p:spPr>
          <a:xfrm>
            <a:off x="9209219" y="640079"/>
            <a:ext cx="1811773" cy="5536884"/>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D42C3A78-37C5-46D0-9DF4-CB78AF883C2C}"/>
              </a:ext>
            </a:extLst>
          </p:cNvPr>
          <p:cNvSpPr>
            <a:spLocks noGrp="1"/>
          </p:cNvSpPr>
          <p:nvPr>
            <p:ph type="body" orient="vert" idx="1"/>
          </p:nvPr>
        </p:nvSpPr>
        <p:spPr>
          <a:xfrm>
            <a:off x="640080" y="640080"/>
            <a:ext cx="8412422" cy="553688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49D8705E-925D-4F57-8268-107CE3CF4C45}"/>
              </a:ext>
            </a:extLst>
          </p:cNvPr>
          <p:cNvSpPr>
            <a:spLocks noGrp="1"/>
          </p:cNvSpPr>
          <p:nvPr>
            <p:ph type="dt" sz="half" idx="10"/>
          </p:nvPr>
        </p:nvSpPr>
        <p:spPr/>
        <p:txBody>
          <a:bodyPr/>
          <a:lstStyle/>
          <a:p>
            <a:fld id="{05B95027-4255-49E7-9841-CD21BCC99996}" type="datetime1">
              <a:rPr lang="en-US" smtClean="0"/>
              <a:t>12/3/2025</a:t>
            </a:fld>
            <a:endParaRPr lang="en-US"/>
          </a:p>
        </p:txBody>
      </p:sp>
      <p:sp>
        <p:nvSpPr>
          <p:cNvPr id="5" name="Footer Placeholder 4">
            <a:extLst>
              <a:ext uri="{FF2B5EF4-FFF2-40B4-BE49-F238E27FC236}">
                <a16:creationId xmlns:a16="http://schemas.microsoft.com/office/drawing/2014/main" id="{50FE207E-070D-4EC8-A44C-21F1815FDAA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15D01D1-C266-4161-A820-C084B980131C}"/>
              </a:ext>
            </a:extLst>
          </p:cNvPr>
          <p:cNvSpPr>
            <a:spLocks noGrp="1"/>
          </p:cNvSpPr>
          <p:nvPr>
            <p:ph type="sldNum" sz="quarter" idx="12"/>
          </p:nvPr>
        </p:nvSpPr>
        <p:spPr/>
        <p:txBody>
          <a:bodyPr/>
          <a:lstStyle/>
          <a:p>
            <a:fld id="{70C12960-6E85-460F-B6E3-5B82CB31AF3D}" type="slidenum">
              <a:rPr lang="en-US" smtClean="0"/>
              <a:t>‹#›</a:t>
            </a:fld>
            <a:endParaRPr lang="en-US"/>
          </a:p>
        </p:txBody>
      </p:sp>
      <p:cxnSp>
        <p:nvCxnSpPr>
          <p:cNvPr id="7" name="Straight Connector 6">
            <a:extLst>
              <a:ext uri="{FF2B5EF4-FFF2-40B4-BE49-F238E27FC236}">
                <a16:creationId xmlns:a16="http://schemas.microsoft.com/office/drawing/2014/main" id="{3230604F-219C-2DEE-830E-27274CC2FE19}"/>
              </a:ext>
              <a:ext uri="{C183D7F6-B498-43B3-948B-1728B52AA6E4}">
                <adec:decorative xmlns:adec="http://schemas.microsoft.com/office/drawing/2017/decorative" val="1"/>
              </a:ext>
            </a:extLst>
          </p:cNvPr>
          <p:cNvCxnSpPr>
            <a:cxnSpLocks/>
          </p:cNvCxnSpPr>
          <p:nvPr/>
        </p:nvCxnSpPr>
        <p:spPr>
          <a:xfrm rot="5400000">
            <a:off x="10872154" y="119243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61211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AB4E786-7636-4278-8595-D365D28A796A}"/>
              </a:ext>
            </a:extLst>
          </p:cNvPr>
          <p:cNvSpPr>
            <a:spLocks noGrp="1"/>
          </p:cNvSpPr>
          <p:nvPr>
            <p:ph type="title"/>
          </p:nvPr>
        </p:nvSpPr>
        <p:spPr>
          <a:xfrm>
            <a:off x="640079" y="1371601"/>
            <a:ext cx="10890929" cy="10972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EA740849-7059-4C70-992B-5304D2EE9BAB}"/>
              </a:ext>
            </a:extLst>
          </p:cNvPr>
          <p:cNvSpPr>
            <a:spLocks noGrp="1"/>
          </p:cNvSpPr>
          <p:nvPr>
            <p:ph type="body" idx="1"/>
          </p:nvPr>
        </p:nvSpPr>
        <p:spPr>
          <a:xfrm>
            <a:off x="640080" y="2633472"/>
            <a:ext cx="10890928" cy="356616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D09FEBF6-CEA6-4332-87B3-697807571C84}"/>
              </a:ext>
            </a:extLst>
          </p:cNvPr>
          <p:cNvSpPr>
            <a:spLocks noGrp="1"/>
          </p:cNvSpPr>
          <p:nvPr>
            <p:ph type="dt" sz="half" idx="2"/>
          </p:nvPr>
        </p:nvSpPr>
        <p:spPr>
          <a:xfrm>
            <a:off x="640080" y="6356350"/>
            <a:ext cx="2743200" cy="365125"/>
          </a:xfrm>
          <a:prstGeom prst="rect">
            <a:avLst/>
          </a:prstGeom>
        </p:spPr>
        <p:txBody>
          <a:bodyPr vert="horz" lIns="91440" tIns="45720" rIns="91440" bIns="45720" rtlCol="0" anchor="ctr"/>
          <a:lstStyle>
            <a:lvl1pPr algn="l">
              <a:defRPr sz="900" b="1" cap="all" spc="300" baseline="0">
                <a:solidFill>
                  <a:schemeClr val="tx1"/>
                </a:solidFill>
              </a:defRPr>
            </a:lvl1pPr>
          </a:lstStyle>
          <a:p>
            <a:fld id="{7DA38F49-B3E2-4BF0-BEC7-C30D34ABBB8D}" type="datetime1">
              <a:rPr lang="en-US" smtClean="0"/>
              <a:t>12/3/2025</a:t>
            </a:fld>
            <a:endParaRPr lang="en-US"/>
          </a:p>
        </p:txBody>
      </p:sp>
      <p:sp>
        <p:nvSpPr>
          <p:cNvPr id="5" name="Footer Placeholder 4">
            <a:extLst>
              <a:ext uri="{FF2B5EF4-FFF2-40B4-BE49-F238E27FC236}">
                <a16:creationId xmlns:a16="http://schemas.microsoft.com/office/drawing/2014/main" id="{BC6BAF94-621C-43E1-BA0C-410A6899031B}"/>
              </a:ext>
            </a:extLst>
          </p:cNvPr>
          <p:cNvSpPr>
            <a:spLocks noGrp="1"/>
          </p:cNvSpPr>
          <p:nvPr>
            <p:ph type="ftr" sz="quarter" idx="3"/>
          </p:nvPr>
        </p:nvSpPr>
        <p:spPr>
          <a:xfrm>
            <a:off x="6767622" y="6356350"/>
            <a:ext cx="4040373" cy="365125"/>
          </a:xfrm>
          <a:prstGeom prst="rect">
            <a:avLst/>
          </a:prstGeom>
        </p:spPr>
        <p:txBody>
          <a:bodyPr vert="horz" lIns="91440" tIns="45720" rIns="91440" bIns="45720" rtlCol="0" anchor="ctr"/>
          <a:lstStyle>
            <a:lvl1pPr algn="r">
              <a:defRPr sz="900" b="1" cap="all" spc="300" baseline="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137D19E5-9E16-48C9-AAE2-0C70679A8D7B}"/>
              </a:ext>
            </a:extLst>
          </p:cNvPr>
          <p:cNvSpPr>
            <a:spLocks noGrp="1"/>
          </p:cNvSpPr>
          <p:nvPr>
            <p:ph type="sldNum" sz="quarter" idx="4"/>
          </p:nvPr>
        </p:nvSpPr>
        <p:spPr>
          <a:xfrm>
            <a:off x="10807995" y="6356350"/>
            <a:ext cx="723014" cy="365125"/>
          </a:xfrm>
          <a:prstGeom prst="rect">
            <a:avLst/>
          </a:prstGeom>
        </p:spPr>
        <p:txBody>
          <a:bodyPr vert="horz" lIns="91440" tIns="45720" rIns="91440" bIns="45720" rtlCol="0" anchor="ctr"/>
          <a:lstStyle>
            <a:lvl1pPr algn="r">
              <a:defRPr sz="900" b="1" cap="all" spc="300" baseline="0">
                <a:solidFill>
                  <a:schemeClr val="tx1"/>
                </a:solidFill>
              </a:defRPr>
            </a:lvl1pPr>
          </a:lstStyle>
          <a:p>
            <a:fld id="{70C12960-6E85-460F-B6E3-5B82CB31AF3D}" type="slidenum">
              <a:rPr lang="en-US" smtClean="0"/>
              <a:t>‹#›</a:t>
            </a:fld>
            <a:endParaRPr lang="en-US"/>
          </a:p>
        </p:txBody>
      </p:sp>
      <p:cxnSp>
        <p:nvCxnSpPr>
          <p:cNvPr id="9" name="Straight Connector 8">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p:cNvCxnSpPr>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11407190"/>
      </p:ext>
    </p:extLst>
  </p:cSld>
  <p:clrMap bg1="lt1" tx1="dk1" bg2="lt2" tx2="dk2" accent1="accent1" accent2="accent2" accent3="accent3" accent4="accent4" accent5="accent5" accent6="accent6" hlink="hlink" folHlink="folHlink"/>
  <p:sldLayoutIdLst>
    <p:sldLayoutId id="2147483752" r:id="rId1"/>
    <p:sldLayoutId id="2147483753" r:id="rId2"/>
    <p:sldLayoutId id="2147483754" r:id="rId3"/>
    <p:sldLayoutId id="2147483755" r:id="rId4"/>
    <p:sldLayoutId id="2147483756" r:id="rId5"/>
    <p:sldLayoutId id="2147483750" r:id="rId6"/>
    <p:sldLayoutId id="2147483761" r:id="rId7"/>
    <p:sldLayoutId id="2147483760" r:id="rId8"/>
    <p:sldLayoutId id="2147483759" r:id="rId9"/>
    <p:sldLayoutId id="2147483758" r:id="rId10"/>
    <p:sldLayoutId id="2147483751" r:id="rId11"/>
  </p:sldLayoutIdLst>
  <p:hf sldNum="0" hdr="0" ftr="0" dt="0"/>
  <p:txStyles>
    <p:title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gif"/><Relationship Id="rId1" Type="http://schemas.openxmlformats.org/officeDocument/2006/relationships/slideLayout" Target="../slideLayouts/slideLayout2.xml"/><Relationship Id="rId6" Type="http://schemas.openxmlformats.org/officeDocument/2006/relationships/image" Target="../media/image20.svg"/><Relationship Id="rId11" Type="http://schemas.openxmlformats.org/officeDocument/2006/relationships/image" Target="../media/image25.png"/><Relationship Id="rId5" Type="http://schemas.openxmlformats.org/officeDocument/2006/relationships/image" Target="../media/image19.png"/><Relationship Id="rId10" Type="http://schemas.openxmlformats.org/officeDocument/2006/relationships/image" Target="../media/image24.svg"/><Relationship Id="rId4" Type="http://schemas.openxmlformats.org/officeDocument/2006/relationships/image" Target="../media/image18.svg"/><Relationship Id="rId9" Type="http://schemas.openxmlformats.org/officeDocument/2006/relationships/image" Target="../media/image23.png"/></Relationships>
</file>

<file path=ppt/slides/_rels/slide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6B9231A-B34B-4A29-A6AC-532E1EE815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descr="Illuminated server room panel">
            <a:extLst>
              <a:ext uri="{FF2B5EF4-FFF2-40B4-BE49-F238E27FC236}">
                <a16:creationId xmlns:a16="http://schemas.microsoft.com/office/drawing/2014/main" id="{2BE7843A-6746-2015-DC6F-EF9A0996C8B3}"/>
              </a:ext>
            </a:extLst>
          </p:cNvPr>
          <p:cNvPicPr>
            <a:picLocks noChangeAspect="1"/>
          </p:cNvPicPr>
          <p:nvPr/>
        </p:nvPicPr>
        <p:blipFill>
          <a:blip r:embed="rId2">
            <a:alphaModFix amt="40000"/>
          </a:blip>
          <a:srcRect t="15732"/>
          <a:stretch>
            <a:fillRect/>
          </a:stretch>
        </p:blipFill>
        <p:spPr>
          <a:xfrm>
            <a:off x="20" y="152"/>
            <a:ext cx="12191980" cy="6857848"/>
          </a:xfrm>
          <a:prstGeom prst="rect">
            <a:avLst/>
          </a:prstGeom>
        </p:spPr>
      </p:pic>
      <p:sp>
        <p:nvSpPr>
          <p:cNvPr id="4" name="Title 3">
            <a:extLst>
              <a:ext uri="{FF2B5EF4-FFF2-40B4-BE49-F238E27FC236}">
                <a16:creationId xmlns:a16="http://schemas.microsoft.com/office/drawing/2014/main" id="{37181FE4-9339-D455-B519-61A2C571A757}"/>
              </a:ext>
            </a:extLst>
          </p:cNvPr>
          <p:cNvSpPr>
            <a:spLocks noGrp="1"/>
          </p:cNvSpPr>
          <p:nvPr>
            <p:ph type="ctrTitle"/>
          </p:nvPr>
        </p:nvSpPr>
        <p:spPr>
          <a:xfrm>
            <a:off x="640079" y="985233"/>
            <a:ext cx="8405597" cy="3355853"/>
          </a:xfrm>
        </p:spPr>
        <p:txBody>
          <a:bodyPr anchor="t">
            <a:normAutofit/>
          </a:bodyPr>
          <a:lstStyle/>
          <a:p>
            <a:r>
              <a:rPr lang="en-US" sz="6000" dirty="0"/>
              <a:t>Using LLM to </a:t>
            </a:r>
            <a:br>
              <a:rPr lang="en-US" sz="6000" dirty="0"/>
            </a:br>
            <a:r>
              <a:rPr lang="en-US" sz="6000" dirty="0"/>
              <a:t>Evaluate </a:t>
            </a:r>
            <a:br>
              <a:rPr lang="en-US" sz="6000" dirty="0"/>
            </a:br>
            <a:r>
              <a:rPr lang="en-US" sz="6000" dirty="0"/>
              <a:t>Query Plan Equivalence</a:t>
            </a:r>
            <a:endParaRPr lang="en-IN" sz="5600" dirty="0">
              <a:solidFill>
                <a:srgbClr val="FFFFFF"/>
              </a:solidFill>
            </a:endParaRPr>
          </a:p>
        </p:txBody>
      </p:sp>
      <p:sp>
        <p:nvSpPr>
          <p:cNvPr id="5" name="Subtitle 4">
            <a:extLst>
              <a:ext uri="{FF2B5EF4-FFF2-40B4-BE49-F238E27FC236}">
                <a16:creationId xmlns:a16="http://schemas.microsoft.com/office/drawing/2014/main" id="{533FBF76-65BA-5EAC-8EE0-1F73844070DA}"/>
              </a:ext>
            </a:extLst>
          </p:cNvPr>
          <p:cNvSpPr>
            <a:spLocks noGrp="1"/>
          </p:cNvSpPr>
          <p:nvPr>
            <p:ph type="subTitle" idx="1"/>
          </p:nvPr>
        </p:nvSpPr>
        <p:spPr>
          <a:xfrm>
            <a:off x="3727409" y="5320406"/>
            <a:ext cx="4439920" cy="1104721"/>
          </a:xfrm>
        </p:spPr>
        <p:txBody>
          <a:bodyPr anchor="t">
            <a:normAutofit fontScale="85000" lnSpcReduction="20000"/>
          </a:bodyPr>
          <a:lstStyle/>
          <a:p>
            <a:pPr algn="ctr"/>
            <a:r>
              <a:rPr lang="en-US" dirty="0">
                <a:solidFill>
                  <a:srgbClr val="FFFFFF"/>
                </a:solidFill>
              </a:rPr>
              <a:t>Suhas Kamath </a:t>
            </a:r>
          </a:p>
          <a:p>
            <a:pPr algn="ctr"/>
            <a:r>
              <a:rPr lang="en-US" dirty="0">
                <a:solidFill>
                  <a:srgbClr val="FFFFFF"/>
                </a:solidFill>
              </a:rPr>
              <a:t>&amp;</a:t>
            </a:r>
          </a:p>
          <a:p>
            <a:pPr algn="ctr"/>
            <a:r>
              <a:rPr lang="en-US" dirty="0">
                <a:solidFill>
                  <a:srgbClr val="FFFFFF"/>
                </a:solidFill>
              </a:rPr>
              <a:t>Anish Tiwari</a:t>
            </a:r>
            <a:endParaRPr lang="en-IN" dirty="0">
              <a:solidFill>
                <a:srgbClr val="FFFFFF"/>
              </a:solidFill>
            </a:endParaRPr>
          </a:p>
        </p:txBody>
      </p:sp>
      <p:cxnSp>
        <p:nvCxnSpPr>
          <p:cNvPr id="12" name="Straight Connector 11">
            <a:extLst>
              <a:ext uri="{FF2B5EF4-FFF2-40B4-BE49-F238E27FC236}">
                <a16:creationId xmlns:a16="http://schemas.microsoft.com/office/drawing/2014/main" id="{F0CE0765-E93C-4D37-9D5F-D464EFB10FA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4954368"/>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9142862"/>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fade">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fade">
                                      <p:cBhvr>
                                        <p:cTn id="17" dur="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xEl>
                                              <p:pRg st="2" end="2"/>
                                            </p:txEl>
                                          </p:spTgt>
                                        </p:tgtEl>
                                        <p:attrNameLst>
                                          <p:attrName>style.visibility</p:attrName>
                                        </p:attrNameLst>
                                      </p:cBhvr>
                                      <p:to>
                                        <p:strVal val="visible"/>
                                      </p:to>
                                    </p:set>
                                    <p:animEffect transition="in" filter="fade">
                                      <p:cBhvr>
                                        <p:cTn id="22" dur="500"/>
                                        <p:tgtEl>
                                          <p:spTgt spid="5">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4" presetClass="emph" presetSubtype="0" fill="hold" nodeType="clickEffect">
                                  <p:stCondLst>
                                    <p:cond delay="0"/>
                                  </p:stCondLst>
                                  <p:childTnLst>
                                    <p:animClr clrSpc="hsl" dir="cw">
                                      <p:cBhvr override="childStyle">
                                        <p:cTn id="26" dur="500" fill="hold"/>
                                        <p:tgtEl>
                                          <p:spTgt spid="2"/>
                                        </p:tgtEl>
                                        <p:attrNameLst>
                                          <p:attrName>style.color</p:attrName>
                                        </p:attrNameLst>
                                      </p:cBhvr>
                                      <p:by>
                                        <p:hsl h="0" s="-12549" l="-25098"/>
                                      </p:by>
                                    </p:animClr>
                                    <p:animClr clrSpc="hsl" dir="cw">
                                      <p:cBhvr>
                                        <p:cTn id="27" dur="500" fill="hold"/>
                                        <p:tgtEl>
                                          <p:spTgt spid="2"/>
                                        </p:tgtEl>
                                        <p:attrNameLst>
                                          <p:attrName>fillcolor</p:attrName>
                                        </p:attrNameLst>
                                      </p:cBhvr>
                                      <p:by>
                                        <p:hsl h="0" s="-12549" l="-25098"/>
                                      </p:by>
                                    </p:animClr>
                                    <p:animClr clrSpc="hsl" dir="cw">
                                      <p:cBhvr>
                                        <p:cTn id="28" dur="500" fill="hold"/>
                                        <p:tgtEl>
                                          <p:spTgt spid="2"/>
                                        </p:tgtEl>
                                        <p:attrNameLst>
                                          <p:attrName>stroke.color</p:attrName>
                                        </p:attrNameLst>
                                      </p:cBhvr>
                                      <p:by>
                                        <p:hsl h="0" s="-12549" l="-25098"/>
                                      </p:by>
                                    </p:animClr>
                                    <p:set>
                                      <p:cBhvr>
                                        <p:cTn id="29" dur="500" fill="hold"/>
                                        <p:tgtEl>
                                          <p:spTgt spid="2"/>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36" name="Straight Connector 35">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38" name="Rectangle 37">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0F8ECBD-20CB-39A4-A816-8FA940118ED7}"/>
              </a:ext>
            </a:extLst>
          </p:cNvPr>
          <p:cNvSpPr>
            <a:spLocks noGrp="1"/>
          </p:cNvSpPr>
          <p:nvPr>
            <p:ph type="title"/>
          </p:nvPr>
        </p:nvSpPr>
        <p:spPr>
          <a:xfrm>
            <a:off x="1011947" y="296738"/>
            <a:ext cx="10168106" cy="825903"/>
          </a:xfrm>
        </p:spPr>
        <p:txBody>
          <a:bodyPr vert="horz" lIns="91440" tIns="45720" rIns="91440" bIns="45720" rtlCol="0" anchor="b">
            <a:normAutofit fontScale="90000"/>
          </a:bodyPr>
          <a:lstStyle/>
          <a:p>
            <a:pPr algn="ctr"/>
            <a:r>
              <a:rPr lang="en-US" sz="5600"/>
              <a:t>Motivation &amp; </a:t>
            </a:r>
            <a:r>
              <a:rPr lang="en-US" sz="6000" spc="300"/>
              <a:t>Project Objectives</a:t>
            </a:r>
            <a:endParaRPr lang="en-US" sz="5600" dirty="0"/>
          </a:p>
        </p:txBody>
      </p:sp>
      <p:cxnSp>
        <p:nvCxnSpPr>
          <p:cNvPr id="40" name="Straight Connector 39">
            <a:extLst>
              <a:ext uri="{FF2B5EF4-FFF2-40B4-BE49-F238E27FC236}">
                <a16:creationId xmlns:a16="http://schemas.microsoft.com/office/drawing/2014/main" id="{6CE0D2A5-C167-FB61-F32A-674B344F2D1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92570" y="6272784"/>
            <a:ext cx="10208830" cy="0"/>
          </a:xfrm>
          <a:prstGeom prst="line">
            <a:avLst/>
          </a:prstGeom>
          <a:ln w="76200"/>
        </p:spPr>
        <p:style>
          <a:lnRef idx="1">
            <a:schemeClr val="accent1"/>
          </a:lnRef>
          <a:fillRef idx="0">
            <a:schemeClr val="accent1"/>
          </a:fillRef>
          <a:effectRef idx="0">
            <a:schemeClr val="accent1"/>
          </a:effectRef>
          <a:fontRef idx="minor">
            <a:schemeClr val="tx1"/>
          </a:fontRef>
        </p:style>
      </p:cxnSp>
      <p:grpSp>
        <p:nvGrpSpPr>
          <p:cNvPr id="14" name="Group 13">
            <a:extLst>
              <a:ext uri="{FF2B5EF4-FFF2-40B4-BE49-F238E27FC236}">
                <a16:creationId xmlns:a16="http://schemas.microsoft.com/office/drawing/2014/main" id="{1F218255-D126-80CE-E99E-6188D0EE8397}"/>
              </a:ext>
            </a:extLst>
          </p:cNvPr>
          <p:cNvGrpSpPr/>
          <p:nvPr/>
        </p:nvGrpSpPr>
        <p:grpSpPr>
          <a:xfrm>
            <a:off x="992570" y="1419379"/>
            <a:ext cx="4978176" cy="4673436"/>
            <a:chOff x="4303332" y="892229"/>
            <a:chExt cx="7216416" cy="5110012"/>
          </a:xfrm>
        </p:grpSpPr>
        <p:sp>
          <p:nvSpPr>
            <p:cNvPr id="15" name="Rectangle: Rounded Corners 14">
              <a:extLst>
                <a:ext uri="{FF2B5EF4-FFF2-40B4-BE49-F238E27FC236}">
                  <a16:creationId xmlns:a16="http://schemas.microsoft.com/office/drawing/2014/main" id="{7C5F76C2-F456-EB0A-E3BC-5523BDDBC6E4}"/>
                </a:ext>
              </a:extLst>
            </p:cNvPr>
            <p:cNvSpPr/>
            <p:nvPr/>
          </p:nvSpPr>
          <p:spPr>
            <a:xfrm>
              <a:off x="4303332" y="892229"/>
              <a:ext cx="7216416" cy="1460003"/>
            </a:xfrm>
            <a:prstGeom prst="roundRect">
              <a:avLst>
                <a:gd name="adj" fmla="val 10000"/>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en-IN" sz="2400"/>
            </a:p>
          </p:txBody>
        </p:sp>
        <p:sp>
          <p:nvSpPr>
            <p:cNvPr id="16" name="Rectangle 15" descr="Database">
              <a:extLst>
                <a:ext uri="{FF2B5EF4-FFF2-40B4-BE49-F238E27FC236}">
                  <a16:creationId xmlns:a16="http://schemas.microsoft.com/office/drawing/2014/main" id="{D5FA9E71-22B2-173B-40E1-B4EAA2F01B46}"/>
                </a:ext>
              </a:extLst>
            </p:cNvPr>
            <p:cNvSpPr/>
            <p:nvPr/>
          </p:nvSpPr>
          <p:spPr>
            <a:xfrm>
              <a:off x="4744983" y="1220730"/>
              <a:ext cx="803001" cy="803001"/>
            </a:xfrm>
            <a:prstGeom prst="rect">
              <a:avLst/>
            </a:prstGeom>
            <a: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IN" sz="2400"/>
            </a:p>
          </p:txBody>
        </p:sp>
        <p:sp>
          <p:nvSpPr>
            <p:cNvPr id="17" name="Freeform: Shape 16">
              <a:extLst>
                <a:ext uri="{FF2B5EF4-FFF2-40B4-BE49-F238E27FC236}">
                  <a16:creationId xmlns:a16="http://schemas.microsoft.com/office/drawing/2014/main" id="{D4103C60-0390-F96B-02F5-BA41EA1AAA54}"/>
                </a:ext>
              </a:extLst>
            </p:cNvPr>
            <p:cNvSpPr/>
            <p:nvPr/>
          </p:nvSpPr>
          <p:spPr>
            <a:xfrm>
              <a:off x="5989636" y="892229"/>
              <a:ext cx="5530111" cy="1460003"/>
            </a:xfrm>
            <a:custGeom>
              <a:avLst/>
              <a:gdLst>
                <a:gd name="connsiteX0" fmla="*/ 0 w 5530111"/>
                <a:gd name="connsiteY0" fmla="*/ 0 h 1460003"/>
                <a:gd name="connsiteX1" fmla="*/ 5530111 w 5530111"/>
                <a:gd name="connsiteY1" fmla="*/ 0 h 1460003"/>
                <a:gd name="connsiteX2" fmla="*/ 5530111 w 5530111"/>
                <a:gd name="connsiteY2" fmla="*/ 1460003 h 1460003"/>
                <a:gd name="connsiteX3" fmla="*/ 0 w 5530111"/>
                <a:gd name="connsiteY3" fmla="*/ 1460003 h 1460003"/>
                <a:gd name="connsiteX4" fmla="*/ 0 w 5530111"/>
                <a:gd name="connsiteY4" fmla="*/ 0 h 14600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0111" h="1460003">
                  <a:moveTo>
                    <a:pt x="0" y="0"/>
                  </a:moveTo>
                  <a:lnTo>
                    <a:pt x="5530111" y="0"/>
                  </a:lnTo>
                  <a:lnTo>
                    <a:pt x="5530111" y="1460003"/>
                  </a:lnTo>
                  <a:lnTo>
                    <a:pt x="0" y="146000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54517" tIns="154517" rIns="154517" bIns="154517" numCol="1" spcCol="1270" anchor="ctr" anchorCtr="0">
              <a:noAutofit/>
            </a:bodyPr>
            <a:lstStyle/>
            <a:p>
              <a:pPr defTabSz="625856">
                <a:spcBef>
                  <a:spcPct val="0"/>
                </a:spcBef>
                <a:spcAft>
                  <a:spcPct val="35000"/>
                </a:spcAft>
              </a:pPr>
              <a:r>
                <a:rPr lang="en-US" kern="1200" dirty="0">
                  <a:solidFill>
                    <a:schemeClr val="tx1">
                      <a:hueOff val="0"/>
                      <a:satOff val="0"/>
                      <a:lumOff val="0"/>
                      <a:alphaOff val="0"/>
                    </a:schemeClr>
                  </a:solidFill>
                  <a:latin typeface="+mn-lt"/>
                  <a:ea typeface="+mn-ea"/>
                  <a:cs typeface="+mn-cs"/>
                </a:rPr>
                <a:t>Query plans for the same SQL query can look different but still be equivalent.</a:t>
              </a:r>
              <a:endParaRPr lang="en-US" sz="3200" kern="1200" dirty="0"/>
            </a:p>
          </p:txBody>
        </p:sp>
        <p:sp>
          <p:nvSpPr>
            <p:cNvPr id="18" name="Rectangle: Rounded Corners 17">
              <a:extLst>
                <a:ext uri="{FF2B5EF4-FFF2-40B4-BE49-F238E27FC236}">
                  <a16:creationId xmlns:a16="http://schemas.microsoft.com/office/drawing/2014/main" id="{3C5ED1E5-241D-4871-8EF6-B18017311875}"/>
                </a:ext>
              </a:extLst>
            </p:cNvPr>
            <p:cNvSpPr/>
            <p:nvPr/>
          </p:nvSpPr>
          <p:spPr>
            <a:xfrm>
              <a:off x="4303332" y="2717234"/>
              <a:ext cx="7216416" cy="1460003"/>
            </a:xfrm>
            <a:prstGeom prst="roundRect">
              <a:avLst>
                <a:gd name="adj" fmla="val 10000"/>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en-IN" sz="2400"/>
            </a:p>
          </p:txBody>
        </p:sp>
        <p:sp>
          <p:nvSpPr>
            <p:cNvPr id="19" name="Rectangle 18" descr="Processor">
              <a:extLst>
                <a:ext uri="{FF2B5EF4-FFF2-40B4-BE49-F238E27FC236}">
                  <a16:creationId xmlns:a16="http://schemas.microsoft.com/office/drawing/2014/main" id="{93093BDE-C1F3-5BC8-9E0E-2490D8BDCC30}"/>
                </a:ext>
              </a:extLst>
            </p:cNvPr>
            <p:cNvSpPr/>
            <p:nvPr/>
          </p:nvSpPr>
          <p:spPr>
            <a:xfrm>
              <a:off x="4744983" y="3045735"/>
              <a:ext cx="803001" cy="803001"/>
            </a:xfrm>
            <a:prstGeom prst="rect">
              <a:avLst/>
            </a:prstGeom>
            <a: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IN" sz="2400"/>
            </a:p>
          </p:txBody>
        </p:sp>
        <p:sp>
          <p:nvSpPr>
            <p:cNvPr id="20" name="Freeform: Shape 19">
              <a:extLst>
                <a:ext uri="{FF2B5EF4-FFF2-40B4-BE49-F238E27FC236}">
                  <a16:creationId xmlns:a16="http://schemas.microsoft.com/office/drawing/2014/main" id="{E35F17D6-F8B7-7611-5A8F-9FECD501653A}"/>
                </a:ext>
              </a:extLst>
            </p:cNvPr>
            <p:cNvSpPr/>
            <p:nvPr/>
          </p:nvSpPr>
          <p:spPr>
            <a:xfrm>
              <a:off x="5989636" y="2717234"/>
              <a:ext cx="5530111" cy="1460003"/>
            </a:xfrm>
            <a:custGeom>
              <a:avLst/>
              <a:gdLst>
                <a:gd name="connsiteX0" fmla="*/ 0 w 5530111"/>
                <a:gd name="connsiteY0" fmla="*/ 0 h 1460003"/>
                <a:gd name="connsiteX1" fmla="*/ 5530111 w 5530111"/>
                <a:gd name="connsiteY1" fmla="*/ 0 h 1460003"/>
                <a:gd name="connsiteX2" fmla="*/ 5530111 w 5530111"/>
                <a:gd name="connsiteY2" fmla="*/ 1460003 h 1460003"/>
                <a:gd name="connsiteX3" fmla="*/ 0 w 5530111"/>
                <a:gd name="connsiteY3" fmla="*/ 1460003 h 1460003"/>
                <a:gd name="connsiteX4" fmla="*/ 0 w 5530111"/>
                <a:gd name="connsiteY4" fmla="*/ 0 h 14600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0111" h="1460003">
                  <a:moveTo>
                    <a:pt x="0" y="0"/>
                  </a:moveTo>
                  <a:lnTo>
                    <a:pt x="5530111" y="0"/>
                  </a:lnTo>
                  <a:lnTo>
                    <a:pt x="5530111" y="1460003"/>
                  </a:lnTo>
                  <a:lnTo>
                    <a:pt x="0" y="146000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54517" tIns="154517" rIns="154517" bIns="154517" numCol="1" spcCol="1270" anchor="ctr" anchorCtr="0">
              <a:noAutofit/>
            </a:bodyPr>
            <a:lstStyle/>
            <a:p>
              <a:pPr defTabSz="625856">
                <a:spcBef>
                  <a:spcPct val="0"/>
                </a:spcBef>
                <a:spcAft>
                  <a:spcPct val="35000"/>
                </a:spcAft>
              </a:pPr>
              <a:r>
                <a:rPr lang="en-US" kern="1200">
                  <a:solidFill>
                    <a:schemeClr val="tx1">
                      <a:hueOff val="0"/>
                      <a:satOff val="0"/>
                      <a:lumOff val="0"/>
                      <a:alphaOff val="0"/>
                    </a:schemeClr>
                  </a:solidFill>
                  <a:latin typeface="+mn-lt"/>
                  <a:ea typeface="+mn-ea"/>
                  <a:cs typeface="+mn-cs"/>
                </a:rPr>
                <a:t>Equivalence testing is important for database optimizers, correctness testing, and detecting redundant queries.</a:t>
              </a:r>
              <a:endParaRPr lang="en-US" sz="3200" kern="1200"/>
            </a:p>
          </p:txBody>
        </p:sp>
        <p:sp>
          <p:nvSpPr>
            <p:cNvPr id="21" name="Rectangle: Rounded Corners 20">
              <a:extLst>
                <a:ext uri="{FF2B5EF4-FFF2-40B4-BE49-F238E27FC236}">
                  <a16:creationId xmlns:a16="http://schemas.microsoft.com/office/drawing/2014/main" id="{55713F50-5833-A2D3-8B12-EDC517CD0728}"/>
                </a:ext>
              </a:extLst>
            </p:cNvPr>
            <p:cNvSpPr/>
            <p:nvPr/>
          </p:nvSpPr>
          <p:spPr>
            <a:xfrm>
              <a:off x="4303332" y="4542238"/>
              <a:ext cx="7216416" cy="1460003"/>
            </a:xfrm>
            <a:prstGeom prst="roundRect">
              <a:avLst>
                <a:gd name="adj" fmla="val 10000"/>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en-IN" sz="2400"/>
            </a:p>
          </p:txBody>
        </p:sp>
        <p:sp>
          <p:nvSpPr>
            <p:cNvPr id="22" name="Rectangle 21" descr="Presentation with Checklist">
              <a:extLst>
                <a:ext uri="{FF2B5EF4-FFF2-40B4-BE49-F238E27FC236}">
                  <a16:creationId xmlns:a16="http://schemas.microsoft.com/office/drawing/2014/main" id="{237E8F63-2D19-7503-F4AF-BB5CFE16A452}"/>
                </a:ext>
              </a:extLst>
            </p:cNvPr>
            <p:cNvSpPr/>
            <p:nvPr/>
          </p:nvSpPr>
          <p:spPr>
            <a:xfrm>
              <a:off x="4744983" y="4870739"/>
              <a:ext cx="803001" cy="803001"/>
            </a:xfrm>
            <a:prstGeom prst="rect">
              <a:avLst/>
            </a:prstGeom>
            <a: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IN" sz="2400"/>
            </a:p>
          </p:txBody>
        </p:sp>
        <p:sp>
          <p:nvSpPr>
            <p:cNvPr id="23" name="Freeform: Shape 22">
              <a:extLst>
                <a:ext uri="{FF2B5EF4-FFF2-40B4-BE49-F238E27FC236}">
                  <a16:creationId xmlns:a16="http://schemas.microsoft.com/office/drawing/2014/main" id="{DA2DC2D2-99B5-5150-2D25-2ED74211423A}"/>
                </a:ext>
              </a:extLst>
            </p:cNvPr>
            <p:cNvSpPr/>
            <p:nvPr/>
          </p:nvSpPr>
          <p:spPr>
            <a:xfrm>
              <a:off x="5989636" y="4542238"/>
              <a:ext cx="5530111" cy="1460003"/>
            </a:xfrm>
            <a:custGeom>
              <a:avLst/>
              <a:gdLst>
                <a:gd name="connsiteX0" fmla="*/ 0 w 5530111"/>
                <a:gd name="connsiteY0" fmla="*/ 0 h 1460003"/>
                <a:gd name="connsiteX1" fmla="*/ 5530111 w 5530111"/>
                <a:gd name="connsiteY1" fmla="*/ 0 h 1460003"/>
                <a:gd name="connsiteX2" fmla="*/ 5530111 w 5530111"/>
                <a:gd name="connsiteY2" fmla="*/ 1460003 h 1460003"/>
                <a:gd name="connsiteX3" fmla="*/ 0 w 5530111"/>
                <a:gd name="connsiteY3" fmla="*/ 1460003 h 1460003"/>
                <a:gd name="connsiteX4" fmla="*/ 0 w 5530111"/>
                <a:gd name="connsiteY4" fmla="*/ 0 h 146000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30111" h="1460003">
                  <a:moveTo>
                    <a:pt x="0" y="0"/>
                  </a:moveTo>
                  <a:lnTo>
                    <a:pt x="5530111" y="0"/>
                  </a:lnTo>
                  <a:lnTo>
                    <a:pt x="5530111" y="1460003"/>
                  </a:lnTo>
                  <a:lnTo>
                    <a:pt x="0" y="1460003"/>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54517" tIns="154517" rIns="154517" bIns="154517" numCol="1" spcCol="1270" anchor="ctr" anchorCtr="0">
              <a:noAutofit/>
            </a:bodyPr>
            <a:lstStyle/>
            <a:p>
              <a:pPr defTabSz="625856">
                <a:spcBef>
                  <a:spcPct val="0"/>
                </a:spcBef>
                <a:spcAft>
                  <a:spcPct val="35000"/>
                </a:spcAft>
              </a:pPr>
              <a:r>
                <a:rPr lang="en-US" kern="1200">
                  <a:solidFill>
                    <a:schemeClr val="tx1">
                      <a:hueOff val="0"/>
                      <a:satOff val="0"/>
                      <a:lumOff val="0"/>
                      <a:alphaOff val="0"/>
                    </a:schemeClr>
                  </a:solidFill>
                  <a:latin typeface="+mn-lt"/>
                  <a:ea typeface="+mn-ea"/>
                  <a:cs typeface="+mn-cs"/>
                </a:rPr>
                <a:t>Existing tools (like PostgreSQL’s planner) can’t easily verify plan equivalence — hence this research.</a:t>
              </a:r>
              <a:endParaRPr lang="en-US" sz="3200" kern="1200"/>
            </a:p>
          </p:txBody>
        </p:sp>
      </p:grpSp>
      <p:grpSp>
        <p:nvGrpSpPr>
          <p:cNvPr id="25" name="Group 24">
            <a:extLst>
              <a:ext uri="{FF2B5EF4-FFF2-40B4-BE49-F238E27FC236}">
                <a16:creationId xmlns:a16="http://schemas.microsoft.com/office/drawing/2014/main" id="{F2040B56-FDCF-2821-7585-2F7022C1AEAC}"/>
              </a:ext>
            </a:extLst>
          </p:cNvPr>
          <p:cNvGrpSpPr/>
          <p:nvPr/>
        </p:nvGrpSpPr>
        <p:grpSpPr>
          <a:xfrm>
            <a:off x="6182500" y="1419379"/>
            <a:ext cx="4978176" cy="4673435"/>
            <a:chOff x="640929" y="2559050"/>
            <a:chExt cx="10889228" cy="3738863"/>
          </a:xfrm>
        </p:grpSpPr>
        <p:sp>
          <p:nvSpPr>
            <p:cNvPr id="26" name="Freeform: Shape 25">
              <a:extLst>
                <a:ext uri="{FF2B5EF4-FFF2-40B4-BE49-F238E27FC236}">
                  <a16:creationId xmlns:a16="http://schemas.microsoft.com/office/drawing/2014/main" id="{02125CFA-6DEC-427B-8BB1-207498AD5220}"/>
                </a:ext>
              </a:extLst>
            </p:cNvPr>
            <p:cNvSpPr/>
            <p:nvPr/>
          </p:nvSpPr>
          <p:spPr>
            <a:xfrm>
              <a:off x="640929" y="2559050"/>
              <a:ext cx="3445958" cy="3738863"/>
            </a:xfrm>
            <a:custGeom>
              <a:avLst/>
              <a:gdLst>
                <a:gd name="connsiteX0" fmla="*/ 0 w 3445958"/>
                <a:gd name="connsiteY0" fmla="*/ 0 h 3738863"/>
                <a:gd name="connsiteX1" fmla="*/ 3445958 w 3445958"/>
                <a:gd name="connsiteY1" fmla="*/ 0 h 3738863"/>
                <a:gd name="connsiteX2" fmla="*/ 3445958 w 3445958"/>
                <a:gd name="connsiteY2" fmla="*/ 3738863 h 3738863"/>
                <a:gd name="connsiteX3" fmla="*/ 0 w 3445958"/>
                <a:gd name="connsiteY3" fmla="*/ 3738863 h 3738863"/>
                <a:gd name="connsiteX4" fmla="*/ 0 w 3445958"/>
                <a:gd name="connsiteY4" fmla="*/ 0 h 37388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5958" h="3738863">
                  <a:moveTo>
                    <a:pt x="0" y="0"/>
                  </a:moveTo>
                  <a:lnTo>
                    <a:pt x="3445958" y="0"/>
                  </a:lnTo>
                  <a:lnTo>
                    <a:pt x="3445958" y="3738863"/>
                  </a:lnTo>
                  <a:lnTo>
                    <a:pt x="0" y="3738863"/>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340384" tIns="1495545" rIns="340384" bIns="330201" numCol="1" spcCol="1270" anchor="t" anchorCtr="0">
              <a:noAutofit/>
            </a:bodyPr>
            <a:lstStyle/>
            <a:p>
              <a:pPr defTabSz="654304">
                <a:lnSpc>
                  <a:spcPct val="90000"/>
                </a:lnSpc>
                <a:spcBef>
                  <a:spcPct val="0"/>
                </a:spcBef>
                <a:spcAft>
                  <a:spcPct val="35000"/>
                </a:spcAft>
              </a:pPr>
              <a:r>
                <a:rPr lang="en-US" sz="2000" kern="1200" dirty="0">
                  <a:solidFill>
                    <a:schemeClr val="lt1"/>
                  </a:solidFill>
                  <a:latin typeface="+mn-lt"/>
                  <a:ea typeface="+mn-ea"/>
                  <a:cs typeface="+mn-cs"/>
                </a:rPr>
                <a:t>Using LLMs to check if two query plans are equal</a:t>
              </a:r>
              <a:endParaRPr lang="en-US" sz="4400" kern="1200" dirty="0"/>
            </a:p>
          </p:txBody>
        </p:sp>
        <p:sp>
          <p:nvSpPr>
            <p:cNvPr id="27" name="Freeform: Shape 26">
              <a:extLst>
                <a:ext uri="{FF2B5EF4-FFF2-40B4-BE49-F238E27FC236}">
                  <a16:creationId xmlns:a16="http://schemas.microsoft.com/office/drawing/2014/main" id="{644BD23B-19C0-F64B-1C4C-732BE9CA36E8}"/>
                </a:ext>
              </a:extLst>
            </p:cNvPr>
            <p:cNvSpPr/>
            <p:nvPr/>
          </p:nvSpPr>
          <p:spPr>
            <a:xfrm>
              <a:off x="640929" y="2559050"/>
              <a:ext cx="3445958" cy="1495545"/>
            </a:xfrm>
            <a:custGeom>
              <a:avLst/>
              <a:gdLst>
                <a:gd name="connsiteX0" fmla="*/ 0 w 3445958"/>
                <a:gd name="connsiteY0" fmla="*/ 0 h 1495545"/>
                <a:gd name="connsiteX1" fmla="*/ 3445958 w 3445958"/>
                <a:gd name="connsiteY1" fmla="*/ 0 h 1495545"/>
                <a:gd name="connsiteX2" fmla="*/ 3445958 w 3445958"/>
                <a:gd name="connsiteY2" fmla="*/ 1495545 h 1495545"/>
                <a:gd name="connsiteX3" fmla="*/ 0 w 3445958"/>
                <a:gd name="connsiteY3" fmla="*/ 1495545 h 1495545"/>
                <a:gd name="connsiteX4" fmla="*/ 0 w 3445958"/>
                <a:gd name="connsiteY4" fmla="*/ 0 h 14955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5958" h="1495545">
                  <a:moveTo>
                    <a:pt x="0" y="0"/>
                  </a:moveTo>
                  <a:lnTo>
                    <a:pt x="3445958" y="0"/>
                  </a:lnTo>
                  <a:lnTo>
                    <a:pt x="3445958" y="1495545"/>
                  </a:lnTo>
                  <a:lnTo>
                    <a:pt x="0" y="1495545"/>
                  </a:lnTo>
                  <a:lnTo>
                    <a:pt x="0" y="0"/>
                  </a:lnTo>
                  <a:close/>
                </a:path>
              </a:pathLst>
            </a:custGeom>
            <a:noFill/>
            <a:ln>
              <a:noFill/>
            </a:ln>
            <a:sp3d/>
          </p:spPr>
          <p:style>
            <a:lnRef idx="2">
              <a:scrgbClr r="0" g="0" b="0"/>
            </a:lnRef>
            <a:fillRef idx="1">
              <a:scrgbClr r="0" g="0" b="0"/>
            </a:fillRef>
            <a:effectRef idx="0">
              <a:schemeClr val="accent2">
                <a:hueOff val="0"/>
                <a:satOff val="0"/>
                <a:lumOff val="0"/>
                <a:alphaOff val="0"/>
              </a:schemeClr>
            </a:effectRef>
            <a:fontRef idx="minor">
              <a:schemeClr val="lt1"/>
            </a:fontRef>
          </p:style>
          <p:txBody>
            <a:bodyPr spcFirstLastPara="0" vert="horz" wrap="square" lIns="340384" tIns="165100" rIns="340384" bIns="165100" numCol="1" spcCol="1270" anchor="ctr" anchorCtr="0">
              <a:noAutofit/>
            </a:bodyPr>
            <a:lstStyle/>
            <a:p>
              <a:pPr defTabSz="1877568">
                <a:lnSpc>
                  <a:spcPct val="90000"/>
                </a:lnSpc>
                <a:spcBef>
                  <a:spcPct val="0"/>
                </a:spcBef>
                <a:spcAft>
                  <a:spcPct val="35000"/>
                </a:spcAft>
              </a:pPr>
              <a:r>
                <a:rPr lang="en-US" sz="4400" kern="1200">
                  <a:solidFill>
                    <a:schemeClr val="lt1"/>
                  </a:solidFill>
                  <a:latin typeface="+mn-lt"/>
                  <a:ea typeface="+mn-ea"/>
                  <a:cs typeface="+mn-cs"/>
                </a:rPr>
                <a:t>01</a:t>
              </a:r>
              <a:endParaRPr lang="en-US" sz="6600" kern="1200"/>
            </a:p>
          </p:txBody>
        </p:sp>
        <p:sp>
          <p:nvSpPr>
            <p:cNvPr id="28" name="Freeform: Shape 27">
              <a:extLst>
                <a:ext uri="{FF2B5EF4-FFF2-40B4-BE49-F238E27FC236}">
                  <a16:creationId xmlns:a16="http://schemas.microsoft.com/office/drawing/2014/main" id="{D13B0FB7-1917-A548-AC1E-ED232D43E6DB}"/>
                </a:ext>
              </a:extLst>
            </p:cNvPr>
            <p:cNvSpPr/>
            <p:nvPr/>
          </p:nvSpPr>
          <p:spPr>
            <a:xfrm>
              <a:off x="4362564" y="2559050"/>
              <a:ext cx="3445958" cy="3738863"/>
            </a:xfrm>
            <a:custGeom>
              <a:avLst/>
              <a:gdLst>
                <a:gd name="connsiteX0" fmla="*/ 0 w 3445958"/>
                <a:gd name="connsiteY0" fmla="*/ 0 h 3738863"/>
                <a:gd name="connsiteX1" fmla="*/ 3445958 w 3445958"/>
                <a:gd name="connsiteY1" fmla="*/ 0 h 3738863"/>
                <a:gd name="connsiteX2" fmla="*/ 3445958 w 3445958"/>
                <a:gd name="connsiteY2" fmla="*/ 3738863 h 3738863"/>
                <a:gd name="connsiteX3" fmla="*/ 0 w 3445958"/>
                <a:gd name="connsiteY3" fmla="*/ 3738863 h 3738863"/>
                <a:gd name="connsiteX4" fmla="*/ 0 w 3445958"/>
                <a:gd name="connsiteY4" fmla="*/ 0 h 37388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5958" h="3738863">
                  <a:moveTo>
                    <a:pt x="0" y="0"/>
                  </a:moveTo>
                  <a:lnTo>
                    <a:pt x="3445958" y="0"/>
                  </a:lnTo>
                  <a:lnTo>
                    <a:pt x="3445958" y="3738863"/>
                  </a:lnTo>
                  <a:lnTo>
                    <a:pt x="0" y="3738863"/>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340384" tIns="1495545" rIns="340384" bIns="330201" numCol="1" spcCol="1270" anchor="t" anchorCtr="0">
              <a:noAutofit/>
            </a:bodyPr>
            <a:lstStyle/>
            <a:p>
              <a:pPr defTabSz="654304">
                <a:lnSpc>
                  <a:spcPct val="90000"/>
                </a:lnSpc>
                <a:spcBef>
                  <a:spcPct val="0"/>
                </a:spcBef>
                <a:spcAft>
                  <a:spcPct val="35000"/>
                </a:spcAft>
              </a:pPr>
              <a:r>
                <a:rPr lang="en-US" sz="1600" kern="1200" dirty="0">
                  <a:solidFill>
                    <a:schemeClr val="lt1"/>
                  </a:solidFill>
                  <a:latin typeface="+mn-lt"/>
                  <a:ea typeface="+mn-ea"/>
                  <a:cs typeface="+mn-cs"/>
                </a:rPr>
                <a:t>If the plans are equal, what are the transformations required to map from Plan A to Plan B?</a:t>
              </a:r>
              <a:endParaRPr lang="en-US" sz="3600" kern="1200" dirty="0"/>
            </a:p>
          </p:txBody>
        </p:sp>
        <p:sp>
          <p:nvSpPr>
            <p:cNvPr id="29" name="Freeform: Shape 28">
              <a:extLst>
                <a:ext uri="{FF2B5EF4-FFF2-40B4-BE49-F238E27FC236}">
                  <a16:creationId xmlns:a16="http://schemas.microsoft.com/office/drawing/2014/main" id="{9575D309-0637-5A0D-92CE-1B89671843B9}"/>
                </a:ext>
              </a:extLst>
            </p:cNvPr>
            <p:cNvSpPr/>
            <p:nvPr/>
          </p:nvSpPr>
          <p:spPr>
            <a:xfrm>
              <a:off x="4362564" y="2559050"/>
              <a:ext cx="3445958" cy="1495545"/>
            </a:xfrm>
            <a:custGeom>
              <a:avLst/>
              <a:gdLst>
                <a:gd name="connsiteX0" fmla="*/ 0 w 3445958"/>
                <a:gd name="connsiteY0" fmla="*/ 0 h 1495545"/>
                <a:gd name="connsiteX1" fmla="*/ 3445958 w 3445958"/>
                <a:gd name="connsiteY1" fmla="*/ 0 h 1495545"/>
                <a:gd name="connsiteX2" fmla="*/ 3445958 w 3445958"/>
                <a:gd name="connsiteY2" fmla="*/ 1495545 h 1495545"/>
                <a:gd name="connsiteX3" fmla="*/ 0 w 3445958"/>
                <a:gd name="connsiteY3" fmla="*/ 1495545 h 1495545"/>
                <a:gd name="connsiteX4" fmla="*/ 0 w 3445958"/>
                <a:gd name="connsiteY4" fmla="*/ 0 h 14955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5958" h="1495545">
                  <a:moveTo>
                    <a:pt x="0" y="0"/>
                  </a:moveTo>
                  <a:lnTo>
                    <a:pt x="3445958" y="0"/>
                  </a:lnTo>
                  <a:lnTo>
                    <a:pt x="3445958" y="1495545"/>
                  </a:lnTo>
                  <a:lnTo>
                    <a:pt x="0" y="1495545"/>
                  </a:lnTo>
                  <a:lnTo>
                    <a:pt x="0" y="0"/>
                  </a:lnTo>
                  <a:close/>
                </a:path>
              </a:pathLst>
            </a:custGeom>
            <a:noFill/>
            <a:ln>
              <a:noFill/>
            </a:ln>
            <a:sp3d/>
          </p:spPr>
          <p:style>
            <a:lnRef idx="2">
              <a:scrgbClr r="0" g="0" b="0"/>
            </a:lnRef>
            <a:fillRef idx="1">
              <a:scrgbClr r="0" g="0" b="0"/>
            </a:fillRef>
            <a:effectRef idx="0">
              <a:schemeClr val="accent3">
                <a:hueOff val="0"/>
                <a:satOff val="0"/>
                <a:lumOff val="0"/>
                <a:alphaOff val="0"/>
              </a:schemeClr>
            </a:effectRef>
            <a:fontRef idx="minor">
              <a:schemeClr val="lt1"/>
            </a:fontRef>
          </p:style>
          <p:txBody>
            <a:bodyPr spcFirstLastPara="0" vert="horz" wrap="square" lIns="340384" tIns="165100" rIns="340384" bIns="165100" numCol="1" spcCol="1270" anchor="ctr" anchorCtr="0">
              <a:noAutofit/>
            </a:bodyPr>
            <a:lstStyle/>
            <a:p>
              <a:pPr defTabSz="1877568">
                <a:lnSpc>
                  <a:spcPct val="90000"/>
                </a:lnSpc>
                <a:spcBef>
                  <a:spcPct val="0"/>
                </a:spcBef>
                <a:spcAft>
                  <a:spcPct val="35000"/>
                </a:spcAft>
              </a:pPr>
              <a:r>
                <a:rPr lang="en-US" sz="4400" kern="1200">
                  <a:solidFill>
                    <a:schemeClr val="lt1"/>
                  </a:solidFill>
                  <a:latin typeface="+mn-lt"/>
                  <a:ea typeface="+mn-ea"/>
                  <a:cs typeface="+mn-cs"/>
                </a:rPr>
                <a:t>02</a:t>
              </a:r>
              <a:endParaRPr lang="en-US" sz="6600" kern="1200"/>
            </a:p>
          </p:txBody>
        </p:sp>
        <p:sp>
          <p:nvSpPr>
            <p:cNvPr id="30" name="Freeform: Shape 29">
              <a:extLst>
                <a:ext uri="{FF2B5EF4-FFF2-40B4-BE49-F238E27FC236}">
                  <a16:creationId xmlns:a16="http://schemas.microsoft.com/office/drawing/2014/main" id="{E195CA85-DF93-46A3-EB21-9A768D10610F}"/>
                </a:ext>
              </a:extLst>
            </p:cNvPr>
            <p:cNvSpPr/>
            <p:nvPr/>
          </p:nvSpPr>
          <p:spPr>
            <a:xfrm>
              <a:off x="8084199" y="2559050"/>
              <a:ext cx="3445958" cy="3738863"/>
            </a:xfrm>
            <a:custGeom>
              <a:avLst/>
              <a:gdLst>
                <a:gd name="connsiteX0" fmla="*/ 0 w 3445958"/>
                <a:gd name="connsiteY0" fmla="*/ 0 h 3738863"/>
                <a:gd name="connsiteX1" fmla="*/ 3445958 w 3445958"/>
                <a:gd name="connsiteY1" fmla="*/ 0 h 3738863"/>
                <a:gd name="connsiteX2" fmla="*/ 3445958 w 3445958"/>
                <a:gd name="connsiteY2" fmla="*/ 3738863 h 3738863"/>
                <a:gd name="connsiteX3" fmla="*/ 0 w 3445958"/>
                <a:gd name="connsiteY3" fmla="*/ 3738863 h 3738863"/>
                <a:gd name="connsiteX4" fmla="*/ 0 w 3445958"/>
                <a:gd name="connsiteY4" fmla="*/ 0 h 37388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5958" h="3738863">
                  <a:moveTo>
                    <a:pt x="0" y="0"/>
                  </a:moveTo>
                  <a:lnTo>
                    <a:pt x="3445958" y="0"/>
                  </a:lnTo>
                  <a:lnTo>
                    <a:pt x="3445958" y="3738863"/>
                  </a:lnTo>
                  <a:lnTo>
                    <a:pt x="0" y="3738863"/>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340384" tIns="1495545" rIns="340384" bIns="330201" numCol="1" spcCol="1270" anchor="t" anchorCtr="0">
              <a:noAutofit/>
            </a:bodyPr>
            <a:lstStyle/>
            <a:p>
              <a:pPr defTabSz="654304">
                <a:lnSpc>
                  <a:spcPct val="90000"/>
                </a:lnSpc>
                <a:spcBef>
                  <a:spcPct val="0"/>
                </a:spcBef>
                <a:spcAft>
                  <a:spcPct val="35000"/>
                </a:spcAft>
              </a:pPr>
              <a:r>
                <a:rPr lang="en-IN" sz="2000" kern="1200" dirty="0">
                  <a:solidFill>
                    <a:schemeClr val="lt1"/>
                  </a:solidFill>
                  <a:latin typeface="+mn-lt"/>
                  <a:ea typeface="+mn-ea"/>
                  <a:cs typeface="+mn-cs"/>
                </a:rPr>
                <a:t>Using Apache Calcite to check the LLM’s response</a:t>
              </a:r>
              <a:endParaRPr lang="en-US" sz="4400" kern="1200" dirty="0"/>
            </a:p>
          </p:txBody>
        </p:sp>
        <p:sp>
          <p:nvSpPr>
            <p:cNvPr id="31" name="Freeform: Shape 30">
              <a:extLst>
                <a:ext uri="{FF2B5EF4-FFF2-40B4-BE49-F238E27FC236}">
                  <a16:creationId xmlns:a16="http://schemas.microsoft.com/office/drawing/2014/main" id="{470C03DC-1CD3-2EB5-C162-D779C53F13C8}"/>
                </a:ext>
              </a:extLst>
            </p:cNvPr>
            <p:cNvSpPr/>
            <p:nvPr/>
          </p:nvSpPr>
          <p:spPr>
            <a:xfrm>
              <a:off x="8084199" y="2559050"/>
              <a:ext cx="3445958" cy="1495545"/>
            </a:xfrm>
            <a:custGeom>
              <a:avLst/>
              <a:gdLst>
                <a:gd name="connsiteX0" fmla="*/ 0 w 3445958"/>
                <a:gd name="connsiteY0" fmla="*/ 0 h 1495545"/>
                <a:gd name="connsiteX1" fmla="*/ 3445958 w 3445958"/>
                <a:gd name="connsiteY1" fmla="*/ 0 h 1495545"/>
                <a:gd name="connsiteX2" fmla="*/ 3445958 w 3445958"/>
                <a:gd name="connsiteY2" fmla="*/ 1495545 h 1495545"/>
                <a:gd name="connsiteX3" fmla="*/ 0 w 3445958"/>
                <a:gd name="connsiteY3" fmla="*/ 1495545 h 1495545"/>
                <a:gd name="connsiteX4" fmla="*/ 0 w 3445958"/>
                <a:gd name="connsiteY4" fmla="*/ 0 h 149554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45958" h="1495545">
                  <a:moveTo>
                    <a:pt x="0" y="0"/>
                  </a:moveTo>
                  <a:lnTo>
                    <a:pt x="3445958" y="0"/>
                  </a:lnTo>
                  <a:lnTo>
                    <a:pt x="3445958" y="1495545"/>
                  </a:lnTo>
                  <a:lnTo>
                    <a:pt x="0" y="1495545"/>
                  </a:lnTo>
                  <a:lnTo>
                    <a:pt x="0" y="0"/>
                  </a:lnTo>
                  <a:close/>
                </a:path>
              </a:pathLst>
            </a:custGeom>
            <a:noFill/>
            <a:ln>
              <a:noFill/>
            </a:ln>
            <a:sp3d/>
          </p:spPr>
          <p:style>
            <a:lnRef idx="2">
              <a:scrgbClr r="0" g="0" b="0"/>
            </a:lnRef>
            <a:fillRef idx="1">
              <a:scrgbClr r="0" g="0" b="0"/>
            </a:fillRef>
            <a:effectRef idx="0">
              <a:schemeClr val="accent4">
                <a:hueOff val="0"/>
                <a:satOff val="0"/>
                <a:lumOff val="0"/>
                <a:alphaOff val="0"/>
              </a:schemeClr>
            </a:effectRef>
            <a:fontRef idx="minor">
              <a:schemeClr val="lt1"/>
            </a:fontRef>
          </p:style>
          <p:txBody>
            <a:bodyPr spcFirstLastPara="0" vert="horz" wrap="square" lIns="340384" tIns="165100" rIns="340384" bIns="165100" numCol="1" spcCol="1270" anchor="ctr" anchorCtr="0">
              <a:noAutofit/>
            </a:bodyPr>
            <a:lstStyle/>
            <a:p>
              <a:pPr defTabSz="1877568">
                <a:lnSpc>
                  <a:spcPct val="90000"/>
                </a:lnSpc>
                <a:spcBef>
                  <a:spcPct val="0"/>
                </a:spcBef>
                <a:spcAft>
                  <a:spcPct val="35000"/>
                </a:spcAft>
              </a:pPr>
              <a:r>
                <a:rPr lang="en-US" sz="4400" kern="1200">
                  <a:solidFill>
                    <a:schemeClr val="lt1"/>
                  </a:solidFill>
                  <a:latin typeface="+mn-lt"/>
                  <a:ea typeface="+mn-ea"/>
                  <a:cs typeface="+mn-cs"/>
                </a:rPr>
                <a:t>03</a:t>
              </a:r>
              <a:endParaRPr lang="en-US" sz="6600" kern="1200"/>
            </a:p>
          </p:txBody>
        </p:sp>
      </p:grpSp>
    </p:spTree>
    <p:extLst>
      <p:ext uri="{BB962C8B-B14F-4D97-AF65-F5344CB8AC3E}">
        <p14:creationId xmlns:p14="http://schemas.microsoft.com/office/powerpoint/2010/main" val="36455497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64A43-2A0F-E441-BED7-4A3EA7944EDB}"/>
              </a:ext>
            </a:extLst>
          </p:cNvPr>
          <p:cNvSpPr>
            <a:spLocks noGrp="1"/>
          </p:cNvSpPr>
          <p:nvPr>
            <p:ph type="title"/>
          </p:nvPr>
        </p:nvSpPr>
        <p:spPr>
          <a:xfrm>
            <a:off x="1692095" y="235975"/>
            <a:ext cx="4185751" cy="844964"/>
          </a:xfrm>
        </p:spPr>
        <p:txBody>
          <a:bodyPr anchor="t">
            <a:normAutofit/>
          </a:bodyPr>
          <a:lstStyle/>
          <a:p>
            <a:r>
              <a:rPr lang="en-US" sz="3700" dirty="0"/>
              <a:t>PostgreSQL</a:t>
            </a:r>
            <a:endParaRPr lang="en-IN" sz="3700" dirty="0"/>
          </a:p>
        </p:txBody>
      </p:sp>
      <p:pic>
        <p:nvPicPr>
          <p:cNvPr id="2050" name="Picture 2" descr="Intro to PostgreSQL. Create and Query Postgres Database | by Lauren  Cunningham | CodeX | Medium">
            <a:extLst>
              <a:ext uri="{FF2B5EF4-FFF2-40B4-BE49-F238E27FC236}">
                <a16:creationId xmlns:a16="http://schemas.microsoft.com/office/drawing/2014/main" id="{13001CFF-F7D0-9DF8-72B9-89BAD36E8A3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11275" r="66162" b="8248"/>
          <a:stretch>
            <a:fillRect/>
          </a:stretch>
        </p:blipFill>
        <p:spPr bwMode="auto">
          <a:xfrm>
            <a:off x="857908" y="68779"/>
            <a:ext cx="755659" cy="84496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5" name="Content Placeholder 2">
            <a:extLst>
              <a:ext uri="{FF2B5EF4-FFF2-40B4-BE49-F238E27FC236}">
                <a16:creationId xmlns:a16="http://schemas.microsoft.com/office/drawing/2014/main" id="{69E69138-E433-0D39-FFBA-25EF3FA5DF07}"/>
              </a:ext>
            </a:extLst>
          </p:cNvPr>
          <p:cNvGraphicFramePr>
            <a:graphicFrameLocks noGrp="1"/>
          </p:cNvGraphicFramePr>
          <p:nvPr>
            <p:ph idx="1"/>
            <p:extLst>
              <p:ext uri="{D42A27DB-BD31-4B8C-83A1-F6EECF244321}">
                <p14:modId xmlns:p14="http://schemas.microsoft.com/office/powerpoint/2010/main" val="1925390735"/>
              </p:ext>
            </p:extLst>
          </p:nvPr>
        </p:nvGraphicFramePr>
        <p:xfrm>
          <a:off x="5877846" y="66854"/>
          <a:ext cx="6096861" cy="22928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Title 1">
            <a:extLst>
              <a:ext uri="{FF2B5EF4-FFF2-40B4-BE49-F238E27FC236}">
                <a16:creationId xmlns:a16="http://schemas.microsoft.com/office/drawing/2014/main" id="{6D4648E5-E067-6DF6-C4BE-37200D24A4F9}"/>
              </a:ext>
            </a:extLst>
          </p:cNvPr>
          <p:cNvSpPr txBox="1">
            <a:spLocks/>
          </p:cNvSpPr>
          <p:nvPr/>
        </p:nvSpPr>
        <p:spPr>
          <a:xfrm>
            <a:off x="454099" y="2186819"/>
            <a:ext cx="10847494" cy="844964"/>
          </a:xfrm>
          <a:prstGeom prst="rect">
            <a:avLst/>
          </a:prstGeom>
        </p:spPr>
        <p:txBody>
          <a:bodyPr vert="horz" lIns="91440" tIns="45720" rIns="91440" bIns="45720" rtlCol="0" anchor="t">
            <a:normAutofit/>
          </a:bodyPr>
          <a:lstStyle>
            <a:defPPr>
              <a:defRPr lang="en-US"/>
            </a:defPPr>
            <a:lvl1pPr marL="0" algn="l" defTabSz="914400" rtl="0" eaLnBrk="1" latinLnBrk="0" hangingPunct="1">
              <a:lnSpc>
                <a:spcPct val="100000"/>
              </a:lnSpc>
              <a:spcBef>
                <a:spcPct val="0"/>
              </a:spcBef>
              <a:buNone/>
              <a:defRPr sz="4000" b="1" kern="1200">
                <a:solidFill>
                  <a:schemeClr val="tx1"/>
                </a:solidFill>
                <a:latin typeface="+mj-lt"/>
                <a:ea typeface="+mj-ea"/>
                <a:cs typeface="+mj-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600"/>
              </a:spcAft>
            </a:pPr>
            <a:r>
              <a:rPr lang="en-US" dirty="0"/>
              <a:t>Apache Calcite</a:t>
            </a:r>
          </a:p>
        </p:txBody>
      </p:sp>
      <p:pic>
        <p:nvPicPr>
          <p:cNvPr id="5" name="Picture 4" descr="Apache calcite : How to produced physical(Optimised) tree ...">
            <a:extLst>
              <a:ext uri="{FF2B5EF4-FFF2-40B4-BE49-F238E27FC236}">
                <a16:creationId xmlns:a16="http://schemas.microsoft.com/office/drawing/2014/main" id="{6B7F9AB3-0B46-0CC9-BEDE-A91C5AD2A941}"/>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r="82467"/>
          <a:stretch>
            <a:fillRect/>
          </a:stretch>
        </p:blipFill>
        <p:spPr bwMode="auto">
          <a:xfrm>
            <a:off x="527228" y="3077227"/>
            <a:ext cx="769598" cy="1042489"/>
          </a:xfrm>
          <a:prstGeom prst="rect">
            <a:avLst/>
          </a:prstGeom>
          <a:noFill/>
          <a:extLst>
            <a:ext uri="{909E8E84-426E-40DD-AFC4-6F175D3DCCD1}">
              <a14:hiddenFill xmlns:a14="http://schemas.microsoft.com/office/drawing/2010/main">
                <a:solidFill>
                  <a:srgbClr val="FFFFFF"/>
                </a:solidFill>
              </a14:hiddenFill>
            </a:ext>
          </a:extLst>
        </p:spPr>
      </p:pic>
      <p:sp>
        <p:nvSpPr>
          <p:cNvPr id="6" name="Content Placeholder 2">
            <a:extLst>
              <a:ext uri="{FF2B5EF4-FFF2-40B4-BE49-F238E27FC236}">
                <a16:creationId xmlns:a16="http://schemas.microsoft.com/office/drawing/2014/main" id="{A5682E46-4721-AA94-006C-5776E918540A}"/>
              </a:ext>
            </a:extLst>
          </p:cNvPr>
          <p:cNvSpPr txBox="1">
            <a:spLocks/>
          </p:cNvSpPr>
          <p:nvPr/>
        </p:nvSpPr>
        <p:spPr>
          <a:xfrm>
            <a:off x="1692095" y="3031783"/>
            <a:ext cx="10499905" cy="3429744"/>
          </a:xfrm>
          <a:prstGeom prst="rect">
            <a:avLst/>
          </a:prstGeom>
        </p:spPr>
        <p:txBody>
          <a:bodyPr vert="horz" lIns="91440" tIns="45720" rIns="91440" bIns="45720" rtlCol="0" anchor="t">
            <a:noAutofit/>
          </a:bodyPr>
          <a:lstStyle>
            <a:defPPr>
              <a:defRPr lang="en-US"/>
            </a:defPPr>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10000"/>
              </a:lnSpc>
            </a:pPr>
            <a:r>
              <a:rPr lang="en-US" dirty="0"/>
              <a:t>Apache Calcite is an open-source framework for building databases and data management systems. It includes a SQL parser, an API for building expressions in relational algebra, and a query planning engine.</a:t>
            </a:r>
          </a:p>
          <a:p>
            <a:pPr>
              <a:lnSpc>
                <a:spcPct val="110000"/>
              </a:lnSpc>
            </a:pPr>
            <a:r>
              <a:rPr lang="en-US" dirty="0"/>
              <a:t>We use Apache Calcite to check the LLM’s answers</a:t>
            </a:r>
          </a:p>
          <a:p>
            <a:pPr>
              <a:lnSpc>
                <a:spcPct val="110000"/>
              </a:lnSpc>
            </a:pPr>
            <a:r>
              <a:rPr lang="en-US" dirty="0"/>
              <a:t>We can now compare two query plans with/without any transformations.</a:t>
            </a:r>
          </a:p>
          <a:p>
            <a:pPr>
              <a:lnSpc>
                <a:spcPct val="110000"/>
              </a:lnSpc>
            </a:pPr>
            <a:r>
              <a:rPr lang="en-US" dirty="0"/>
              <a:t>However, Calcite tends to be quite unstable. Several transformations and functions cause the program to crash (due to a </a:t>
            </a:r>
            <a:r>
              <a:rPr lang="en-US" dirty="0" err="1">
                <a:latin typeface="Courier New" panose="02070309020205020404" pitchFamily="49" charset="0"/>
                <a:cs typeface="Courier New" panose="02070309020205020404" pitchFamily="49" charset="0"/>
              </a:rPr>
              <a:t>RuntimeException</a:t>
            </a:r>
            <a:r>
              <a:rPr lang="en-US" dirty="0"/>
              <a:t> or stack overflow)</a:t>
            </a:r>
          </a:p>
        </p:txBody>
      </p:sp>
    </p:spTree>
    <p:extLst>
      <p:ext uri="{BB962C8B-B14F-4D97-AF65-F5344CB8AC3E}">
        <p14:creationId xmlns:p14="http://schemas.microsoft.com/office/powerpoint/2010/main" val="10551591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050"/>
                                        </p:tgtEl>
                                        <p:attrNameLst>
                                          <p:attrName>style.visibility</p:attrName>
                                        </p:attrNameLst>
                                      </p:cBhvr>
                                      <p:to>
                                        <p:strVal val="visible"/>
                                      </p:to>
                                    </p:set>
                                    <p:anim calcmode="lin" valueType="num">
                                      <p:cBhvr additive="base">
                                        <p:cTn id="7" dur="500" fill="hold"/>
                                        <p:tgtEl>
                                          <p:spTgt spid="2050"/>
                                        </p:tgtEl>
                                        <p:attrNameLst>
                                          <p:attrName>ppt_x</p:attrName>
                                        </p:attrNameLst>
                                      </p:cBhvr>
                                      <p:tavLst>
                                        <p:tav tm="0">
                                          <p:val>
                                            <p:strVal val="#ppt_x"/>
                                          </p:val>
                                        </p:tav>
                                        <p:tav tm="100000">
                                          <p:val>
                                            <p:strVal val="#ppt_x"/>
                                          </p:val>
                                        </p:tav>
                                      </p:tavLst>
                                    </p:anim>
                                    <p:anim calcmode="lin" valueType="num">
                                      <p:cBhvr additive="base">
                                        <p:cTn id="8" dur="500" fill="hold"/>
                                        <p:tgtEl>
                                          <p:spTgt spid="2050"/>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anim calcmode="lin" valueType="num">
                                      <p:cBhvr additive="base">
                                        <p:cTn id="11" dur="500" fill="hold"/>
                                        <p:tgtEl>
                                          <p:spTgt spid="2"/>
                                        </p:tgtEl>
                                        <p:attrNameLst>
                                          <p:attrName>ppt_x</p:attrName>
                                        </p:attrNameLst>
                                      </p:cBhvr>
                                      <p:tavLst>
                                        <p:tav tm="0">
                                          <p:val>
                                            <p:strVal val="#ppt_x"/>
                                          </p:val>
                                        </p:tav>
                                        <p:tav tm="100000">
                                          <p:val>
                                            <p:strVal val="#ppt_x"/>
                                          </p:val>
                                        </p:tav>
                                      </p:tavLst>
                                    </p:anim>
                                    <p:anim calcmode="lin" valueType="num">
                                      <p:cBhvr additive="base">
                                        <p:cTn id="12"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42" presetClass="entr" presetSubtype="0" fill="hold" grpId="0"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4"/>
                                        </p:tgtEl>
                                        <p:attrNameLst>
                                          <p:attrName>style.visibility</p:attrName>
                                        </p:attrNameLst>
                                      </p:cBhvr>
                                      <p:to>
                                        <p:strVal val="visible"/>
                                      </p:to>
                                    </p:set>
                                    <p:anim calcmode="lin" valueType="num">
                                      <p:cBhvr additive="base">
                                        <p:cTn id="24" dur="500" fill="hold"/>
                                        <p:tgtEl>
                                          <p:spTgt spid="4"/>
                                        </p:tgtEl>
                                        <p:attrNameLst>
                                          <p:attrName>ppt_x</p:attrName>
                                        </p:attrNameLst>
                                      </p:cBhvr>
                                      <p:tavLst>
                                        <p:tav tm="0">
                                          <p:val>
                                            <p:strVal val="#ppt_x"/>
                                          </p:val>
                                        </p:tav>
                                        <p:tav tm="100000">
                                          <p:val>
                                            <p:strVal val="#ppt_x"/>
                                          </p:val>
                                        </p:tav>
                                      </p:tavLst>
                                    </p:anim>
                                    <p:anim calcmode="lin" valueType="num">
                                      <p:cBhvr additive="base">
                                        <p:cTn id="25" dur="500" fill="hold"/>
                                        <p:tgtEl>
                                          <p:spTgt spid="4"/>
                                        </p:tgtEl>
                                        <p:attrNameLst>
                                          <p:attrName>ppt_y</p:attrName>
                                        </p:attrNameLst>
                                      </p:cBhvr>
                                      <p:tavLst>
                                        <p:tav tm="0">
                                          <p:val>
                                            <p:strVal val="1+#ppt_h/2"/>
                                          </p:val>
                                        </p:tav>
                                        <p:tav tm="100000">
                                          <p:val>
                                            <p:strVal val="#ppt_y"/>
                                          </p:val>
                                        </p:tav>
                                      </p:tavLst>
                                    </p:anim>
                                  </p:childTnLst>
                                </p:cTn>
                              </p:par>
                              <p:par>
                                <p:cTn id="26" presetID="2" presetClass="entr" presetSubtype="4" fill="hold" nodeType="withEffect">
                                  <p:stCondLst>
                                    <p:cond delay="0"/>
                                  </p:stCondLst>
                                  <p:childTnLst>
                                    <p:set>
                                      <p:cBhvr>
                                        <p:cTn id="27" dur="1" fill="hold">
                                          <p:stCondLst>
                                            <p:cond delay="0"/>
                                          </p:stCondLst>
                                        </p:cTn>
                                        <p:tgtEl>
                                          <p:spTgt spid="5"/>
                                        </p:tgtEl>
                                        <p:attrNameLst>
                                          <p:attrName>style.visibility</p:attrName>
                                        </p:attrNameLst>
                                      </p:cBhvr>
                                      <p:to>
                                        <p:strVal val="visible"/>
                                      </p:to>
                                    </p:set>
                                    <p:anim calcmode="lin" valueType="num">
                                      <p:cBhvr additive="base">
                                        <p:cTn id="28" dur="500" fill="hold"/>
                                        <p:tgtEl>
                                          <p:spTgt spid="5"/>
                                        </p:tgtEl>
                                        <p:attrNameLst>
                                          <p:attrName>ppt_x</p:attrName>
                                        </p:attrNameLst>
                                      </p:cBhvr>
                                      <p:tavLst>
                                        <p:tav tm="0">
                                          <p:val>
                                            <p:strVal val="#ppt_x"/>
                                          </p:val>
                                        </p:tav>
                                        <p:tav tm="100000">
                                          <p:val>
                                            <p:strVal val="#ppt_x"/>
                                          </p:val>
                                        </p:tav>
                                      </p:tavLst>
                                    </p:anim>
                                    <p:anim calcmode="lin" valueType="num">
                                      <p:cBhvr additive="base">
                                        <p:cTn id="29"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2" presetClass="entr" presetSubtype="4" fill="hold" grpId="0" nodeType="clickEffect">
                                  <p:stCondLst>
                                    <p:cond delay="0"/>
                                  </p:stCondLst>
                                  <p:childTnLst>
                                    <p:set>
                                      <p:cBhvr>
                                        <p:cTn id="33" dur="1" fill="hold">
                                          <p:stCondLst>
                                            <p:cond delay="0"/>
                                          </p:stCondLst>
                                        </p:cTn>
                                        <p:tgtEl>
                                          <p:spTgt spid="6"/>
                                        </p:tgtEl>
                                        <p:attrNameLst>
                                          <p:attrName>style.visibility</p:attrName>
                                        </p:attrNameLst>
                                      </p:cBhvr>
                                      <p:to>
                                        <p:strVal val="visible"/>
                                      </p:to>
                                    </p:set>
                                    <p:anim calcmode="lin" valueType="num">
                                      <p:cBhvr additive="base">
                                        <p:cTn id="34" dur="500" fill="hold"/>
                                        <p:tgtEl>
                                          <p:spTgt spid="6"/>
                                        </p:tgtEl>
                                        <p:attrNameLst>
                                          <p:attrName>ppt_x</p:attrName>
                                        </p:attrNameLst>
                                      </p:cBhvr>
                                      <p:tavLst>
                                        <p:tav tm="0">
                                          <p:val>
                                            <p:strVal val="#ppt_x"/>
                                          </p:val>
                                        </p:tav>
                                        <p:tav tm="100000">
                                          <p:val>
                                            <p:strVal val="#ppt_x"/>
                                          </p:val>
                                        </p:tav>
                                      </p:tavLst>
                                    </p:anim>
                                    <p:anim calcmode="lin" valueType="num">
                                      <p:cBhvr additive="base">
                                        <p:cTn id="35"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Graphic spid="15" grpId="0">
        <p:bldAsOne/>
      </p:bldGraphic>
      <p:bldP spid="4" grpId="0"/>
      <p:bldP spid="6"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itle 1">
            <a:extLst>
              <a:ext uri="{FF2B5EF4-FFF2-40B4-BE49-F238E27FC236}">
                <a16:creationId xmlns:a16="http://schemas.microsoft.com/office/drawing/2014/main" id="{FF82CAD1-AD69-CFCC-6520-7D6E95E3E895}"/>
              </a:ext>
            </a:extLst>
          </p:cNvPr>
          <p:cNvSpPr>
            <a:spLocks noGrp="1"/>
          </p:cNvSpPr>
          <p:nvPr/>
        </p:nvSpPr>
        <p:spPr>
          <a:xfrm>
            <a:off x="562982" y="235974"/>
            <a:ext cx="4683323" cy="1097280"/>
          </a:xfrm>
          <a:prstGeom prst="rect">
            <a:avLst/>
          </a:prstGeom>
        </p:spPr>
        <p:txBody>
          <a:bodyPr vert="horz" lIns="91440" tIns="45720" rIns="91440" bIns="45720" rtlCol="0" anchor="t">
            <a:normAutofit/>
          </a:bodyPr>
          <a:lstStyle>
            <a:lvl1pPr algn="l" defTabSz="914400" rtl="0" eaLnBrk="1" latinLnBrk="0" hangingPunct="1">
              <a:lnSpc>
                <a:spcPct val="100000"/>
              </a:lnSpc>
              <a:spcBef>
                <a:spcPct val="0"/>
              </a:spcBef>
              <a:buNone/>
              <a:defRPr sz="4000" b="1" kern="1200">
                <a:solidFill>
                  <a:schemeClr val="tx1"/>
                </a:solidFill>
                <a:latin typeface="+mj-lt"/>
                <a:ea typeface="+mj-ea"/>
                <a:cs typeface="+mj-cs"/>
              </a:defRPr>
            </a:lvl1pPr>
          </a:lstStyle>
          <a:p>
            <a:r>
              <a:rPr lang="en-US" dirty="0"/>
              <a:t>Prompt Engineering</a:t>
            </a:r>
            <a:endParaRPr lang="en-IN" dirty="0"/>
          </a:p>
        </p:txBody>
      </p:sp>
      <p:sp>
        <p:nvSpPr>
          <p:cNvPr id="14" name="Content Placeholder 2">
            <a:extLst>
              <a:ext uri="{FF2B5EF4-FFF2-40B4-BE49-F238E27FC236}">
                <a16:creationId xmlns:a16="http://schemas.microsoft.com/office/drawing/2014/main" id="{E5C97AC4-C5E7-977F-C895-E8AD9238A815}"/>
              </a:ext>
            </a:extLst>
          </p:cNvPr>
          <p:cNvSpPr>
            <a:spLocks noGrp="1"/>
          </p:cNvSpPr>
          <p:nvPr/>
        </p:nvSpPr>
        <p:spPr>
          <a:xfrm>
            <a:off x="484704" y="1333254"/>
            <a:ext cx="4755896" cy="528877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We need the LLM to output only two things:</a:t>
            </a:r>
          </a:p>
          <a:p>
            <a:pPr lvl="1"/>
            <a:r>
              <a:rPr lang="en-IN" dirty="0"/>
              <a:t>Whether the query plans are equal</a:t>
            </a:r>
          </a:p>
          <a:p>
            <a:pPr lvl="1"/>
            <a:r>
              <a:rPr lang="en-IN" dirty="0"/>
              <a:t>If they are equivalent, what are the valid transformations that map from plan A to plan B.</a:t>
            </a:r>
          </a:p>
          <a:p>
            <a:r>
              <a:rPr lang="en-US" dirty="0"/>
              <a:t>We evaluated both zero-shot prompting and one-shot prompting.</a:t>
            </a:r>
          </a:p>
          <a:p>
            <a:r>
              <a:rPr lang="en-US" dirty="0"/>
              <a:t>Zero-shot prompting led to more inconsistent outputs whereas one-shot prompting improved stability.</a:t>
            </a:r>
          </a:p>
          <a:p>
            <a:r>
              <a:rPr lang="en-US" dirty="0"/>
              <a:t>We also include the schema structure of the database in the prompt. This </a:t>
            </a:r>
            <a:r>
              <a:rPr lang="en-US" dirty="0" err="1"/>
              <a:t>ensurse</a:t>
            </a:r>
            <a:r>
              <a:rPr lang="en-US" dirty="0"/>
              <a:t> that the LLM has full knowledge of the joins, indexes and constraints. This helps in further stabilizing the output.</a:t>
            </a:r>
            <a:endParaRPr lang="en-IN" dirty="0"/>
          </a:p>
        </p:txBody>
      </p:sp>
      <p:sp>
        <p:nvSpPr>
          <p:cNvPr id="16" name="Content Placeholder 2">
            <a:extLst>
              <a:ext uri="{FF2B5EF4-FFF2-40B4-BE49-F238E27FC236}">
                <a16:creationId xmlns:a16="http://schemas.microsoft.com/office/drawing/2014/main" id="{8B7E8608-2568-D853-9CBD-D04F72D2940A}"/>
              </a:ext>
            </a:extLst>
          </p:cNvPr>
          <p:cNvSpPr txBox="1">
            <a:spLocks/>
          </p:cNvSpPr>
          <p:nvPr/>
        </p:nvSpPr>
        <p:spPr>
          <a:xfrm>
            <a:off x="5246305" y="235974"/>
            <a:ext cx="6728402" cy="6386052"/>
          </a:xfrm>
          <a:prstGeom prst="rect">
            <a:avLst/>
          </a:prstGeom>
        </p:spPr>
        <p:txBody>
          <a:bodyPr vert="horz" lIns="91440" tIns="45720" rIns="91440" bIns="45720" rtlCol="0">
            <a:noAutofit/>
          </a:bodyPr>
          <a:lstStyle>
            <a:defPPr>
              <a:defRPr lang="en-US"/>
            </a:defPPr>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b="1" i="1" dirty="0">
                <a:solidFill>
                  <a:schemeClr val="accent1">
                    <a:lumMod val="75000"/>
                  </a:schemeClr>
                </a:solidFill>
                <a:latin typeface="Courier New" panose="02070309020205020404" pitchFamily="49" charset="0"/>
                <a:cs typeface="Courier New" panose="02070309020205020404" pitchFamily="49" charset="0"/>
              </a:rPr>
              <a:t>System Message: You are an expert in relational query optimization and Apache Calcite transformations. Always respond with exactly one JSON object matching the schema requested. Do not output anything else. Use only transformation names from SUPPORTED_TRANSFORMATIONS. Temperature must be 0.</a:t>
            </a:r>
          </a:p>
          <a:p>
            <a:pPr marL="0" indent="0">
              <a:buNone/>
            </a:pPr>
            <a:r>
              <a:rPr lang="en-US" sz="1600" b="1" i="1" dirty="0">
                <a:solidFill>
                  <a:schemeClr val="accent1">
                    <a:lumMod val="75000"/>
                  </a:schemeClr>
                </a:solidFill>
                <a:latin typeface="Courier New" panose="02070309020205020404" pitchFamily="49" charset="0"/>
                <a:cs typeface="Courier New" panose="02070309020205020404" pitchFamily="49" charset="0"/>
              </a:rPr>
              <a:t>TASK: Given ORIGINAL_PLAN and TARGET_PLAN (both in simplified JSON plan format), decide whether they are equivalent. If equivalent, produce an ordered list of Apache Calcite transformations that map ORIGINAL_PLAN -&gt; TARGET_PLAN.</a:t>
            </a:r>
          </a:p>
          <a:p>
            <a:pPr marL="0" indent="0">
              <a:buNone/>
            </a:pPr>
            <a:r>
              <a:rPr lang="en-US" sz="1600" b="1" i="1" dirty="0">
                <a:solidFill>
                  <a:schemeClr val="accent1">
                    <a:lumMod val="75000"/>
                  </a:schemeClr>
                </a:solidFill>
                <a:latin typeface="Courier New" panose="02070309020205020404" pitchFamily="49" charset="0"/>
                <a:cs typeface="Courier New" panose="02070309020205020404" pitchFamily="49" charset="0"/>
              </a:rPr>
              <a:t>INPUTS PROVIDED: &lt;list of inputs provided (omitted)&gt; RULES: &lt;list of rules (omitted)&gt;</a:t>
            </a:r>
          </a:p>
          <a:p>
            <a:pPr marL="0" indent="0">
              <a:buNone/>
            </a:pPr>
            <a:r>
              <a:rPr lang="en-US" sz="1600" b="1" i="1" dirty="0">
                <a:solidFill>
                  <a:schemeClr val="accent1">
                    <a:lumMod val="75000"/>
                  </a:schemeClr>
                </a:solidFill>
                <a:latin typeface="Courier New" panose="02070309020205020404" pitchFamily="49" charset="0"/>
                <a:cs typeface="Courier New" panose="02070309020205020404" pitchFamily="49" charset="0"/>
              </a:rPr>
              <a:t>ONE-SHOT EXAMPLE: &lt;one shot example&gt;</a:t>
            </a:r>
          </a:p>
          <a:p>
            <a:pPr marL="0" indent="0">
              <a:buNone/>
            </a:pPr>
            <a:r>
              <a:rPr lang="en-US" sz="1600" b="1" i="1" dirty="0">
                <a:solidFill>
                  <a:schemeClr val="accent1">
                    <a:lumMod val="75000"/>
                  </a:schemeClr>
                </a:solidFill>
                <a:latin typeface="Courier New" panose="02070309020205020404" pitchFamily="49" charset="0"/>
                <a:cs typeface="Courier New" panose="02070309020205020404" pitchFamily="49" charset="0"/>
              </a:rPr>
              <a:t>NOW PROCESS:</a:t>
            </a:r>
          </a:p>
          <a:p>
            <a:pPr marL="0" indent="0">
              <a:buNone/>
            </a:pPr>
            <a:r>
              <a:rPr lang="en-US" sz="1600" b="1" i="1" dirty="0">
                <a:solidFill>
                  <a:schemeClr val="accent1">
                    <a:lumMod val="75000"/>
                  </a:schemeClr>
                </a:solidFill>
                <a:latin typeface="Courier New" panose="02070309020205020404" pitchFamily="49" charset="0"/>
                <a:cs typeface="Courier New" panose="02070309020205020404" pitchFamily="49" charset="0"/>
              </a:rPr>
              <a:t>SCHEMA_SUMMARY: &lt;schema summary&gt;</a:t>
            </a:r>
          </a:p>
          <a:p>
            <a:pPr marL="0" indent="0">
              <a:buNone/>
            </a:pPr>
            <a:r>
              <a:rPr lang="en-US" sz="1600" b="1" i="1" dirty="0">
                <a:solidFill>
                  <a:schemeClr val="accent1">
                    <a:lumMod val="75000"/>
                  </a:schemeClr>
                </a:solidFill>
                <a:latin typeface="Courier New" panose="02070309020205020404" pitchFamily="49" charset="0"/>
                <a:cs typeface="Courier New" panose="02070309020205020404" pitchFamily="49" charset="0"/>
              </a:rPr>
              <a:t>ORIGINAL_PLAN_JSON: &lt;query plan A&gt;</a:t>
            </a:r>
          </a:p>
          <a:p>
            <a:pPr marL="0" indent="0">
              <a:buNone/>
            </a:pPr>
            <a:r>
              <a:rPr lang="en-US" sz="1600" b="1" i="1" dirty="0">
                <a:solidFill>
                  <a:schemeClr val="accent1">
                    <a:lumMod val="75000"/>
                  </a:schemeClr>
                </a:solidFill>
                <a:latin typeface="Courier New" panose="02070309020205020404" pitchFamily="49" charset="0"/>
                <a:cs typeface="Courier New" panose="02070309020205020404" pitchFamily="49" charset="0"/>
              </a:rPr>
              <a:t>TARGET_PLAN_JSON: &lt;query plan B&gt;</a:t>
            </a:r>
          </a:p>
        </p:txBody>
      </p:sp>
    </p:spTree>
    <p:extLst>
      <p:ext uri="{BB962C8B-B14F-4D97-AF65-F5344CB8AC3E}">
        <p14:creationId xmlns:p14="http://schemas.microsoft.com/office/powerpoint/2010/main" val="1030051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ppt_x"/>
                                          </p:val>
                                        </p:tav>
                                        <p:tav tm="100000">
                                          <p:val>
                                            <p:strVal val="#ppt_x"/>
                                          </p:val>
                                        </p:tav>
                                      </p:tavLst>
                                    </p:anim>
                                    <p:anim calcmode="lin" valueType="num">
                                      <p:cBhvr additive="base">
                                        <p:cTn id="8"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 calcmode="lin" valueType="num">
                                      <p:cBhvr additive="base">
                                        <p:cTn id="13" dur="500" fill="hold"/>
                                        <p:tgtEl>
                                          <p:spTgt spid="14"/>
                                        </p:tgtEl>
                                        <p:attrNameLst>
                                          <p:attrName>ppt_x</p:attrName>
                                        </p:attrNameLst>
                                      </p:cBhvr>
                                      <p:tavLst>
                                        <p:tav tm="0">
                                          <p:val>
                                            <p:strVal val="#ppt_x"/>
                                          </p:val>
                                        </p:tav>
                                        <p:tav tm="100000">
                                          <p:val>
                                            <p:strVal val="#ppt_x"/>
                                          </p:val>
                                        </p:tav>
                                      </p:tavLst>
                                    </p:anim>
                                    <p:anim calcmode="lin" valueType="num">
                                      <p:cBhvr additive="base">
                                        <p:cTn id="14"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anim calcmode="lin" valueType="num">
                                      <p:cBhvr additive="base">
                                        <p:cTn id="19" dur="500" fill="hold"/>
                                        <p:tgtEl>
                                          <p:spTgt spid="16"/>
                                        </p:tgtEl>
                                        <p:attrNameLst>
                                          <p:attrName>ppt_x</p:attrName>
                                        </p:attrNameLst>
                                      </p:cBhvr>
                                      <p:tavLst>
                                        <p:tav tm="0">
                                          <p:val>
                                            <p:strVal val="#ppt_x"/>
                                          </p:val>
                                        </p:tav>
                                        <p:tav tm="100000">
                                          <p:val>
                                            <p:strVal val="#ppt_x"/>
                                          </p:val>
                                        </p:tav>
                                      </p:tavLst>
                                    </p:anim>
                                    <p:anim calcmode="lin" valueType="num">
                                      <p:cBhvr additive="base">
                                        <p:cTn id="20"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p:bldP spid="1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07480E81-FE4F-B116-48BE-0023BDCC9A76}"/>
              </a:ext>
            </a:extLst>
          </p:cNvPr>
          <p:cNvSpPr txBox="1">
            <a:spLocks/>
          </p:cNvSpPr>
          <p:nvPr/>
        </p:nvSpPr>
        <p:spPr>
          <a:xfrm>
            <a:off x="636390" y="255147"/>
            <a:ext cx="2528841" cy="1097280"/>
          </a:xfrm>
          <a:prstGeom prst="rect">
            <a:avLst/>
          </a:prstGeom>
        </p:spPr>
        <p:txBody>
          <a:bodyPr vert="horz" lIns="91440" tIns="45720" rIns="91440" bIns="45720" rtlCol="0" anchor="t">
            <a:normAutofit/>
          </a:bodyPr>
          <a:lstStyle>
            <a:defPPr>
              <a:defRPr lang="en-US"/>
            </a:defPPr>
            <a:lvl1pPr marL="0" algn="l" defTabSz="914400" rtl="0" eaLnBrk="1" latinLnBrk="0" hangingPunct="1">
              <a:lnSpc>
                <a:spcPct val="100000"/>
              </a:lnSpc>
              <a:spcBef>
                <a:spcPct val="0"/>
              </a:spcBef>
              <a:buNone/>
              <a:defRPr sz="4000" b="1" kern="1200">
                <a:solidFill>
                  <a:schemeClr val="tx1"/>
                </a:solidFill>
                <a:latin typeface="+mj-lt"/>
                <a:ea typeface="+mj-ea"/>
                <a:cs typeface="+mj-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endParaRPr lang="en-IN" dirty="0"/>
          </a:p>
        </p:txBody>
      </p:sp>
      <p:sp>
        <p:nvSpPr>
          <p:cNvPr id="15" name="Content Placeholder 2">
            <a:extLst>
              <a:ext uri="{FF2B5EF4-FFF2-40B4-BE49-F238E27FC236}">
                <a16:creationId xmlns:a16="http://schemas.microsoft.com/office/drawing/2014/main" id="{3968EE36-A79D-2D6F-2339-66A13A72EA62}"/>
              </a:ext>
            </a:extLst>
          </p:cNvPr>
          <p:cNvSpPr txBox="1">
            <a:spLocks/>
          </p:cNvSpPr>
          <p:nvPr/>
        </p:nvSpPr>
        <p:spPr>
          <a:xfrm>
            <a:off x="4309806" y="334638"/>
            <a:ext cx="7446940" cy="2700906"/>
          </a:xfrm>
          <a:prstGeom prst="rect">
            <a:avLst/>
          </a:prstGeom>
        </p:spPr>
        <p:txBody>
          <a:bodyPr vert="horz" lIns="91440" tIns="45720" rIns="91440" bIns="45720" rtlCol="0">
            <a:normAutofit/>
          </a:bodyPr>
          <a:lstStyle>
            <a:defPPr>
              <a:defRPr lang="en-US"/>
            </a:defPPr>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IN" dirty="0"/>
          </a:p>
        </p:txBody>
      </p:sp>
      <p:pic>
        <p:nvPicPr>
          <p:cNvPr id="1026" name="Picture 2" descr="A red and blue logo&#10;&#10;AI-generated content may be incorrect.">
            <a:extLst>
              <a:ext uri="{FF2B5EF4-FFF2-40B4-BE49-F238E27FC236}">
                <a16:creationId xmlns:a16="http://schemas.microsoft.com/office/drawing/2014/main" id="{2C5E1A06-0508-6717-6D60-F542A2D89F6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80877" y="138091"/>
            <a:ext cx="1501701" cy="1146336"/>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73A348A7-DB87-8BDA-5B81-2430760A9E3C}"/>
              </a:ext>
            </a:extLst>
          </p:cNvPr>
          <p:cNvSpPr>
            <a:spLocks noGrp="1"/>
          </p:cNvSpPr>
          <p:nvPr>
            <p:ph type="title"/>
          </p:nvPr>
        </p:nvSpPr>
        <p:spPr>
          <a:xfrm>
            <a:off x="636391" y="164795"/>
            <a:ext cx="1575868" cy="1097280"/>
          </a:xfrm>
        </p:spPr>
        <p:txBody>
          <a:bodyPr/>
          <a:lstStyle/>
          <a:p>
            <a:r>
              <a:rPr lang="en-US" dirty="0"/>
              <a:t>LITHE</a:t>
            </a:r>
            <a:endParaRPr lang="en-IN" dirty="0"/>
          </a:p>
        </p:txBody>
      </p:sp>
      <p:grpSp>
        <p:nvGrpSpPr>
          <p:cNvPr id="24" name="Group 23">
            <a:extLst>
              <a:ext uri="{FF2B5EF4-FFF2-40B4-BE49-F238E27FC236}">
                <a16:creationId xmlns:a16="http://schemas.microsoft.com/office/drawing/2014/main" id="{9A264D7A-7916-B377-1955-AF72F0F96EF0}"/>
              </a:ext>
            </a:extLst>
          </p:cNvPr>
          <p:cNvGrpSpPr/>
          <p:nvPr/>
        </p:nvGrpSpPr>
        <p:grpSpPr>
          <a:xfrm>
            <a:off x="636390" y="2256544"/>
            <a:ext cx="6298680" cy="3212525"/>
            <a:chOff x="688803" y="1913886"/>
            <a:chExt cx="6298680" cy="3212525"/>
          </a:xfrm>
        </p:grpSpPr>
        <p:sp>
          <p:nvSpPr>
            <p:cNvPr id="10" name="Oval 9">
              <a:extLst>
                <a:ext uri="{FF2B5EF4-FFF2-40B4-BE49-F238E27FC236}">
                  <a16:creationId xmlns:a16="http://schemas.microsoft.com/office/drawing/2014/main" id="{1CA654A2-954A-D37D-1C89-235B4E034C36}"/>
                </a:ext>
              </a:extLst>
            </p:cNvPr>
            <p:cNvSpPr/>
            <p:nvPr/>
          </p:nvSpPr>
          <p:spPr>
            <a:xfrm>
              <a:off x="767461" y="1913886"/>
              <a:ext cx="823454" cy="823454"/>
            </a:xfrm>
            <a:prstGeom prst="ellipse">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en-IN" sz="2800"/>
            </a:p>
          </p:txBody>
        </p:sp>
        <p:sp>
          <p:nvSpPr>
            <p:cNvPr id="11" name="Rectangle 10" descr="Programmer">
              <a:extLst>
                <a:ext uri="{FF2B5EF4-FFF2-40B4-BE49-F238E27FC236}">
                  <a16:creationId xmlns:a16="http://schemas.microsoft.com/office/drawing/2014/main" id="{1C8AE76F-171C-EC47-2903-A48C3F08CDFA}"/>
                </a:ext>
              </a:extLst>
            </p:cNvPr>
            <p:cNvSpPr/>
            <p:nvPr/>
          </p:nvSpPr>
          <p:spPr>
            <a:xfrm>
              <a:off x="940386" y="2086811"/>
              <a:ext cx="477603" cy="477603"/>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IN" sz="2800"/>
            </a:p>
          </p:txBody>
        </p:sp>
        <p:sp>
          <p:nvSpPr>
            <p:cNvPr id="12" name="Freeform: Shape 11">
              <a:extLst>
                <a:ext uri="{FF2B5EF4-FFF2-40B4-BE49-F238E27FC236}">
                  <a16:creationId xmlns:a16="http://schemas.microsoft.com/office/drawing/2014/main" id="{04EFE444-282F-2A30-18E1-370BABE6A3D6}"/>
                </a:ext>
              </a:extLst>
            </p:cNvPr>
            <p:cNvSpPr/>
            <p:nvPr/>
          </p:nvSpPr>
          <p:spPr>
            <a:xfrm>
              <a:off x="1767370" y="1913886"/>
              <a:ext cx="1941000" cy="823454"/>
            </a:xfrm>
            <a:custGeom>
              <a:avLst/>
              <a:gdLst>
                <a:gd name="connsiteX0" fmla="*/ 0 w 1941000"/>
                <a:gd name="connsiteY0" fmla="*/ 0 h 823454"/>
                <a:gd name="connsiteX1" fmla="*/ 1941000 w 1941000"/>
                <a:gd name="connsiteY1" fmla="*/ 0 h 823454"/>
                <a:gd name="connsiteX2" fmla="*/ 1941000 w 1941000"/>
                <a:gd name="connsiteY2" fmla="*/ 823454 h 823454"/>
                <a:gd name="connsiteX3" fmla="*/ 0 w 1941000"/>
                <a:gd name="connsiteY3" fmla="*/ 823454 h 823454"/>
                <a:gd name="connsiteX4" fmla="*/ 0 w 1941000"/>
                <a:gd name="connsiteY4" fmla="*/ 0 h 8234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41000" h="823454">
                  <a:moveTo>
                    <a:pt x="0" y="0"/>
                  </a:moveTo>
                  <a:lnTo>
                    <a:pt x="1941000" y="0"/>
                  </a:lnTo>
                  <a:lnTo>
                    <a:pt x="1941000" y="823454"/>
                  </a:lnTo>
                  <a:lnTo>
                    <a:pt x="0" y="82345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l" defTabSz="533400">
                <a:lnSpc>
                  <a:spcPct val="100000"/>
                </a:lnSpc>
                <a:spcBef>
                  <a:spcPct val="0"/>
                </a:spcBef>
                <a:spcAft>
                  <a:spcPct val="35000"/>
                </a:spcAft>
                <a:buNone/>
              </a:pPr>
              <a:r>
                <a:rPr lang="en-US" kern="1200" dirty="0"/>
                <a:t>LITHE is a software that leverages the power of LLMs to improve query performance.</a:t>
              </a:r>
            </a:p>
          </p:txBody>
        </p:sp>
        <p:sp>
          <p:nvSpPr>
            <p:cNvPr id="13" name="Oval 12">
              <a:extLst>
                <a:ext uri="{FF2B5EF4-FFF2-40B4-BE49-F238E27FC236}">
                  <a16:creationId xmlns:a16="http://schemas.microsoft.com/office/drawing/2014/main" id="{12F8B1F6-AD28-7CD5-3159-DEF6387423B5}"/>
                </a:ext>
              </a:extLst>
            </p:cNvPr>
            <p:cNvSpPr/>
            <p:nvPr/>
          </p:nvSpPr>
          <p:spPr>
            <a:xfrm>
              <a:off x="4046574" y="1913886"/>
              <a:ext cx="823454" cy="823454"/>
            </a:xfrm>
            <a:prstGeom prst="ellipse">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en-IN" sz="2800"/>
            </a:p>
          </p:txBody>
        </p:sp>
        <p:sp>
          <p:nvSpPr>
            <p:cNvPr id="16" name="Rectangle 15" descr="Database">
              <a:extLst>
                <a:ext uri="{FF2B5EF4-FFF2-40B4-BE49-F238E27FC236}">
                  <a16:creationId xmlns:a16="http://schemas.microsoft.com/office/drawing/2014/main" id="{ACE13E72-9734-0BB5-FAD6-9836ACD17D35}"/>
                </a:ext>
              </a:extLst>
            </p:cNvPr>
            <p:cNvSpPr/>
            <p:nvPr/>
          </p:nvSpPr>
          <p:spPr>
            <a:xfrm>
              <a:off x="4219500" y="2086811"/>
              <a:ext cx="477603" cy="477603"/>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IN" sz="2800"/>
            </a:p>
          </p:txBody>
        </p:sp>
        <p:sp>
          <p:nvSpPr>
            <p:cNvPr id="17" name="Freeform: Shape 16">
              <a:extLst>
                <a:ext uri="{FF2B5EF4-FFF2-40B4-BE49-F238E27FC236}">
                  <a16:creationId xmlns:a16="http://schemas.microsoft.com/office/drawing/2014/main" id="{3A9FA3E8-ACEE-2B16-03D3-E5AE6A6F00EC}"/>
                </a:ext>
              </a:extLst>
            </p:cNvPr>
            <p:cNvSpPr/>
            <p:nvPr/>
          </p:nvSpPr>
          <p:spPr>
            <a:xfrm>
              <a:off x="5046483" y="1913886"/>
              <a:ext cx="1941000" cy="823454"/>
            </a:xfrm>
            <a:custGeom>
              <a:avLst/>
              <a:gdLst>
                <a:gd name="connsiteX0" fmla="*/ 0 w 1941000"/>
                <a:gd name="connsiteY0" fmla="*/ 0 h 823454"/>
                <a:gd name="connsiteX1" fmla="*/ 1941000 w 1941000"/>
                <a:gd name="connsiteY1" fmla="*/ 0 h 823454"/>
                <a:gd name="connsiteX2" fmla="*/ 1941000 w 1941000"/>
                <a:gd name="connsiteY2" fmla="*/ 823454 h 823454"/>
                <a:gd name="connsiteX3" fmla="*/ 0 w 1941000"/>
                <a:gd name="connsiteY3" fmla="*/ 823454 h 823454"/>
                <a:gd name="connsiteX4" fmla="*/ 0 w 1941000"/>
                <a:gd name="connsiteY4" fmla="*/ 0 h 8234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41000" h="823454">
                  <a:moveTo>
                    <a:pt x="0" y="0"/>
                  </a:moveTo>
                  <a:lnTo>
                    <a:pt x="1941000" y="0"/>
                  </a:lnTo>
                  <a:lnTo>
                    <a:pt x="1941000" y="823454"/>
                  </a:lnTo>
                  <a:lnTo>
                    <a:pt x="0" y="82345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l" defTabSz="533400">
                <a:lnSpc>
                  <a:spcPct val="100000"/>
                </a:lnSpc>
                <a:spcBef>
                  <a:spcPct val="0"/>
                </a:spcBef>
                <a:spcAft>
                  <a:spcPct val="35000"/>
                </a:spcAft>
                <a:buNone/>
              </a:pPr>
              <a:r>
                <a:rPr lang="en-US" kern="1200"/>
                <a:t>Developed at Database Systems Lab (DSL), IISc</a:t>
              </a:r>
            </a:p>
          </p:txBody>
        </p:sp>
        <p:sp>
          <p:nvSpPr>
            <p:cNvPr id="18" name="Oval 17">
              <a:extLst>
                <a:ext uri="{FF2B5EF4-FFF2-40B4-BE49-F238E27FC236}">
                  <a16:creationId xmlns:a16="http://schemas.microsoft.com/office/drawing/2014/main" id="{E72AEC23-59C2-76EB-DEFE-EAFD06C3BDAD}"/>
                </a:ext>
              </a:extLst>
            </p:cNvPr>
            <p:cNvSpPr/>
            <p:nvPr/>
          </p:nvSpPr>
          <p:spPr>
            <a:xfrm>
              <a:off x="688803" y="4302957"/>
              <a:ext cx="823454" cy="823454"/>
            </a:xfrm>
            <a:prstGeom prst="ellipse">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en-IN" sz="2800"/>
            </a:p>
          </p:txBody>
        </p:sp>
        <p:sp>
          <p:nvSpPr>
            <p:cNvPr id="19" name="Rectangle 18" descr="Question mark">
              <a:extLst>
                <a:ext uri="{FF2B5EF4-FFF2-40B4-BE49-F238E27FC236}">
                  <a16:creationId xmlns:a16="http://schemas.microsoft.com/office/drawing/2014/main" id="{4F40022F-68BD-F10D-7C37-422908661B23}"/>
                </a:ext>
              </a:extLst>
            </p:cNvPr>
            <p:cNvSpPr/>
            <p:nvPr/>
          </p:nvSpPr>
          <p:spPr>
            <a:xfrm>
              <a:off x="861728" y="4475882"/>
              <a:ext cx="477603" cy="477603"/>
            </a:xfrm>
            <a:prstGeom prst="rect">
              <a:avLst/>
            </a:prstGeom>
            <a: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IN" sz="2800"/>
            </a:p>
          </p:txBody>
        </p:sp>
        <p:sp>
          <p:nvSpPr>
            <p:cNvPr id="20" name="Freeform: Shape 19">
              <a:extLst>
                <a:ext uri="{FF2B5EF4-FFF2-40B4-BE49-F238E27FC236}">
                  <a16:creationId xmlns:a16="http://schemas.microsoft.com/office/drawing/2014/main" id="{9B7773B6-D0ED-6985-959C-30978B09CD88}"/>
                </a:ext>
              </a:extLst>
            </p:cNvPr>
            <p:cNvSpPr/>
            <p:nvPr/>
          </p:nvSpPr>
          <p:spPr>
            <a:xfrm>
              <a:off x="1688712" y="4302957"/>
              <a:ext cx="1941000" cy="823454"/>
            </a:xfrm>
            <a:custGeom>
              <a:avLst/>
              <a:gdLst>
                <a:gd name="connsiteX0" fmla="*/ 0 w 1941000"/>
                <a:gd name="connsiteY0" fmla="*/ 0 h 823454"/>
                <a:gd name="connsiteX1" fmla="*/ 1941000 w 1941000"/>
                <a:gd name="connsiteY1" fmla="*/ 0 h 823454"/>
                <a:gd name="connsiteX2" fmla="*/ 1941000 w 1941000"/>
                <a:gd name="connsiteY2" fmla="*/ 823454 h 823454"/>
                <a:gd name="connsiteX3" fmla="*/ 0 w 1941000"/>
                <a:gd name="connsiteY3" fmla="*/ 823454 h 823454"/>
                <a:gd name="connsiteX4" fmla="*/ 0 w 1941000"/>
                <a:gd name="connsiteY4" fmla="*/ 0 h 8234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41000" h="823454">
                  <a:moveTo>
                    <a:pt x="0" y="0"/>
                  </a:moveTo>
                  <a:lnTo>
                    <a:pt x="1941000" y="0"/>
                  </a:lnTo>
                  <a:lnTo>
                    <a:pt x="1941000" y="823454"/>
                  </a:lnTo>
                  <a:lnTo>
                    <a:pt x="0" y="82345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l" defTabSz="533400">
                <a:lnSpc>
                  <a:spcPct val="100000"/>
                </a:lnSpc>
                <a:spcBef>
                  <a:spcPct val="0"/>
                </a:spcBef>
                <a:spcAft>
                  <a:spcPct val="35000"/>
                </a:spcAft>
                <a:buNone/>
              </a:pPr>
              <a:r>
                <a:rPr lang="en-US" kern="1200"/>
                <a:t>It works by rewriting a query to another equivalent query by leveraging the ability of LLMs.</a:t>
              </a:r>
            </a:p>
          </p:txBody>
        </p:sp>
        <p:sp>
          <p:nvSpPr>
            <p:cNvPr id="21" name="Oval 20">
              <a:extLst>
                <a:ext uri="{FF2B5EF4-FFF2-40B4-BE49-F238E27FC236}">
                  <a16:creationId xmlns:a16="http://schemas.microsoft.com/office/drawing/2014/main" id="{CDF26A53-43C2-1BB4-1957-BB2E89F92970}"/>
                </a:ext>
              </a:extLst>
            </p:cNvPr>
            <p:cNvSpPr/>
            <p:nvPr/>
          </p:nvSpPr>
          <p:spPr>
            <a:xfrm>
              <a:off x="3967916" y="4302957"/>
              <a:ext cx="823454" cy="823454"/>
            </a:xfrm>
            <a:prstGeom prst="ellipse">
              <a:avLst/>
            </a:prstGeom>
          </p:spPr>
          <p:style>
            <a:lnRef idx="0">
              <a:schemeClr val="accent1">
                <a:hueOff val="0"/>
                <a:satOff val="0"/>
                <a:lumOff val="0"/>
                <a:alphaOff val="0"/>
              </a:schemeClr>
            </a:lnRef>
            <a:fillRef idx="1">
              <a:schemeClr val="accent1">
                <a:tint val="40000"/>
                <a:hueOff val="0"/>
                <a:satOff val="0"/>
                <a:lumOff val="0"/>
                <a:alphaOff val="0"/>
              </a:schemeClr>
            </a:fillRef>
            <a:effectRef idx="0">
              <a:schemeClr val="accent1">
                <a:tint val="40000"/>
                <a:hueOff val="0"/>
                <a:satOff val="0"/>
                <a:lumOff val="0"/>
                <a:alphaOff val="0"/>
              </a:schemeClr>
            </a:effectRef>
            <a:fontRef idx="minor">
              <a:schemeClr val="dk1">
                <a:hueOff val="0"/>
                <a:satOff val="0"/>
                <a:lumOff val="0"/>
                <a:alphaOff val="0"/>
              </a:schemeClr>
            </a:fontRef>
          </p:style>
          <p:txBody>
            <a:bodyPr/>
            <a:lstStyle/>
            <a:p>
              <a:endParaRPr lang="en-IN" sz="2800"/>
            </a:p>
          </p:txBody>
        </p:sp>
        <p:sp>
          <p:nvSpPr>
            <p:cNvPr id="22" name="Rectangle 21" descr="Flowchart">
              <a:extLst>
                <a:ext uri="{FF2B5EF4-FFF2-40B4-BE49-F238E27FC236}">
                  <a16:creationId xmlns:a16="http://schemas.microsoft.com/office/drawing/2014/main" id="{101ED868-DFD1-DD75-B847-72AF3E680BA9}"/>
                </a:ext>
              </a:extLst>
            </p:cNvPr>
            <p:cNvSpPr/>
            <p:nvPr/>
          </p:nvSpPr>
          <p:spPr>
            <a:xfrm>
              <a:off x="4140842" y="4475882"/>
              <a:ext cx="477603" cy="477603"/>
            </a:xfrm>
            <a:prstGeom prst="rect">
              <a:avLst/>
            </a:prstGeom>
            <a: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en-IN" sz="2800"/>
            </a:p>
          </p:txBody>
        </p:sp>
        <p:sp>
          <p:nvSpPr>
            <p:cNvPr id="23" name="Freeform: Shape 22">
              <a:extLst>
                <a:ext uri="{FF2B5EF4-FFF2-40B4-BE49-F238E27FC236}">
                  <a16:creationId xmlns:a16="http://schemas.microsoft.com/office/drawing/2014/main" id="{6468F9D6-8AD0-790E-AF8B-4452783F9D16}"/>
                </a:ext>
              </a:extLst>
            </p:cNvPr>
            <p:cNvSpPr/>
            <p:nvPr/>
          </p:nvSpPr>
          <p:spPr>
            <a:xfrm>
              <a:off x="4967825" y="4302957"/>
              <a:ext cx="1941000" cy="823454"/>
            </a:xfrm>
            <a:custGeom>
              <a:avLst/>
              <a:gdLst>
                <a:gd name="connsiteX0" fmla="*/ 0 w 1941000"/>
                <a:gd name="connsiteY0" fmla="*/ 0 h 823454"/>
                <a:gd name="connsiteX1" fmla="*/ 1941000 w 1941000"/>
                <a:gd name="connsiteY1" fmla="*/ 0 h 823454"/>
                <a:gd name="connsiteX2" fmla="*/ 1941000 w 1941000"/>
                <a:gd name="connsiteY2" fmla="*/ 823454 h 823454"/>
                <a:gd name="connsiteX3" fmla="*/ 0 w 1941000"/>
                <a:gd name="connsiteY3" fmla="*/ 823454 h 823454"/>
                <a:gd name="connsiteX4" fmla="*/ 0 w 1941000"/>
                <a:gd name="connsiteY4" fmla="*/ 0 h 8234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41000" h="823454">
                  <a:moveTo>
                    <a:pt x="0" y="0"/>
                  </a:moveTo>
                  <a:lnTo>
                    <a:pt x="1941000" y="0"/>
                  </a:lnTo>
                  <a:lnTo>
                    <a:pt x="1941000" y="823454"/>
                  </a:lnTo>
                  <a:lnTo>
                    <a:pt x="0" y="82345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l" defTabSz="533400">
                <a:lnSpc>
                  <a:spcPct val="100000"/>
                </a:lnSpc>
                <a:spcBef>
                  <a:spcPct val="0"/>
                </a:spcBef>
                <a:spcAft>
                  <a:spcPct val="35000"/>
                </a:spcAft>
                <a:buNone/>
              </a:pPr>
              <a:r>
                <a:rPr lang="en-US" kern="1200"/>
                <a:t>We used this software to rewrite queries, so that we can test them using our program.</a:t>
              </a:r>
            </a:p>
          </p:txBody>
        </p:sp>
      </p:grpSp>
      <p:pic>
        <p:nvPicPr>
          <p:cNvPr id="7" name="Picture 6" descr="Diagram of a diagram of a software system&#10;&#10;AI-generated content may be incorrect.">
            <a:extLst>
              <a:ext uri="{FF2B5EF4-FFF2-40B4-BE49-F238E27FC236}">
                <a16:creationId xmlns:a16="http://schemas.microsoft.com/office/drawing/2014/main" id="{4493F719-2199-31BF-DA80-7433D38CDD38}"/>
              </a:ext>
            </a:extLst>
          </p:cNvPr>
          <p:cNvPicPr>
            <a:picLocks noChangeAspect="1"/>
          </p:cNvPicPr>
          <p:nvPr/>
        </p:nvPicPr>
        <p:blipFill>
          <a:blip r:embed="rId11"/>
          <a:stretch>
            <a:fillRect/>
          </a:stretch>
        </p:blipFill>
        <p:spPr>
          <a:xfrm>
            <a:off x="7257716" y="1789916"/>
            <a:ext cx="4499030" cy="4065081"/>
          </a:xfrm>
          <a:prstGeom prst="rect">
            <a:avLst/>
          </a:prstGeom>
        </p:spPr>
      </p:pic>
      <p:sp>
        <p:nvSpPr>
          <p:cNvPr id="8" name="TextBox 7">
            <a:extLst>
              <a:ext uri="{FF2B5EF4-FFF2-40B4-BE49-F238E27FC236}">
                <a16:creationId xmlns:a16="http://schemas.microsoft.com/office/drawing/2014/main" id="{ADB77201-760C-4FB4-5D6C-1713C1182C8D}"/>
              </a:ext>
            </a:extLst>
          </p:cNvPr>
          <p:cNvSpPr txBox="1"/>
          <p:nvPr/>
        </p:nvSpPr>
        <p:spPr>
          <a:xfrm>
            <a:off x="0" y="6553891"/>
            <a:ext cx="12059265" cy="276999"/>
          </a:xfrm>
          <a:prstGeom prst="rect">
            <a:avLst/>
          </a:prstGeom>
          <a:noFill/>
        </p:spPr>
        <p:txBody>
          <a:bodyPr wrap="square" rtlCol="0">
            <a:spAutoFit/>
          </a:bodyPr>
          <a:lstStyle/>
          <a:p>
            <a:r>
              <a:rPr lang="en-IN" sz="1200" dirty="0"/>
              <a:t>DHARWADA, S., DEVRANI, H., HARITSA, J., AND DORAISWAMY, H. Query Rewriting via LLMs. March 2026 (2025), ACM.</a:t>
            </a:r>
          </a:p>
        </p:txBody>
      </p:sp>
    </p:spTree>
    <p:extLst>
      <p:ext uri="{BB962C8B-B14F-4D97-AF65-F5344CB8AC3E}">
        <p14:creationId xmlns:p14="http://schemas.microsoft.com/office/powerpoint/2010/main" val="2845835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nodePh="1">
                                  <p:stCondLst>
                                    <p:cond delay="0"/>
                                  </p:stCondLst>
                                  <p:endCondLst>
                                    <p:cond evt="begin" delay="0">
                                      <p:tn val="5"/>
                                    </p:cond>
                                  </p:endCondLst>
                                  <p:childTnLst>
                                    <p:set>
                                      <p:cBhvr>
                                        <p:cTn id="6" dur="1" fill="hold">
                                          <p:stCondLst>
                                            <p:cond delay="0"/>
                                          </p:stCondLst>
                                        </p:cTn>
                                        <p:tgtEl>
                                          <p:spTgt spid="14"/>
                                        </p:tgtEl>
                                        <p:attrNameLst>
                                          <p:attrName>style.visibility</p:attrName>
                                        </p:attrNameLst>
                                      </p:cBhvr>
                                      <p:to>
                                        <p:strVal val="visible"/>
                                      </p:to>
                                    </p:set>
                                    <p:anim calcmode="lin" valueType="num">
                                      <p:cBhvr additive="base">
                                        <p:cTn id="7" dur="500" fill="hold"/>
                                        <p:tgtEl>
                                          <p:spTgt spid="14"/>
                                        </p:tgtEl>
                                        <p:attrNameLst>
                                          <p:attrName>ppt_x</p:attrName>
                                        </p:attrNameLst>
                                      </p:cBhvr>
                                      <p:tavLst>
                                        <p:tav tm="0">
                                          <p:val>
                                            <p:strVal val="#ppt_x"/>
                                          </p:val>
                                        </p:tav>
                                        <p:tav tm="100000">
                                          <p:val>
                                            <p:strVal val="#ppt_x"/>
                                          </p:val>
                                        </p:tav>
                                      </p:tavLst>
                                    </p:anim>
                                    <p:anim calcmode="lin" valueType="num">
                                      <p:cBhvr additive="base">
                                        <p:cTn id="8"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nodePh="1">
                                  <p:stCondLst>
                                    <p:cond delay="0"/>
                                  </p:stCondLst>
                                  <p:endCondLst>
                                    <p:cond evt="begin" delay="0">
                                      <p:tn val="11"/>
                                    </p:cond>
                                  </p:endCondLst>
                                  <p:childTnLst>
                                    <p:set>
                                      <p:cBhvr>
                                        <p:cTn id="12" dur="1" fill="hold">
                                          <p:stCondLst>
                                            <p:cond delay="0"/>
                                          </p:stCondLst>
                                        </p:cTn>
                                        <p:tgtEl>
                                          <p:spTgt spid="15"/>
                                        </p:tgtEl>
                                        <p:attrNameLst>
                                          <p:attrName>style.visibility</p:attrName>
                                        </p:attrNameLst>
                                      </p:cBhvr>
                                      <p:to>
                                        <p:strVal val="visible"/>
                                      </p:to>
                                    </p:set>
                                    <p:anim calcmode="lin" valueType="num">
                                      <p:cBhvr additive="base">
                                        <p:cTn id="13" dur="500" fill="hold"/>
                                        <p:tgtEl>
                                          <p:spTgt spid="15"/>
                                        </p:tgtEl>
                                        <p:attrNameLst>
                                          <p:attrName>ppt_x</p:attrName>
                                        </p:attrNameLst>
                                      </p:cBhvr>
                                      <p:tavLst>
                                        <p:tav tm="0">
                                          <p:val>
                                            <p:strVal val="#ppt_x"/>
                                          </p:val>
                                        </p:tav>
                                        <p:tav tm="100000">
                                          <p:val>
                                            <p:strVal val="#ppt_x"/>
                                          </p:val>
                                        </p:tav>
                                      </p:tavLst>
                                    </p:anim>
                                    <p:anim calcmode="lin" valueType="num">
                                      <p:cBhvr additive="base">
                                        <p:cTn id="1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9" name="Straight Connector 18">
            <a:extLst>
              <a:ext uri="{FF2B5EF4-FFF2-40B4-BE49-F238E27FC236}">
                <a16:creationId xmlns:a16="http://schemas.microsoft.com/office/drawing/2014/main" id="{118E06E4-607B-144B-382B-AD3D06B1EE8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sp useBgFill="1">
        <p:nvSpPr>
          <p:cNvPr id="21" name="Rectangle 20">
            <a:extLst>
              <a:ext uri="{FF2B5EF4-FFF2-40B4-BE49-F238E27FC236}">
                <a16:creationId xmlns:a16="http://schemas.microsoft.com/office/drawing/2014/main" id="{19F9BF86-FE94-4517-B97D-026C7515E5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F9C8522-DEFD-975B-463F-58E37397F8C5}"/>
              </a:ext>
            </a:extLst>
          </p:cNvPr>
          <p:cNvSpPr>
            <a:spLocks noGrp="1"/>
          </p:cNvSpPr>
          <p:nvPr>
            <p:ph type="title"/>
          </p:nvPr>
        </p:nvSpPr>
        <p:spPr>
          <a:xfrm>
            <a:off x="2580441" y="5793311"/>
            <a:ext cx="7031117" cy="933905"/>
          </a:xfrm>
        </p:spPr>
        <p:txBody>
          <a:bodyPr vert="horz" lIns="91440" tIns="45720" rIns="91440" bIns="45720" rtlCol="0" anchor="b">
            <a:normAutofit/>
          </a:bodyPr>
          <a:lstStyle/>
          <a:p>
            <a:pPr algn="ctr"/>
            <a:r>
              <a:rPr lang="en-US" sz="4400" dirty="0"/>
              <a:t>Current Program Flow</a:t>
            </a:r>
          </a:p>
        </p:txBody>
      </p:sp>
      <p:pic>
        <p:nvPicPr>
          <p:cNvPr id="5" name="Picture 4" descr="A diagram of a flowchart&#10;&#10;AI-generated content may be incorrect.">
            <a:extLst>
              <a:ext uri="{FF2B5EF4-FFF2-40B4-BE49-F238E27FC236}">
                <a16:creationId xmlns:a16="http://schemas.microsoft.com/office/drawing/2014/main" id="{22D6203A-A9BB-9365-299C-C6805E5C3ED2}"/>
              </a:ext>
            </a:extLst>
          </p:cNvPr>
          <p:cNvPicPr>
            <a:picLocks noChangeAspect="1"/>
          </p:cNvPicPr>
          <p:nvPr/>
        </p:nvPicPr>
        <p:blipFill>
          <a:blip r:embed="rId2">
            <a:extLst>
              <a:ext uri="{28A0092B-C50C-407E-A947-70E740481C1C}">
                <a14:useLocalDpi xmlns:a14="http://schemas.microsoft.com/office/drawing/2010/main" val="0"/>
              </a:ext>
            </a:extLst>
          </a:blip>
          <a:srcRect l="2542" t="12724" r="2781" b="11696"/>
          <a:stretch>
            <a:fillRect/>
          </a:stretch>
        </p:blipFill>
        <p:spPr>
          <a:xfrm>
            <a:off x="0" y="140607"/>
            <a:ext cx="12005797" cy="5391135"/>
          </a:xfrm>
          <a:prstGeom prst="rect">
            <a:avLst/>
          </a:prstGeom>
        </p:spPr>
      </p:pic>
      <p:cxnSp>
        <p:nvCxnSpPr>
          <p:cNvPr id="23" name="Straight Connector 22">
            <a:extLst>
              <a:ext uri="{FF2B5EF4-FFF2-40B4-BE49-F238E27FC236}">
                <a16:creationId xmlns:a16="http://schemas.microsoft.com/office/drawing/2014/main" id="{503FCC9E-47A2-69B7-68E7-7FA95EAD538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821680" y="5662526"/>
            <a:ext cx="548640" cy="0"/>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44036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DBDA151C-5770-45E4-AAFF-59E7F40386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EE587AF5-A9BF-C338-F682-7A7EF3057058}"/>
              </a:ext>
            </a:extLst>
          </p:cNvPr>
          <p:cNvSpPr>
            <a:spLocks noGrp="1"/>
          </p:cNvSpPr>
          <p:nvPr>
            <p:ph type="title"/>
          </p:nvPr>
        </p:nvSpPr>
        <p:spPr>
          <a:xfrm>
            <a:off x="713232" y="297180"/>
            <a:ext cx="10890928" cy="971550"/>
          </a:xfrm>
        </p:spPr>
        <p:txBody>
          <a:bodyPr vert="horz" lIns="91440" tIns="45720" rIns="91440" bIns="45720" rtlCol="0" anchor="t">
            <a:normAutofit/>
          </a:bodyPr>
          <a:lstStyle/>
          <a:p>
            <a:r>
              <a:rPr lang="en-US" dirty="0"/>
              <a:t>Results</a:t>
            </a:r>
          </a:p>
        </p:txBody>
      </p:sp>
      <p:cxnSp>
        <p:nvCxnSpPr>
          <p:cNvPr id="38" name="Straight Connector 37">
            <a:extLst>
              <a:ext uri="{FF2B5EF4-FFF2-40B4-BE49-F238E27FC236}">
                <a16:creationId xmlns:a16="http://schemas.microsoft.com/office/drawing/2014/main" id="{39AA7464-1EB7-A869-C7D3-AA680BBA984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13232" y="1031001"/>
            <a:ext cx="978862" cy="0"/>
          </a:xfrm>
          <a:prstGeom prst="line">
            <a:avLst/>
          </a:prstGeom>
          <a:ln w="76200"/>
        </p:spPr>
        <p:style>
          <a:lnRef idx="1">
            <a:schemeClr val="accent1"/>
          </a:lnRef>
          <a:fillRef idx="0">
            <a:schemeClr val="accent1"/>
          </a:fillRef>
          <a:effectRef idx="0">
            <a:schemeClr val="accent1"/>
          </a:effectRef>
          <a:fontRef idx="minor">
            <a:schemeClr val="tx1"/>
          </a:fontRef>
        </p:style>
      </p:cxnSp>
      <p:pic>
        <p:nvPicPr>
          <p:cNvPr id="9" name="Picture 8" descr="A pair of colored socks with different colored lines&#10;&#10;AI-generated content may be incorrect.">
            <a:extLst>
              <a:ext uri="{FF2B5EF4-FFF2-40B4-BE49-F238E27FC236}">
                <a16:creationId xmlns:a16="http://schemas.microsoft.com/office/drawing/2014/main" id="{32F2EA4F-844D-F5B5-BF4E-4A73E02454D5}"/>
              </a:ext>
            </a:extLst>
          </p:cNvPr>
          <p:cNvPicPr>
            <a:picLocks noChangeAspect="1"/>
          </p:cNvPicPr>
          <p:nvPr/>
        </p:nvPicPr>
        <p:blipFill>
          <a:blip r:embed="rId2">
            <a:extLst>
              <a:ext uri="{28A0092B-C50C-407E-A947-70E740481C1C}">
                <a14:useLocalDpi xmlns:a14="http://schemas.microsoft.com/office/drawing/2010/main" val="0"/>
              </a:ext>
            </a:extLst>
          </a:blip>
          <a:srcRect l="6747" r="128"/>
          <a:stretch>
            <a:fillRect/>
          </a:stretch>
        </p:blipFill>
        <p:spPr>
          <a:xfrm>
            <a:off x="0" y="1565910"/>
            <a:ext cx="8732643" cy="5274749"/>
          </a:xfrm>
          <a:prstGeom prst="rect">
            <a:avLst/>
          </a:prstGeom>
        </p:spPr>
      </p:pic>
      <p:sp>
        <p:nvSpPr>
          <p:cNvPr id="11" name="Content Placeholder 2">
            <a:extLst>
              <a:ext uri="{FF2B5EF4-FFF2-40B4-BE49-F238E27FC236}">
                <a16:creationId xmlns:a16="http://schemas.microsoft.com/office/drawing/2014/main" id="{A94E3E09-2E83-B0D8-1FAB-63D38690BA80}"/>
              </a:ext>
            </a:extLst>
          </p:cNvPr>
          <p:cNvSpPr txBox="1">
            <a:spLocks/>
          </p:cNvSpPr>
          <p:nvPr/>
        </p:nvSpPr>
        <p:spPr>
          <a:xfrm>
            <a:off x="7532055" y="278634"/>
            <a:ext cx="4659945" cy="1287276"/>
          </a:xfrm>
          <a:prstGeom prst="rect">
            <a:avLst/>
          </a:prstGeom>
        </p:spPr>
        <p:txBody>
          <a:bodyPr vert="horz" lIns="91440" tIns="45720" rIns="91440" bIns="45720" rtlCol="0" anchor="t">
            <a:normAutofit/>
          </a:bodyPr>
          <a:lstStyle>
            <a:defPPr>
              <a:defRPr lang="en-US"/>
            </a:defPPr>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Overall accuracy of 96%.</a:t>
            </a:r>
          </a:p>
          <a:p>
            <a:r>
              <a:rPr lang="en-US" dirty="0"/>
              <a:t>Much better results than last time!</a:t>
            </a:r>
          </a:p>
        </p:txBody>
      </p:sp>
      <p:sp>
        <p:nvSpPr>
          <p:cNvPr id="10" name="Content Placeholder 2">
            <a:extLst>
              <a:ext uri="{FF2B5EF4-FFF2-40B4-BE49-F238E27FC236}">
                <a16:creationId xmlns:a16="http://schemas.microsoft.com/office/drawing/2014/main" id="{9094CEEE-2F5A-669F-077A-19A5508DA86C}"/>
              </a:ext>
            </a:extLst>
          </p:cNvPr>
          <p:cNvSpPr txBox="1">
            <a:spLocks/>
          </p:cNvSpPr>
          <p:nvPr/>
        </p:nvSpPr>
        <p:spPr>
          <a:xfrm>
            <a:off x="307997" y="4699137"/>
            <a:ext cx="11457301" cy="2075290"/>
          </a:xfrm>
          <a:prstGeom prst="rect">
            <a:avLst/>
          </a:prstGeom>
        </p:spPr>
        <p:txBody>
          <a:bodyPr vert="horz" lIns="91440" tIns="45720" rIns="91440" bIns="45720" rtlCol="0" anchor="t">
            <a:normAutofit/>
          </a:bodyPr>
          <a:lstStyle>
            <a:defPPr>
              <a:defRPr lang="en-US"/>
            </a:defPPr>
            <a:lvl1pPr marL="228600" indent="-228600" algn="l" defTabSz="914400" rtl="0" eaLnBrk="1" latinLnBrk="0" hangingPunct="1">
              <a:lnSpc>
                <a:spcPct val="120000"/>
              </a:lnSpc>
              <a:spcBef>
                <a:spcPts val="1000"/>
              </a:spcBef>
              <a:buSzPct val="87000"/>
              <a:buFont typeface="Arial" panose="020B0604020202020204" pitchFamily="34" charset="0"/>
              <a:buChar char="•"/>
              <a:defRPr sz="2000" kern="1200">
                <a:solidFill>
                  <a:schemeClr val="tx1"/>
                </a:solidFill>
                <a:latin typeface="+mn-lt"/>
                <a:ea typeface="+mn-ea"/>
                <a:cs typeface="+mn-cs"/>
              </a:defRPr>
            </a:lvl1pPr>
            <a:lvl2pPr marL="493776" indent="-228600" algn="l" defTabSz="914400" rtl="0" eaLnBrk="1" latinLnBrk="0" hangingPunct="1">
              <a:lnSpc>
                <a:spcPct val="120000"/>
              </a:lnSpc>
              <a:spcBef>
                <a:spcPts val="500"/>
              </a:spcBef>
              <a:buSzPct val="87000"/>
              <a:buFont typeface="Arial" panose="020B0604020202020204" pitchFamily="34" charset="0"/>
              <a:buChar char="•"/>
              <a:defRPr sz="1800" kern="1200">
                <a:solidFill>
                  <a:schemeClr val="tx1"/>
                </a:solidFill>
                <a:latin typeface="+mn-lt"/>
                <a:ea typeface="+mn-ea"/>
                <a:cs typeface="+mn-cs"/>
              </a:defRPr>
            </a:lvl2pPr>
            <a:lvl3pPr marL="731520" indent="-228600" algn="l" defTabSz="914400" rtl="0" eaLnBrk="1" latinLnBrk="0" hangingPunct="1">
              <a:lnSpc>
                <a:spcPct val="120000"/>
              </a:lnSpc>
              <a:spcBef>
                <a:spcPts val="500"/>
              </a:spcBef>
              <a:buSzPct val="87000"/>
              <a:buFont typeface="Arial" panose="020B0604020202020204" pitchFamily="34" charset="0"/>
              <a:buChar char="•"/>
              <a:defRPr sz="1600" kern="1200">
                <a:solidFill>
                  <a:schemeClr val="tx1"/>
                </a:solidFill>
                <a:latin typeface="+mn-lt"/>
                <a:ea typeface="+mn-ea"/>
                <a:cs typeface="+mn-cs"/>
              </a:defRPr>
            </a:lvl3pPr>
            <a:lvl4pPr marL="1051560" indent="-28575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4pPr>
            <a:lvl5pPr marL="1298448" indent="-228600" algn="l" defTabSz="914400" rtl="0" eaLnBrk="1" latinLnBrk="0" hangingPunct="1">
              <a:lnSpc>
                <a:spcPct val="120000"/>
              </a:lnSpc>
              <a:spcBef>
                <a:spcPts val="500"/>
              </a:spcBef>
              <a:buSzPct val="87000"/>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p:txBody>
      </p:sp>
    </p:spTree>
    <p:extLst>
      <p:ext uri="{BB962C8B-B14F-4D97-AF65-F5344CB8AC3E}">
        <p14:creationId xmlns:p14="http://schemas.microsoft.com/office/powerpoint/2010/main" val="2271196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grpId="0" nodeType="clickEffect" nodePh="1">
                                  <p:stCondLst>
                                    <p:cond delay="0"/>
                                  </p:stCondLst>
                                  <p:endCondLst>
                                    <p:cond evt="begin" delay="0">
                                      <p:tn val="10"/>
                                    </p:cond>
                                  </p:endCondLst>
                                  <p:childTnLst>
                                    <p:set>
                                      <p:cBhvr>
                                        <p:cTn id="11" dur="1" fill="hold">
                                          <p:stCondLst>
                                            <p:cond delay="0"/>
                                          </p:stCondLst>
                                        </p:cTn>
                                        <p:tgtEl>
                                          <p:spTgt spid="10"/>
                                        </p:tgtEl>
                                        <p:attrNameLst>
                                          <p:attrName>style.visibility</p:attrName>
                                        </p:attrNameLst>
                                      </p:cBhvr>
                                      <p:to>
                                        <p:strVal val="visible"/>
                                      </p:to>
                                    </p:set>
                                    <p:anim calcmode="lin" valueType="num">
                                      <p:cBhvr additive="base">
                                        <p:cTn id="12" dur="500" fill="hold"/>
                                        <p:tgtEl>
                                          <p:spTgt spid="10"/>
                                        </p:tgtEl>
                                        <p:attrNameLst>
                                          <p:attrName>ppt_x</p:attrName>
                                        </p:attrNameLst>
                                      </p:cBhvr>
                                      <p:tavLst>
                                        <p:tav tm="0">
                                          <p:val>
                                            <p:strVal val="#ppt_x"/>
                                          </p:val>
                                        </p:tav>
                                        <p:tav tm="100000">
                                          <p:val>
                                            <p:strVal val="#ppt_x"/>
                                          </p:val>
                                        </p:tav>
                                      </p:tavLst>
                                    </p:anim>
                                    <p:anim calcmode="lin" valueType="num">
                                      <p:cBhvr additive="base">
                                        <p:cTn id="13"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 calcmode="lin" valueType="num">
                                      <p:cBhvr additive="base">
                                        <p:cTn id="18" dur="500" fill="hold"/>
                                        <p:tgtEl>
                                          <p:spTgt spid="11"/>
                                        </p:tgtEl>
                                        <p:attrNameLst>
                                          <p:attrName>ppt_x</p:attrName>
                                        </p:attrNameLst>
                                      </p:cBhvr>
                                      <p:tavLst>
                                        <p:tav tm="0">
                                          <p:val>
                                            <p:strVal val="#ppt_x"/>
                                          </p:val>
                                        </p:tav>
                                        <p:tav tm="100000">
                                          <p:val>
                                            <p:strVal val="#ppt_x"/>
                                          </p:val>
                                        </p:tav>
                                      </p:tavLst>
                                    </p:anim>
                                    <p:anim calcmode="lin" valueType="num">
                                      <p:cBhvr additive="base">
                                        <p:cTn id="19"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1" grpId="0"/>
      <p:bldP spid="10"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1C9703-906C-592B-AEB8-0D98F563D501}"/>
              </a:ext>
            </a:extLst>
          </p:cNvPr>
          <p:cNvSpPr>
            <a:spLocks noGrp="1"/>
          </p:cNvSpPr>
          <p:nvPr>
            <p:ph type="title"/>
          </p:nvPr>
        </p:nvSpPr>
        <p:spPr>
          <a:xfrm>
            <a:off x="640079" y="201562"/>
            <a:ext cx="10890929" cy="1097280"/>
          </a:xfrm>
        </p:spPr>
        <p:txBody>
          <a:bodyPr/>
          <a:lstStyle/>
          <a:p>
            <a:r>
              <a:rPr lang="en-GB" dirty="0"/>
              <a:t>Results – Transformation Rules</a:t>
            </a:r>
            <a:endParaRPr lang="en-IN" dirty="0"/>
          </a:p>
        </p:txBody>
      </p:sp>
      <p:pic>
        <p:nvPicPr>
          <p:cNvPr id="4" name="Picture 3" descr="A close-up of a diagram&#10;&#10;AI-generated content may be incorrect.">
            <a:extLst>
              <a:ext uri="{FF2B5EF4-FFF2-40B4-BE49-F238E27FC236}">
                <a16:creationId xmlns:a16="http://schemas.microsoft.com/office/drawing/2014/main" id="{54DEEB7B-804B-26F2-A9BA-8F9D092063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957211"/>
            <a:ext cx="10890644" cy="4900790"/>
          </a:xfrm>
          <a:prstGeom prst="rect">
            <a:avLst/>
          </a:prstGeom>
        </p:spPr>
      </p:pic>
      <p:sp>
        <p:nvSpPr>
          <p:cNvPr id="3" name="Content Placeholder 2">
            <a:extLst>
              <a:ext uri="{FF2B5EF4-FFF2-40B4-BE49-F238E27FC236}">
                <a16:creationId xmlns:a16="http://schemas.microsoft.com/office/drawing/2014/main" id="{1516960C-FA09-FF2B-9271-8FAC3A45E62C}"/>
              </a:ext>
            </a:extLst>
          </p:cNvPr>
          <p:cNvSpPr>
            <a:spLocks noGrp="1"/>
          </p:cNvSpPr>
          <p:nvPr>
            <p:ph idx="1"/>
          </p:nvPr>
        </p:nvSpPr>
        <p:spPr>
          <a:xfrm>
            <a:off x="7877869" y="201562"/>
            <a:ext cx="4314131" cy="4900790"/>
          </a:xfrm>
        </p:spPr>
        <p:txBody>
          <a:bodyPr/>
          <a:lstStyle/>
          <a:p>
            <a:r>
              <a:rPr lang="en-GB" dirty="0"/>
              <a:t>However, the same accuracy is not reflected in the transformation rules!</a:t>
            </a:r>
          </a:p>
          <a:p>
            <a:r>
              <a:rPr lang="en-GB" dirty="0"/>
              <a:t>Most transformation rules are wrong (either they are in the wrong order, or totally wrong)!</a:t>
            </a:r>
            <a:endParaRPr lang="en-IN" dirty="0"/>
          </a:p>
        </p:txBody>
      </p:sp>
    </p:spTree>
    <p:extLst>
      <p:ext uri="{BB962C8B-B14F-4D97-AF65-F5344CB8AC3E}">
        <p14:creationId xmlns:p14="http://schemas.microsoft.com/office/powerpoint/2010/main" val="8578633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0943F-094E-57A9-5F24-71F20BED5677}"/>
            </a:ext>
          </a:extLst>
        </p:cNvPr>
        <p:cNvGrpSpPr/>
        <p:nvPr/>
      </p:nvGrpSpPr>
      <p:grpSpPr>
        <a:xfrm>
          <a:off x="0" y="0"/>
          <a:ext cx="0" cy="0"/>
          <a:chOff x="0" y="0"/>
          <a:chExt cx="0" cy="0"/>
        </a:xfrm>
      </p:grpSpPr>
      <p:pic>
        <p:nvPicPr>
          <p:cNvPr id="6" name="Picture 5" descr="A diagram of a diagram&#10;&#10;AI-generated content may be incorrect.">
            <a:extLst>
              <a:ext uri="{FF2B5EF4-FFF2-40B4-BE49-F238E27FC236}">
                <a16:creationId xmlns:a16="http://schemas.microsoft.com/office/drawing/2014/main" id="{1CB45AAA-8E66-C561-50CD-B2735A02D3B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8088"/>
            <a:ext cx="10786959" cy="6839912"/>
          </a:xfrm>
          <a:prstGeom prst="rect">
            <a:avLst/>
          </a:prstGeom>
        </p:spPr>
      </p:pic>
      <p:sp>
        <p:nvSpPr>
          <p:cNvPr id="2" name="Title 1">
            <a:extLst>
              <a:ext uri="{FF2B5EF4-FFF2-40B4-BE49-F238E27FC236}">
                <a16:creationId xmlns:a16="http://schemas.microsoft.com/office/drawing/2014/main" id="{C2519790-4979-BB3E-6C4A-65CF1E921E18}"/>
              </a:ext>
            </a:extLst>
          </p:cNvPr>
          <p:cNvSpPr>
            <a:spLocks noGrp="1"/>
          </p:cNvSpPr>
          <p:nvPr>
            <p:ph type="title"/>
          </p:nvPr>
        </p:nvSpPr>
        <p:spPr>
          <a:xfrm>
            <a:off x="5160883" y="88873"/>
            <a:ext cx="7031117" cy="933905"/>
          </a:xfrm>
        </p:spPr>
        <p:txBody>
          <a:bodyPr vert="horz" lIns="91440" tIns="45720" rIns="91440" bIns="45720" rtlCol="0" anchor="b">
            <a:normAutofit/>
          </a:bodyPr>
          <a:lstStyle/>
          <a:p>
            <a:pPr algn="ctr"/>
            <a:r>
              <a:rPr lang="en-US" sz="4400" dirty="0"/>
              <a:t>Alternate Program Flow</a:t>
            </a:r>
          </a:p>
        </p:txBody>
      </p:sp>
    </p:spTree>
    <p:extLst>
      <p:ext uri="{BB962C8B-B14F-4D97-AF65-F5344CB8AC3E}">
        <p14:creationId xmlns:p14="http://schemas.microsoft.com/office/powerpoint/2010/main" val="41348959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DBDA151C-5770-45E4-AAFF-59E7F40386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99FDB15-0AA9-DEDB-C1ED-18264E35F707}"/>
              </a:ext>
            </a:extLst>
          </p:cNvPr>
          <p:cNvSpPr>
            <a:spLocks noGrp="1"/>
          </p:cNvSpPr>
          <p:nvPr>
            <p:ph type="title"/>
          </p:nvPr>
        </p:nvSpPr>
        <p:spPr>
          <a:xfrm>
            <a:off x="672254" y="328865"/>
            <a:ext cx="10847494" cy="1171069"/>
          </a:xfrm>
        </p:spPr>
        <p:txBody>
          <a:bodyPr anchor="t">
            <a:normAutofit/>
          </a:bodyPr>
          <a:lstStyle/>
          <a:p>
            <a:r>
              <a:rPr lang="en-GB" dirty="0"/>
              <a:t>Advantages of Alternate Program Flow</a:t>
            </a:r>
            <a:endParaRPr lang="en-IN" dirty="0"/>
          </a:p>
        </p:txBody>
      </p:sp>
      <p:pic>
        <p:nvPicPr>
          <p:cNvPr id="8" name="Picture 7" descr="A diagram of calories in calories&#10;&#10;AI-generated content may be incorrect.">
            <a:extLst>
              <a:ext uri="{FF2B5EF4-FFF2-40B4-BE49-F238E27FC236}">
                <a16:creationId xmlns:a16="http://schemas.microsoft.com/office/drawing/2014/main" id="{AE4CDE92-73EA-AAFF-D021-FE5003C0B7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2710" y="1499934"/>
            <a:ext cx="6663697" cy="3748329"/>
          </a:xfrm>
          <a:prstGeom prst="rect">
            <a:avLst/>
          </a:prstGeom>
        </p:spPr>
      </p:pic>
      <p:sp>
        <p:nvSpPr>
          <p:cNvPr id="3" name="Content Placeholder 2">
            <a:extLst>
              <a:ext uri="{FF2B5EF4-FFF2-40B4-BE49-F238E27FC236}">
                <a16:creationId xmlns:a16="http://schemas.microsoft.com/office/drawing/2014/main" id="{53E703B5-4B88-0123-8849-08B34853E86B}"/>
              </a:ext>
            </a:extLst>
          </p:cNvPr>
          <p:cNvSpPr>
            <a:spLocks noGrp="1"/>
          </p:cNvSpPr>
          <p:nvPr>
            <p:ph idx="1"/>
          </p:nvPr>
        </p:nvSpPr>
        <p:spPr>
          <a:xfrm>
            <a:off x="6915149" y="1426869"/>
            <a:ext cx="5012243" cy="4589878"/>
          </a:xfrm>
        </p:spPr>
        <p:txBody>
          <a:bodyPr anchor="t">
            <a:normAutofit/>
          </a:bodyPr>
          <a:lstStyle/>
          <a:p>
            <a:r>
              <a:rPr lang="en-GB" dirty="0"/>
              <a:t>Reduction in LLM calls by a factor of 40%.</a:t>
            </a:r>
          </a:p>
          <a:p>
            <a:r>
              <a:rPr lang="en-GB" dirty="0"/>
              <a:t>Reduces cost and time.</a:t>
            </a:r>
          </a:p>
          <a:p>
            <a:r>
              <a:rPr lang="en-GB" dirty="0"/>
              <a:t>Making an LLM API call takes upwards of 45 seconds, whereas the current Calcite-based deterministic check requires less than 5 seconds.</a:t>
            </a:r>
          </a:p>
          <a:p>
            <a:r>
              <a:rPr lang="en-GB" dirty="0"/>
              <a:t>Lesser tokens are used.</a:t>
            </a:r>
            <a:endParaRPr lang="en-IN" dirty="0"/>
          </a:p>
        </p:txBody>
      </p:sp>
      <p:cxnSp>
        <p:nvCxnSpPr>
          <p:cNvPr id="15" name="Straight Connector 14">
            <a:extLst>
              <a:ext uri="{FF2B5EF4-FFF2-40B4-BE49-F238E27FC236}">
                <a16:creationId xmlns:a16="http://schemas.microsoft.com/office/drawing/2014/main" id="{2EA0F4A6-3CC9-C9E2-BA02-58FA29F7DD8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72253" y="6272784"/>
            <a:ext cx="10847495" cy="0"/>
          </a:xfrm>
          <a:prstGeom prst="line">
            <a:avLst/>
          </a:prstGeom>
          <a:ln w="762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071773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72781-28FE-9C78-42A1-4311C2A61C33}"/>
              </a:ext>
            </a:extLst>
          </p:cNvPr>
          <p:cNvSpPr>
            <a:spLocks noGrp="1"/>
          </p:cNvSpPr>
          <p:nvPr>
            <p:ph type="title"/>
          </p:nvPr>
        </p:nvSpPr>
        <p:spPr>
          <a:xfrm>
            <a:off x="650535" y="190142"/>
            <a:ext cx="10890929" cy="939753"/>
          </a:xfrm>
        </p:spPr>
        <p:txBody>
          <a:bodyPr>
            <a:normAutofit/>
          </a:bodyPr>
          <a:lstStyle/>
          <a:p>
            <a:r>
              <a:rPr lang="en-GB" dirty="0"/>
              <a:t>Future Work</a:t>
            </a:r>
            <a:endParaRPr lang="en-IN" dirty="0"/>
          </a:p>
        </p:txBody>
      </p:sp>
      <p:sp>
        <p:nvSpPr>
          <p:cNvPr id="5" name="Text Placeholder 4">
            <a:extLst>
              <a:ext uri="{FF2B5EF4-FFF2-40B4-BE49-F238E27FC236}">
                <a16:creationId xmlns:a16="http://schemas.microsoft.com/office/drawing/2014/main" id="{C2C4C15E-7911-0BCE-44A6-FBDEA0A98450}"/>
              </a:ext>
            </a:extLst>
          </p:cNvPr>
          <p:cNvSpPr>
            <a:spLocks noGrp="1"/>
          </p:cNvSpPr>
          <p:nvPr>
            <p:ph type="body" idx="1"/>
          </p:nvPr>
        </p:nvSpPr>
        <p:spPr>
          <a:xfrm>
            <a:off x="650535" y="1337959"/>
            <a:ext cx="5212080" cy="695373"/>
          </a:xfrm>
        </p:spPr>
        <p:txBody>
          <a:bodyPr>
            <a:normAutofit lnSpcReduction="10000"/>
          </a:bodyPr>
          <a:lstStyle/>
          <a:p>
            <a:r>
              <a:rPr lang="en-GB" dirty="0"/>
              <a:t>Investigation into Transformations</a:t>
            </a:r>
            <a:endParaRPr lang="en-IN" dirty="0"/>
          </a:p>
        </p:txBody>
      </p:sp>
      <p:graphicFrame>
        <p:nvGraphicFramePr>
          <p:cNvPr id="11" name="Content Placeholder 2">
            <a:extLst>
              <a:ext uri="{FF2B5EF4-FFF2-40B4-BE49-F238E27FC236}">
                <a16:creationId xmlns:a16="http://schemas.microsoft.com/office/drawing/2014/main" id="{4E28B060-D2AC-4A54-CC64-09D010A11817}"/>
              </a:ext>
            </a:extLst>
          </p:cNvPr>
          <p:cNvGraphicFramePr>
            <a:graphicFrameLocks noGrp="1"/>
          </p:cNvGraphicFramePr>
          <p:nvPr>
            <p:ph sz="half" idx="2"/>
          </p:nvPr>
        </p:nvGraphicFramePr>
        <p:xfrm>
          <a:off x="650535" y="2033332"/>
          <a:ext cx="5212080" cy="453461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Text Placeholder 5">
            <a:extLst>
              <a:ext uri="{FF2B5EF4-FFF2-40B4-BE49-F238E27FC236}">
                <a16:creationId xmlns:a16="http://schemas.microsoft.com/office/drawing/2014/main" id="{7747FF72-C93D-0234-13B5-B8CDB796FB2A}"/>
              </a:ext>
            </a:extLst>
          </p:cNvPr>
          <p:cNvSpPr>
            <a:spLocks noGrp="1"/>
          </p:cNvSpPr>
          <p:nvPr>
            <p:ph type="body" sz="quarter" idx="3"/>
          </p:nvPr>
        </p:nvSpPr>
        <p:spPr>
          <a:xfrm>
            <a:off x="6329384" y="1337959"/>
            <a:ext cx="5212080" cy="695373"/>
          </a:xfrm>
        </p:spPr>
        <p:txBody>
          <a:bodyPr>
            <a:normAutofit lnSpcReduction="10000"/>
          </a:bodyPr>
          <a:lstStyle/>
          <a:p>
            <a:r>
              <a:rPr lang="en-GB" dirty="0"/>
              <a:t>Integration of better deterministic methods</a:t>
            </a:r>
            <a:endParaRPr lang="en-IN" dirty="0"/>
          </a:p>
        </p:txBody>
      </p:sp>
      <p:sp>
        <p:nvSpPr>
          <p:cNvPr id="7" name="Content Placeholder 6">
            <a:extLst>
              <a:ext uri="{FF2B5EF4-FFF2-40B4-BE49-F238E27FC236}">
                <a16:creationId xmlns:a16="http://schemas.microsoft.com/office/drawing/2014/main" id="{88DD05B1-ED0B-2B18-C0F9-3FE5909D2E43}"/>
              </a:ext>
            </a:extLst>
          </p:cNvPr>
          <p:cNvSpPr>
            <a:spLocks noGrp="1"/>
          </p:cNvSpPr>
          <p:nvPr>
            <p:ph sz="quarter" idx="4"/>
          </p:nvPr>
        </p:nvSpPr>
        <p:spPr>
          <a:xfrm>
            <a:off x="6329384" y="2033332"/>
            <a:ext cx="5212080" cy="4377300"/>
          </a:xfrm>
        </p:spPr>
        <p:txBody>
          <a:bodyPr>
            <a:normAutofit fontScale="92500" lnSpcReduction="20000"/>
          </a:bodyPr>
          <a:lstStyle/>
          <a:p>
            <a:r>
              <a:rPr lang="en-US" dirty="0"/>
              <a:t>As of right now, we are depending on a heuristic-based system built upon Apache Calcite to deterministically check for query equivalence. </a:t>
            </a:r>
          </a:p>
          <a:p>
            <a:r>
              <a:rPr lang="en-US" dirty="0"/>
              <a:t>Where exist more sophisticated tools, such as </a:t>
            </a:r>
            <a:r>
              <a:rPr lang="en-US" dirty="0" err="1"/>
              <a:t>SQLSolver</a:t>
            </a:r>
            <a:r>
              <a:rPr lang="en-US" dirty="0"/>
              <a:t> that can deterministically equate a wider variety of queries.</a:t>
            </a:r>
          </a:p>
          <a:p>
            <a:r>
              <a:rPr lang="en-US" dirty="0"/>
              <a:t>This reduces our dependence on LLMs and makes the program more deterministic (save on cost &amp; time).</a:t>
            </a:r>
          </a:p>
          <a:p>
            <a:r>
              <a:rPr lang="en-US" dirty="0" err="1"/>
              <a:t>SQLSolver</a:t>
            </a:r>
            <a:r>
              <a:rPr lang="en-US" dirty="0"/>
              <a:t> is unable to equate several kinds of queries, where LLMs shall come in to fill the gap. :</a:t>
            </a:r>
            <a:endParaRPr lang="en-IN" dirty="0"/>
          </a:p>
        </p:txBody>
      </p:sp>
    </p:spTree>
    <p:extLst>
      <p:ext uri="{BB962C8B-B14F-4D97-AF65-F5344CB8AC3E}">
        <p14:creationId xmlns:p14="http://schemas.microsoft.com/office/powerpoint/2010/main" val="2453412970"/>
      </p:ext>
    </p:extLst>
  </p:cSld>
  <p:clrMapOvr>
    <a:masterClrMapping/>
  </p:clrMapOvr>
</p:sld>
</file>

<file path=ppt/theme/theme1.xml><?xml version="1.0" encoding="utf-8"?>
<a:theme xmlns:a="http://schemas.openxmlformats.org/drawingml/2006/main" name="DashVTI">
  <a:themeElements>
    <a:clrScheme name="Custom 6">
      <a:dk1>
        <a:sysClr val="windowText" lastClr="000000"/>
      </a:dk1>
      <a:lt1>
        <a:sysClr val="window" lastClr="FFFFFF"/>
      </a:lt1>
      <a:dk2>
        <a:srgbClr val="0D1C3B"/>
      </a:dk2>
      <a:lt2>
        <a:srgbClr val="F5F2F9"/>
      </a:lt2>
      <a:accent1>
        <a:srgbClr val="1973EB"/>
      </a:accent1>
      <a:accent2>
        <a:srgbClr val="25C8A2"/>
      </a:accent2>
      <a:accent3>
        <a:srgbClr val="BF8ED1"/>
      </a:accent3>
      <a:accent4>
        <a:srgbClr val="FE733C"/>
      </a:accent4>
      <a:accent5>
        <a:srgbClr val="FE5A5A"/>
      </a:accent5>
      <a:accent6>
        <a:srgbClr val="1AC16E"/>
      </a:accent6>
      <a:hlink>
        <a:srgbClr val="1AC16E"/>
      </a:hlink>
      <a:folHlink>
        <a:srgbClr val="00B0F0"/>
      </a:folHlink>
    </a:clrScheme>
    <a:fontScheme name="grandview display">
      <a:majorFont>
        <a:latin typeface="Grandview Display"/>
        <a:ea typeface=""/>
        <a:cs typeface=""/>
      </a:majorFont>
      <a:minorFont>
        <a:latin typeface="Grandview Display"/>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ashVTI" id="{0A75137F-CDEB-4E94-A788-9D255EBE1B91}" vid="{DE9A6A09-5855-45A3-8E99-4290ED24057C}"/>
    </a:ext>
  </a:extLst>
</a:theme>
</file>

<file path=docProps/app.xml><?xml version="1.0" encoding="utf-8"?>
<Properties xmlns="http://schemas.openxmlformats.org/officeDocument/2006/extended-properties" xmlns:vt="http://schemas.openxmlformats.org/officeDocument/2006/docPropsVTypes">
  <Template>Ion</Template>
  <TotalTime>329</TotalTime>
  <Words>811</Words>
  <Application>Microsoft Office PowerPoint</Application>
  <PresentationFormat>Widescreen</PresentationFormat>
  <Paragraphs>67</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Courier New</vt:lpstr>
      <vt:lpstr>Grandview Display</vt:lpstr>
      <vt:lpstr>DashVTI</vt:lpstr>
      <vt:lpstr>Using LLM to  Evaluate  Query Plan Equivalence</vt:lpstr>
      <vt:lpstr>Motivation &amp; Project Objectives</vt:lpstr>
      <vt:lpstr>PostgreSQL</vt:lpstr>
      <vt:lpstr>PowerPoint Presentation</vt:lpstr>
      <vt:lpstr>LITHE</vt:lpstr>
      <vt:lpstr>Current Program Flow</vt:lpstr>
      <vt:lpstr>Results</vt:lpstr>
      <vt:lpstr>Results – Transformation Rules</vt:lpstr>
      <vt:lpstr>Alternate Program Flow</vt:lpstr>
      <vt:lpstr>Advantages of Alternate Program Flow</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Suhas Kamath</dc:creator>
  <cp:lastModifiedBy>Suhas Kamath</cp:lastModifiedBy>
  <cp:revision>46</cp:revision>
  <dcterms:created xsi:type="dcterms:W3CDTF">2025-10-22T05:14:40Z</dcterms:created>
  <dcterms:modified xsi:type="dcterms:W3CDTF">2025-12-03T05:54:53Z</dcterms:modified>
</cp:coreProperties>
</file>