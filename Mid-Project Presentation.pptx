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8D03AB-7DCF-458B-94F6-24A4732ADCD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0DE8648-C1C4-4A06-9CE6-E99C54355B1B}">
      <dgm:prSet/>
      <dgm:spPr/>
      <dgm:t>
        <a:bodyPr/>
        <a:lstStyle/>
        <a:p>
          <a:r>
            <a:rPr lang="en-US"/>
            <a:t>Using LLMs to check if two query plans are equal</a:t>
          </a:r>
        </a:p>
      </dgm:t>
    </dgm:pt>
    <dgm:pt modelId="{EB78DFD0-B07F-480D-9A0A-BB97177F34D9}" type="parTrans" cxnId="{973A10D1-F3D2-4973-A53B-4EC093B0F264}">
      <dgm:prSet/>
      <dgm:spPr/>
      <dgm:t>
        <a:bodyPr/>
        <a:lstStyle/>
        <a:p>
          <a:endParaRPr lang="en-US"/>
        </a:p>
      </dgm:t>
    </dgm:pt>
    <dgm:pt modelId="{EE47E821-99F1-4C74-AB9D-AF19E39875F6}" type="sibTrans" cxnId="{973A10D1-F3D2-4973-A53B-4EC093B0F26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15170B4-980E-458E-AD91-FB0BB8BD240E}">
      <dgm:prSet/>
      <dgm:spPr/>
      <dgm:t>
        <a:bodyPr/>
        <a:lstStyle/>
        <a:p>
          <a:r>
            <a:rPr lang="en-US"/>
            <a:t>If the plans are equal, what are the transformations required to map from Plan A to Plan B?</a:t>
          </a:r>
        </a:p>
      </dgm:t>
    </dgm:pt>
    <dgm:pt modelId="{8FC6D38C-35A9-4B33-B9EC-EBC82B3AA29E}" type="parTrans" cxnId="{DA58733F-5FD8-4974-96CD-79533BF50CF4}">
      <dgm:prSet/>
      <dgm:spPr/>
      <dgm:t>
        <a:bodyPr/>
        <a:lstStyle/>
        <a:p>
          <a:endParaRPr lang="en-US"/>
        </a:p>
      </dgm:t>
    </dgm:pt>
    <dgm:pt modelId="{20D7C167-1E0A-4AD5-BCAD-B51C5645594F}" type="sibTrans" cxnId="{DA58733F-5FD8-4974-96CD-79533BF50CF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3848C1C-FB56-4A70-826F-5C09F799E7BC}">
      <dgm:prSet/>
      <dgm:spPr/>
      <dgm:t>
        <a:bodyPr/>
        <a:lstStyle/>
        <a:p>
          <a:r>
            <a:rPr lang="en-IN"/>
            <a:t>Using Apache Calcite to check the LLM’s response</a:t>
          </a:r>
          <a:endParaRPr lang="en-US"/>
        </a:p>
      </dgm:t>
    </dgm:pt>
    <dgm:pt modelId="{B6DB02FE-BD48-4B41-90A2-3DC7EB2201AE}" type="parTrans" cxnId="{08C3F383-F6ED-4E17-83D2-E7AD8C495F21}">
      <dgm:prSet/>
      <dgm:spPr/>
      <dgm:t>
        <a:bodyPr/>
        <a:lstStyle/>
        <a:p>
          <a:endParaRPr lang="en-US"/>
        </a:p>
      </dgm:t>
    </dgm:pt>
    <dgm:pt modelId="{EDBF02F9-6E7B-4ACB-9AD5-F4AE89390288}" type="sibTrans" cxnId="{08C3F383-F6ED-4E17-83D2-E7AD8C495F2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0669C21-7C39-4604-A649-F26B883BFE84}" type="pres">
      <dgm:prSet presAssocID="{CD8D03AB-7DCF-458B-94F6-24A4732ADCD3}" presName="Name0" presStyleCnt="0">
        <dgm:presLayoutVars>
          <dgm:animLvl val="lvl"/>
          <dgm:resizeHandles val="exact"/>
        </dgm:presLayoutVars>
      </dgm:prSet>
      <dgm:spPr/>
    </dgm:pt>
    <dgm:pt modelId="{2B32D40A-EF54-4A80-844B-CFD1915A6D65}" type="pres">
      <dgm:prSet presAssocID="{40DE8648-C1C4-4A06-9CE6-E99C54355B1B}" presName="compositeNode" presStyleCnt="0">
        <dgm:presLayoutVars>
          <dgm:bulletEnabled val="1"/>
        </dgm:presLayoutVars>
      </dgm:prSet>
      <dgm:spPr/>
    </dgm:pt>
    <dgm:pt modelId="{901BDF0C-8456-4890-AB42-F964FD8F3BDF}" type="pres">
      <dgm:prSet presAssocID="{40DE8648-C1C4-4A06-9CE6-E99C54355B1B}" presName="bgRect" presStyleLbl="alignNode1" presStyleIdx="0" presStyleCnt="3"/>
      <dgm:spPr/>
    </dgm:pt>
    <dgm:pt modelId="{F16EAF8D-9817-4911-B65E-E26BC3997BF2}" type="pres">
      <dgm:prSet presAssocID="{EE47E821-99F1-4C74-AB9D-AF19E39875F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9626AA80-5E29-4BDB-BE46-B2939BB39B8D}" type="pres">
      <dgm:prSet presAssocID="{40DE8648-C1C4-4A06-9CE6-E99C54355B1B}" presName="nodeRect" presStyleLbl="alignNode1" presStyleIdx="0" presStyleCnt="3">
        <dgm:presLayoutVars>
          <dgm:bulletEnabled val="1"/>
        </dgm:presLayoutVars>
      </dgm:prSet>
      <dgm:spPr/>
    </dgm:pt>
    <dgm:pt modelId="{4D1BF5F4-218D-4AC8-A726-C22C90A213AF}" type="pres">
      <dgm:prSet presAssocID="{EE47E821-99F1-4C74-AB9D-AF19E39875F6}" presName="sibTrans" presStyleCnt="0"/>
      <dgm:spPr/>
    </dgm:pt>
    <dgm:pt modelId="{D9C462CA-7FD2-4114-986B-4839F28AC58F}" type="pres">
      <dgm:prSet presAssocID="{915170B4-980E-458E-AD91-FB0BB8BD240E}" presName="compositeNode" presStyleCnt="0">
        <dgm:presLayoutVars>
          <dgm:bulletEnabled val="1"/>
        </dgm:presLayoutVars>
      </dgm:prSet>
      <dgm:spPr/>
    </dgm:pt>
    <dgm:pt modelId="{CBCD870E-F2CF-4436-BA27-F67B05C0969D}" type="pres">
      <dgm:prSet presAssocID="{915170B4-980E-458E-AD91-FB0BB8BD240E}" presName="bgRect" presStyleLbl="alignNode1" presStyleIdx="1" presStyleCnt="3"/>
      <dgm:spPr/>
    </dgm:pt>
    <dgm:pt modelId="{C4D7279E-0923-4338-9CBE-606F09B5FB1C}" type="pres">
      <dgm:prSet presAssocID="{20D7C167-1E0A-4AD5-BCAD-B51C5645594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00F56BF1-B20A-4F81-84D0-8E44229A020A}" type="pres">
      <dgm:prSet presAssocID="{915170B4-980E-458E-AD91-FB0BB8BD240E}" presName="nodeRect" presStyleLbl="alignNode1" presStyleIdx="1" presStyleCnt="3">
        <dgm:presLayoutVars>
          <dgm:bulletEnabled val="1"/>
        </dgm:presLayoutVars>
      </dgm:prSet>
      <dgm:spPr/>
    </dgm:pt>
    <dgm:pt modelId="{AD36FFEE-2E96-4B96-ACAC-9B2AE954DB2D}" type="pres">
      <dgm:prSet presAssocID="{20D7C167-1E0A-4AD5-BCAD-B51C5645594F}" presName="sibTrans" presStyleCnt="0"/>
      <dgm:spPr/>
    </dgm:pt>
    <dgm:pt modelId="{CFAA141D-6CBE-4968-9096-3D76A93E40C0}" type="pres">
      <dgm:prSet presAssocID="{B3848C1C-FB56-4A70-826F-5C09F799E7BC}" presName="compositeNode" presStyleCnt="0">
        <dgm:presLayoutVars>
          <dgm:bulletEnabled val="1"/>
        </dgm:presLayoutVars>
      </dgm:prSet>
      <dgm:spPr/>
    </dgm:pt>
    <dgm:pt modelId="{F0FDA985-2567-47F1-9A5F-7A93C4D9475F}" type="pres">
      <dgm:prSet presAssocID="{B3848C1C-FB56-4A70-826F-5C09F799E7BC}" presName="bgRect" presStyleLbl="alignNode1" presStyleIdx="2" presStyleCnt="3"/>
      <dgm:spPr/>
    </dgm:pt>
    <dgm:pt modelId="{0EF658E1-DED8-41E2-BF37-31A068FB067E}" type="pres">
      <dgm:prSet presAssocID="{EDBF02F9-6E7B-4ACB-9AD5-F4AE8939028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4447B37D-CE69-4FA7-A8C4-2B3190284791}" type="pres">
      <dgm:prSet presAssocID="{B3848C1C-FB56-4A70-826F-5C09F799E7B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7CE1F09-6646-47D5-9D41-B108CB38F336}" type="presOf" srcId="{915170B4-980E-458E-AD91-FB0BB8BD240E}" destId="{00F56BF1-B20A-4F81-84D0-8E44229A020A}" srcOrd="1" destOrd="0" presId="urn:microsoft.com/office/officeart/2016/7/layout/LinearBlockProcessNumbered"/>
    <dgm:cxn modelId="{A261230F-0737-4196-BC5C-8961F36DDAC1}" type="presOf" srcId="{915170B4-980E-458E-AD91-FB0BB8BD240E}" destId="{CBCD870E-F2CF-4436-BA27-F67B05C0969D}" srcOrd="0" destOrd="0" presId="urn:microsoft.com/office/officeart/2016/7/layout/LinearBlockProcessNumbered"/>
    <dgm:cxn modelId="{DA58733F-5FD8-4974-96CD-79533BF50CF4}" srcId="{CD8D03AB-7DCF-458B-94F6-24A4732ADCD3}" destId="{915170B4-980E-458E-AD91-FB0BB8BD240E}" srcOrd="1" destOrd="0" parTransId="{8FC6D38C-35A9-4B33-B9EC-EBC82B3AA29E}" sibTransId="{20D7C167-1E0A-4AD5-BCAD-B51C5645594F}"/>
    <dgm:cxn modelId="{3406357B-7E88-42D3-AC61-087A47744120}" type="presOf" srcId="{B3848C1C-FB56-4A70-826F-5C09F799E7BC}" destId="{F0FDA985-2567-47F1-9A5F-7A93C4D9475F}" srcOrd="0" destOrd="0" presId="urn:microsoft.com/office/officeart/2016/7/layout/LinearBlockProcessNumbered"/>
    <dgm:cxn modelId="{08C3F383-F6ED-4E17-83D2-E7AD8C495F21}" srcId="{CD8D03AB-7DCF-458B-94F6-24A4732ADCD3}" destId="{B3848C1C-FB56-4A70-826F-5C09F799E7BC}" srcOrd="2" destOrd="0" parTransId="{B6DB02FE-BD48-4B41-90A2-3DC7EB2201AE}" sibTransId="{EDBF02F9-6E7B-4ACB-9AD5-F4AE89390288}"/>
    <dgm:cxn modelId="{6693A699-8A92-4D03-BDEB-F0D3FC05A65C}" type="presOf" srcId="{20D7C167-1E0A-4AD5-BCAD-B51C5645594F}" destId="{C4D7279E-0923-4338-9CBE-606F09B5FB1C}" srcOrd="0" destOrd="0" presId="urn:microsoft.com/office/officeart/2016/7/layout/LinearBlockProcessNumbered"/>
    <dgm:cxn modelId="{19AD72A6-D416-4E2A-B849-3C14EE4CA178}" type="presOf" srcId="{EDBF02F9-6E7B-4ACB-9AD5-F4AE89390288}" destId="{0EF658E1-DED8-41E2-BF37-31A068FB067E}" srcOrd="0" destOrd="0" presId="urn:microsoft.com/office/officeart/2016/7/layout/LinearBlockProcessNumbered"/>
    <dgm:cxn modelId="{A0C4C7CD-07D6-4416-929F-5E1D14BD6DF7}" type="presOf" srcId="{40DE8648-C1C4-4A06-9CE6-E99C54355B1B}" destId="{9626AA80-5E29-4BDB-BE46-B2939BB39B8D}" srcOrd="1" destOrd="0" presId="urn:microsoft.com/office/officeart/2016/7/layout/LinearBlockProcessNumbered"/>
    <dgm:cxn modelId="{973A10D1-F3D2-4973-A53B-4EC093B0F264}" srcId="{CD8D03AB-7DCF-458B-94F6-24A4732ADCD3}" destId="{40DE8648-C1C4-4A06-9CE6-E99C54355B1B}" srcOrd="0" destOrd="0" parTransId="{EB78DFD0-B07F-480D-9A0A-BB97177F34D9}" sibTransId="{EE47E821-99F1-4C74-AB9D-AF19E39875F6}"/>
    <dgm:cxn modelId="{ED81E3D5-B5CA-4B92-B8D5-CB9F0D86C065}" type="presOf" srcId="{40DE8648-C1C4-4A06-9CE6-E99C54355B1B}" destId="{901BDF0C-8456-4890-AB42-F964FD8F3BDF}" srcOrd="0" destOrd="0" presId="urn:microsoft.com/office/officeart/2016/7/layout/LinearBlockProcessNumbered"/>
    <dgm:cxn modelId="{DD8F78E0-558F-440B-B6FE-F22BECA1FF00}" type="presOf" srcId="{CD8D03AB-7DCF-458B-94F6-24A4732ADCD3}" destId="{40669C21-7C39-4604-A649-F26B883BFE84}" srcOrd="0" destOrd="0" presId="urn:microsoft.com/office/officeart/2016/7/layout/LinearBlockProcessNumbered"/>
    <dgm:cxn modelId="{D783F5E6-557C-4051-92DE-E2103EF44ED9}" type="presOf" srcId="{B3848C1C-FB56-4A70-826F-5C09F799E7BC}" destId="{4447B37D-CE69-4FA7-A8C4-2B3190284791}" srcOrd="1" destOrd="0" presId="urn:microsoft.com/office/officeart/2016/7/layout/LinearBlockProcessNumbered"/>
    <dgm:cxn modelId="{235FDFF6-D828-4763-8422-1945A2D89CAF}" type="presOf" srcId="{EE47E821-99F1-4C74-AB9D-AF19E39875F6}" destId="{F16EAF8D-9817-4911-B65E-E26BC3997BF2}" srcOrd="0" destOrd="0" presId="urn:microsoft.com/office/officeart/2016/7/layout/LinearBlockProcessNumbered"/>
    <dgm:cxn modelId="{70EF9D6D-716B-4983-B26C-775FB2BC9F3D}" type="presParOf" srcId="{40669C21-7C39-4604-A649-F26B883BFE84}" destId="{2B32D40A-EF54-4A80-844B-CFD1915A6D65}" srcOrd="0" destOrd="0" presId="urn:microsoft.com/office/officeart/2016/7/layout/LinearBlockProcessNumbered"/>
    <dgm:cxn modelId="{7C1D3EF6-9A87-42BD-B630-468E77B4205F}" type="presParOf" srcId="{2B32D40A-EF54-4A80-844B-CFD1915A6D65}" destId="{901BDF0C-8456-4890-AB42-F964FD8F3BDF}" srcOrd="0" destOrd="0" presId="urn:microsoft.com/office/officeart/2016/7/layout/LinearBlockProcessNumbered"/>
    <dgm:cxn modelId="{41B11177-495A-4F26-AED9-2CA3D9E25517}" type="presParOf" srcId="{2B32D40A-EF54-4A80-844B-CFD1915A6D65}" destId="{F16EAF8D-9817-4911-B65E-E26BC3997BF2}" srcOrd="1" destOrd="0" presId="urn:microsoft.com/office/officeart/2016/7/layout/LinearBlockProcessNumbered"/>
    <dgm:cxn modelId="{0934EB90-515B-4F60-A19A-18B73221DDA8}" type="presParOf" srcId="{2B32D40A-EF54-4A80-844B-CFD1915A6D65}" destId="{9626AA80-5E29-4BDB-BE46-B2939BB39B8D}" srcOrd="2" destOrd="0" presId="urn:microsoft.com/office/officeart/2016/7/layout/LinearBlockProcessNumbered"/>
    <dgm:cxn modelId="{9EF380D6-CC90-4696-97B1-BC03918B6D70}" type="presParOf" srcId="{40669C21-7C39-4604-A649-F26B883BFE84}" destId="{4D1BF5F4-218D-4AC8-A726-C22C90A213AF}" srcOrd="1" destOrd="0" presId="urn:microsoft.com/office/officeart/2016/7/layout/LinearBlockProcessNumbered"/>
    <dgm:cxn modelId="{C857AA76-C673-422A-A53D-B5B9AC1DB30A}" type="presParOf" srcId="{40669C21-7C39-4604-A649-F26B883BFE84}" destId="{D9C462CA-7FD2-4114-986B-4839F28AC58F}" srcOrd="2" destOrd="0" presId="urn:microsoft.com/office/officeart/2016/7/layout/LinearBlockProcessNumbered"/>
    <dgm:cxn modelId="{91D01AAB-735F-49D5-B967-9BC04B1F2B3A}" type="presParOf" srcId="{D9C462CA-7FD2-4114-986B-4839F28AC58F}" destId="{CBCD870E-F2CF-4436-BA27-F67B05C0969D}" srcOrd="0" destOrd="0" presId="urn:microsoft.com/office/officeart/2016/7/layout/LinearBlockProcessNumbered"/>
    <dgm:cxn modelId="{52449756-2006-44F9-B6F9-43D2F73DEC03}" type="presParOf" srcId="{D9C462CA-7FD2-4114-986B-4839F28AC58F}" destId="{C4D7279E-0923-4338-9CBE-606F09B5FB1C}" srcOrd="1" destOrd="0" presId="urn:microsoft.com/office/officeart/2016/7/layout/LinearBlockProcessNumbered"/>
    <dgm:cxn modelId="{D6BA81C9-A32D-499E-B3FC-57826CDD40BD}" type="presParOf" srcId="{D9C462CA-7FD2-4114-986B-4839F28AC58F}" destId="{00F56BF1-B20A-4F81-84D0-8E44229A020A}" srcOrd="2" destOrd="0" presId="urn:microsoft.com/office/officeart/2016/7/layout/LinearBlockProcessNumbered"/>
    <dgm:cxn modelId="{B799A15E-8FCB-41C5-AD3C-F55DCFA6E3A2}" type="presParOf" srcId="{40669C21-7C39-4604-A649-F26B883BFE84}" destId="{AD36FFEE-2E96-4B96-ACAC-9B2AE954DB2D}" srcOrd="3" destOrd="0" presId="urn:microsoft.com/office/officeart/2016/7/layout/LinearBlockProcessNumbered"/>
    <dgm:cxn modelId="{917E4AE4-06BF-440B-9670-5DA1CC3468FC}" type="presParOf" srcId="{40669C21-7C39-4604-A649-F26B883BFE84}" destId="{CFAA141D-6CBE-4968-9096-3D76A93E40C0}" srcOrd="4" destOrd="0" presId="urn:microsoft.com/office/officeart/2016/7/layout/LinearBlockProcessNumbered"/>
    <dgm:cxn modelId="{1B4096DF-D8D5-4F83-AC46-266BD08476CA}" type="presParOf" srcId="{CFAA141D-6CBE-4968-9096-3D76A93E40C0}" destId="{F0FDA985-2567-47F1-9A5F-7A93C4D9475F}" srcOrd="0" destOrd="0" presId="urn:microsoft.com/office/officeart/2016/7/layout/LinearBlockProcessNumbered"/>
    <dgm:cxn modelId="{5AC38944-4BC8-4B4E-9472-00040E270AA0}" type="presParOf" srcId="{CFAA141D-6CBE-4968-9096-3D76A93E40C0}" destId="{0EF658E1-DED8-41E2-BF37-31A068FB067E}" srcOrd="1" destOrd="0" presId="urn:microsoft.com/office/officeart/2016/7/layout/LinearBlockProcessNumbered"/>
    <dgm:cxn modelId="{2A40A174-94A9-469E-9DC2-59EB3BA37C50}" type="presParOf" srcId="{CFAA141D-6CBE-4968-9096-3D76A93E40C0}" destId="{4447B37D-CE69-4FA7-A8C4-2B319028479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FDE53-0F4C-4DC4-8800-8F40B4E903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EFD5ABF-2543-4D08-AAAA-ADF21F3ED5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require query plans as input for the LLM.</a:t>
          </a:r>
        </a:p>
      </dgm:t>
    </dgm:pt>
    <dgm:pt modelId="{BDDECC53-AF25-47A0-9447-B2E0A4612C28}" type="parTrans" cxnId="{48C3602B-A297-4374-A5DA-BBD3B31A4555}">
      <dgm:prSet/>
      <dgm:spPr/>
      <dgm:t>
        <a:bodyPr/>
        <a:lstStyle/>
        <a:p>
          <a:endParaRPr lang="en-US"/>
        </a:p>
      </dgm:t>
    </dgm:pt>
    <dgm:pt modelId="{2EB5EB4C-C0FF-4BC1-8F7A-89E1FAA0D44C}" type="sibTrans" cxnId="{48C3602B-A297-4374-A5DA-BBD3B31A45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9DD66C-BF4B-436A-B5ED-8D1F58DE9C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We have used the EXPLAIN JSON command in PostgreSQL to obtain the detailed query plan in JSON format.</a:t>
          </a:r>
        </a:p>
      </dgm:t>
    </dgm:pt>
    <dgm:pt modelId="{E43C7069-AB80-4872-9047-D306914802C9}" type="parTrans" cxnId="{A20B5656-B382-4D76-BA5C-DB7E0EA75D1A}">
      <dgm:prSet/>
      <dgm:spPr/>
      <dgm:t>
        <a:bodyPr/>
        <a:lstStyle/>
        <a:p>
          <a:endParaRPr lang="en-US"/>
        </a:p>
      </dgm:t>
    </dgm:pt>
    <dgm:pt modelId="{4D53D419-9CC3-45C5-8402-2F64E902B731}" type="sibTrans" cxnId="{A20B5656-B382-4D76-BA5C-DB7E0EA75D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C64931-AC8E-4542-A6E2-B679566041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then “clean” the query plan to remove system-specific information such as planning time, execution time, no. of disk blocks read, etc.</a:t>
          </a:r>
        </a:p>
      </dgm:t>
    </dgm:pt>
    <dgm:pt modelId="{BBAD090A-4F33-43AC-AA04-706C315E3D56}" type="parTrans" cxnId="{FB91AC5C-225E-472A-9BAF-F034A4405997}">
      <dgm:prSet/>
      <dgm:spPr/>
      <dgm:t>
        <a:bodyPr/>
        <a:lstStyle/>
        <a:p>
          <a:endParaRPr lang="en-US"/>
        </a:p>
      </dgm:t>
    </dgm:pt>
    <dgm:pt modelId="{A698442B-73DF-4698-89C1-5DEE9ECBBA53}" type="sibTrans" cxnId="{FB91AC5C-225E-472A-9BAF-F034A4405997}">
      <dgm:prSet/>
      <dgm:spPr/>
      <dgm:t>
        <a:bodyPr/>
        <a:lstStyle/>
        <a:p>
          <a:endParaRPr lang="en-US"/>
        </a:p>
      </dgm:t>
    </dgm:pt>
    <dgm:pt modelId="{83D3E881-ACB9-4678-A554-99A5EB1D995A}" type="pres">
      <dgm:prSet presAssocID="{DB7FDE53-0F4C-4DC4-8800-8F40B4E903DC}" presName="root" presStyleCnt="0">
        <dgm:presLayoutVars>
          <dgm:dir/>
          <dgm:resizeHandles val="exact"/>
        </dgm:presLayoutVars>
      </dgm:prSet>
      <dgm:spPr/>
    </dgm:pt>
    <dgm:pt modelId="{27D6B434-B6A0-4F07-8A15-7629CA64C5EA}" type="pres">
      <dgm:prSet presAssocID="{1EFD5ABF-2543-4D08-AAAA-ADF21F3ED538}" presName="compNode" presStyleCnt="0"/>
      <dgm:spPr/>
    </dgm:pt>
    <dgm:pt modelId="{593DA778-CC1C-4EB5-A569-23ED6987B85C}" type="pres">
      <dgm:prSet presAssocID="{1EFD5ABF-2543-4D08-AAAA-ADF21F3ED5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4E53D06-E5BE-48E8-9F60-6BB1CD74D491}" type="pres">
      <dgm:prSet presAssocID="{1EFD5ABF-2543-4D08-AAAA-ADF21F3ED538}" presName="spaceRect" presStyleCnt="0"/>
      <dgm:spPr/>
    </dgm:pt>
    <dgm:pt modelId="{6EF2B11E-10C6-4806-86DC-8B638F69FCEA}" type="pres">
      <dgm:prSet presAssocID="{1EFD5ABF-2543-4D08-AAAA-ADF21F3ED538}" presName="textRect" presStyleLbl="revTx" presStyleIdx="0" presStyleCnt="3">
        <dgm:presLayoutVars>
          <dgm:chMax val="1"/>
          <dgm:chPref val="1"/>
        </dgm:presLayoutVars>
      </dgm:prSet>
      <dgm:spPr/>
    </dgm:pt>
    <dgm:pt modelId="{F6451DF4-2171-4E1B-96E6-EDFA4E7DA973}" type="pres">
      <dgm:prSet presAssocID="{2EB5EB4C-C0FF-4BC1-8F7A-89E1FAA0D44C}" presName="sibTrans" presStyleCnt="0"/>
      <dgm:spPr/>
    </dgm:pt>
    <dgm:pt modelId="{EA473BDE-3EA2-4BBF-8CD9-9558C553FE19}" type="pres">
      <dgm:prSet presAssocID="{A99DD66C-BF4B-436A-B5ED-8D1F58DE9C6D}" presName="compNode" presStyleCnt="0"/>
      <dgm:spPr/>
    </dgm:pt>
    <dgm:pt modelId="{3DFC030B-141F-4924-B9C5-248EE751BCD9}" type="pres">
      <dgm:prSet presAssocID="{A99DD66C-BF4B-436A-B5ED-8D1F58DE9C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6B831F-7319-42BD-8617-E5DD361D1981}" type="pres">
      <dgm:prSet presAssocID="{A99DD66C-BF4B-436A-B5ED-8D1F58DE9C6D}" presName="spaceRect" presStyleCnt="0"/>
      <dgm:spPr/>
    </dgm:pt>
    <dgm:pt modelId="{67B9EBBD-77E3-4226-996E-0FF4DE98CF04}" type="pres">
      <dgm:prSet presAssocID="{A99DD66C-BF4B-436A-B5ED-8D1F58DE9C6D}" presName="textRect" presStyleLbl="revTx" presStyleIdx="1" presStyleCnt="3">
        <dgm:presLayoutVars>
          <dgm:chMax val="1"/>
          <dgm:chPref val="1"/>
        </dgm:presLayoutVars>
      </dgm:prSet>
      <dgm:spPr/>
    </dgm:pt>
    <dgm:pt modelId="{795B3F65-EC0A-43B6-BF92-0DBD868B22DC}" type="pres">
      <dgm:prSet presAssocID="{4D53D419-9CC3-45C5-8402-2F64E902B731}" presName="sibTrans" presStyleCnt="0"/>
      <dgm:spPr/>
    </dgm:pt>
    <dgm:pt modelId="{D0E42033-A8D9-4F4E-A8E9-F240891627BD}" type="pres">
      <dgm:prSet presAssocID="{32C64931-AC8E-4542-A6E2-B679566041FC}" presName="compNode" presStyleCnt="0"/>
      <dgm:spPr/>
    </dgm:pt>
    <dgm:pt modelId="{65458E59-0F5F-4E40-9A67-9CDB82D82F98}" type="pres">
      <dgm:prSet presAssocID="{32C64931-AC8E-4542-A6E2-B679566041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DBE4851-8932-4279-AA17-C3F214FB92FF}" type="pres">
      <dgm:prSet presAssocID="{32C64931-AC8E-4542-A6E2-B679566041FC}" presName="spaceRect" presStyleCnt="0"/>
      <dgm:spPr/>
    </dgm:pt>
    <dgm:pt modelId="{8FF78F7D-5EB7-4015-8295-175E838DDC1F}" type="pres">
      <dgm:prSet presAssocID="{32C64931-AC8E-4542-A6E2-B679566041F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B8CA1B-C100-4FF2-841B-FCE6B5170E02}" type="presOf" srcId="{32C64931-AC8E-4542-A6E2-B679566041FC}" destId="{8FF78F7D-5EB7-4015-8295-175E838DDC1F}" srcOrd="0" destOrd="0" presId="urn:microsoft.com/office/officeart/2018/2/layout/IconLabelList"/>
    <dgm:cxn modelId="{48C3602B-A297-4374-A5DA-BBD3B31A4555}" srcId="{DB7FDE53-0F4C-4DC4-8800-8F40B4E903DC}" destId="{1EFD5ABF-2543-4D08-AAAA-ADF21F3ED538}" srcOrd="0" destOrd="0" parTransId="{BDDECC53-AF25-47A0-9447-B2E0A4612C28}" sibTransId="{2EB5EB4C-C0FF-4BC1-8F7A-89E1FAA0D44C}"/>
    <dgm:cxn modelId="{FB91AC5C-225E-472A-9BAF-F034A4405997}" srcId="{DB7FDE53-0F4C-4DC4-8800-8F40B4E903DC}" destId="{32C64931-AC8E-4542-A6E2-B679566041FC}" srcOrd="2" destOrd="0" parTransId="{BBAD090A-4F33-43AC-AA04-706C315E3D56}" sibTransId="{A698442B-73DF-4698-89C1-5DEE9ECBBA53}"/>
    <dgm:cxn modelId="{2C836443-B613-4EF5-8889-B06A89DA0D3C}" type="presOf" srcId="{A99DD66C-BF4B-436A-B5ED-8D1F58DE9C6D}" destId="{67B9EBBD-77E3-4226-996E-0FF4DE98CF04}" srcOrd="0" destOrd="0" presId="urn:microsoft.com/office/officeart/2018/2/layout/IconLabelList"/>
    <dgm:cxn modelId="{F1D16348-14F2-4602-9697-00D861A58993}" type="presOf" srcId="{DB7FDE53-0F4C-4DC4-8800-8F40B4E903DC}" destId="{83D3E881-ACB9-4678-A554-99A5EB1D995A}" srcOrd="0" destOrd="0" presId="urn:microsoft.com/office/officeart/2018/2/layout/IconLabelList"/>
    <dgm:cxn modelId="{A20B5656-B382-4D76-BA5C-DB7E0EA75D1A}" srcId="{DB7FDE53-0F4C-4DC4-8800-8F40B4E903DC}" destId="{A99DD66C-BF4B-436A-B5ED-8D1F58DE9C6D}" srcOrd="1" destOrd="0" parTransId="{E43C7069-AB80-4872-9047-D306914802C9}" sibTransId="{4D53D419-9CC3-45C5-8402-2F64E902B731}"/>
    <dgm:cxn modelId="{9ECAECB5-8F91-4A66-968A-3665659C8B57}" type="presOf" srcId="{1EFD5ABF-2543-4D08-AAAA-ADF21F3ED538}" destId="{6EF2B11E-10C6-4806-86DC-8B638F69FCEA}" srcOrd="0" destOrd="0" presId="urn:microsoft.com/office/officeart/2018/2/layout/IconLabelList"/>
    <dgm:cxn modelId="{C8B2C1FD-F733-4CCE-B28E-9E45DF03FC1C}" type="presParOf" srcId="{83D3E881-ACB9-4678-A554-99A5EB1D995A}" destId="{27D6B434-B6A0-4F07-8A15-7629CA64C5EA}" srcOrd="0" destOrd="0" presId="urn:microsoft.com/office/officeart/2018/2/layout/IconLabelList"/>
    <dgm:cxn modelId="{6D860A25-65DA-4BA2-990D-EDEF93133950}" type="presParOf" srcId="{27D6B434-B6A0-4F07-8A15-7629CA64C5EA}" destId="{593DA778-CC1C-4EB5-A569-23ED6987B85C}" srcOrd="0" destOrd="0" presId="urn:microsoft.com/office/officeart/2018/2/layout/IconLabelList"/>
    <dgm:cxn modelId="{530A2882-90F2-47B6-9994-E8B6285BEE59}" type="presParOf" srcId="{27D6B434-B6A0-4F07-8A15-7629CA64C5EA}" destId="{94E53D06-E5BE-48E8-9F60-6BB1CD74D491}" srcOrd="1" destOrd="0" presId="urn:microsoft.com/office/officeart/2018/2/layout/IconLabelList"/>
    <dgm:cxn modelId="{8F93238C-8A07-47F4-9D16-FE7180DA7C89}" type="presParOf" srcId="{27D6B434-B6A0-4F07-8A15-7629CA64C5EA}" destId="{6EF2B11E-10C6-4806-86DC-8B638F69FCEA}" srcOrd="2" destOrd="0" presId="urn:microsoft.com/office/officeart/2018/2/layout/IconLabelList"/>
    <dgm:cxn modelId="{6789BF37-09AF-47FA-A7DF-1E7C693C31CD}" type="presParOf" srcId="{83D3E881-ACB9-4678-A554-99A5EB1D995A}" destId="{F6451DF4-2171-4E1B-96E6-EDFA4E7DA973}" srcOrd="1" destOrd="0" presId="urn:microsoft.com/office/officeart/2018/2/layout/IconLabelList"/>
    <dgm:cxn modelId="{CB65E914-2BE6-4078-ADB8-02D00E2C8FFD}" type="presParOf" srcId="{83D3E881-ACB9-4678-A554-99A5EB1D995A}" destId="{EA473BDE-3EA2-4BBF-8CD9-9558C553FE19}" srcOrd="2" destOrd="0" presId="urn:microsoft.com/office/officeart/2018/2/layout/IconLabelList"/>
    <dgm:cxn modelId="{5A4D1F24-AB9E-4DDD-AF61-58D51F57EF84}" type="presParOf" srcId="{EA473BDE-3EA2-4BBF-8CD9-9558C553FE19}" destId="{3DFC030B-141F-4924-B9C5-248EE751BCD9}" srcOrd="0" destOrd="0" presId="urn:microsoft.com/office/officeart/2018/2/layout/IconLabelList"/>
    <dgm:cxn modelId="{D33D6D3A-7D77-4BCC-B04C-9161901790B3}" type="presParOf" srcId="{EA473BDE-3EA2-4BBF-8CD9-9558C553FE19}" destId="{EC6B831F-7319-42BD-8617-E5DD361D1981}" srcOrd="1" destOrd="0" presId="urn:microsoft.com/office/officeart/2018/2/layout/IconLabelList"/>
    <dgm:cxn modelId="{A7684C18-1027-4F14-9831-93B6B5E1BA17}" type="presParOf" srcId="{EA473BDE-3EA2-4BBF-8CD9-9558C553FE19}" destId="{67B9EBBD-77E3-4226-996E-0FF4DE98CF04}" srcOrd="2" destOrd="0" presId="urn:microsoft.com/office/officeart/2018/2/layout/IconLabelList"/>
    <dgm:cxn modelId="{4B708FCF-C251-4E84-8BEB-D7CE76B26B60}" type="presParOf" srcId="{83D3E881-ACB9-4678-A554-99A5EB1D995A}" destId="{795B3F65-EC0A-43B6-BF92-0DBD868B22DC}" srcOrd="3" destOrd="0" presId="urn:microsoft.com/office/officeart/2018/2/layout/IconLabelList"/>
    <dgm:cxn modelId="{A9B5840B-929F-4081-A981-90ED70177E42}" type="presParOf" srcId="{83D3E881-ACB9-4678-A554-99A5EB1D995A}" destId="{D0E42033-A8D9-4F4E-A8E9-F240891627BD}" srcOrd="4" destOrd="0" presId="urn:microsoft.com/office/officeart/2018/2/layout/IconLabelList"/>
    <dgm:cxn modelId="{FD728E7E-FB2D-45A1-888F-D5C932EB6D1C}" type="presParOf" srcId="{D0E42033-A8D9-4F4E-A8E9-F240891627BD}" destId="{65458E59-0F5F-4E40-9A67-9CDB82D82F98}" srcOrd="0" destOrd="0" presId="urn:microsoft.com/office/officeart/2018/2/layout/IconLabelList"/>
    <dgm:cxn modelId="{A19FC108-2E6F-459B-BED1-12C74023DA6D}" type="presParOf" srcId="{D0E42033-A8D9-4F4E-A8E9-F240891627BD}" destId="{BDBE4851-8932-4279-AA17-C3F214FB92FF}" srcOrd="1" destOrd="0" presId="urn:microsoft.com/office/officeart/2018/2/layout/IconLabelList"/>
    <dgm:cxn modelId="{4A4C6832-6378-4C8D-ADF6-5CFE6367C818}" type="presParOf" srcId="{D0E42033-A8D9-4F4E-A8E9-F240891627BD}" destId="{8FF78F7D-5EB7-4015-8295-175E838DDC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BDF0C-8456-4890-AB42-F964FD8F3BDF}">
      <dsp:nvSpPr>
        <dsp:cNvPr id="0" name=""/>
        <dsp:cNvSpPr/>
      </dsp:nvSpPr>
      <dsp:spPr>
        <a:xfrm>
          <a:off x="850" y="0"/>
          <a:ext cx="3445958" cy="37388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LLMs to check if two query plans are equal</a:t>
          </a:r>
        </a:p>
      </dsp:txBody>
      <dsp:txXfrm>
        <a:off x="850" y="1495545"/>
        <a:ext cx="3445958" cy="2243317"/>
      </dsp:txXfrm>
    </dsp:sp>
    <dsp:sp modelId="{F16EAF8D-9817-4911-B65E-E26BC3997BF2}">
      <dsp:nvSpPr>
        <dsp:cNvPr id="0" name=""/>
        <dsp:cNvSpPr/>
      </dsp:nvSpPr>
      <dsp:spPr>
        <a:xfrm>
          <a:off x="85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0" y="0"/>
        <a:ext cx="3445958" cy="1495545"/>
      </dsp:txXfrm>
    </dsp:sp>
    <dsp:sp modelId="{CBCD870E-F2CF-4436-BA27-F67B05C0969D}">
      <dsp:nvSpPr>
        <dsp:cNvPr id="0" name=""/>
        <dsp:cNvSpPr/>
      </dsp:nvSpPr>
      <dsp:spPr>
        <a:xfrm>
          <a:off x="3722485" y="0"/>
          <a:ext cx="3445958" cy="37388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the plans are equal, what are the transformations required to map from Plan A to Plan B?</a:t>
          </a:r>
        </a:p>
      </dsp:txBody>
      <dsp:txXfrm>
        <a:off x="3722485" y="1495545"/>
        <a:ext cx="3445958" cy="2243317"/>
      </dsp:txXfrm>
    </dsp:sp>
    <dsp:sp modelId="{C4D7279E-0923-4338-9CBE-606F09B5FB1C}">
      <dsp:nvSpPr>
        <dsp:cNvPr id="0" name=""/>
        <dsp:cNvSpPr/>
      </dsp:nvSpPr>
      <dsp:spPr>
        <a:xfrm>
          <a:off x="3722485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2485" y="0"/>
        <a:ext cx="3445958" cy="1495545"/>
      </dsp:txXfrm>
    </dsp:sp>
    <dsp:sp modelId="{F0FDA985-2567-47F1-9A5F-7A93C4D9475F}">
      <dsp:nvSpPr>
        <dsp:cNvPr id="0" name=""/>
        <dsp:cNvSpPr/>
      </dsp:nvSpPr>
      <dsp:spPr>
        <a:xfrm>
          <a:off x="7444120" y="0"/>
          <a:ext cx="3445958" cy="37388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Using Apache Calcite to check the LLM’s response</a:t>
          </a:r>
          <a:endParaRPr lang="en-US" sz="2300" kern="1200"/>
        </a:p>
      </dsp:txBody>
      <dsp:txXfrm>
        <a:off x="7444120" y="1495545"/>
        <a:ext cx="3445958" cy="2243317"/>
      </dsp:txXfrm>
    </dsp:sp>
    <dsp:sp modelId="{0EF658E1-DED8-41E2-BF37-31A068FB067E}">
      <dsp:nvSpPr>
        <dsp:cNvPr id="0" name=""/>
        <dsp:cNvSpPr/>
      </dsp:nvSpPr>
      <dsp:spPr>
        <a:xfrm>
          <a:off x="744412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4120" y="0"/>
        <a:ext cx="3445958" cy="149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DA778-CC1C-4EB5-A569-23ED6987B85C}">
      <dsp:nvSpPr>
        <dsp:cNvPr id="0" name=""/>
        <dsp:cNvSpPr/>
      </dsp:nvSpPr>
      <dsp:spPr>
        <a:xfrm>
          <a:off x="528430" y="76089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2B11E-10C6-4806-86DC-8B638F69FCEA}">
      <dsp:nvSpPr>
        <dsp:cNvPr id="0" name=""/>
        <dsp:cNvSpPr/>
      </dsp:nvSpPr>
      <dsp:spPr>
        <a:xfrm>
          <a:off x="33430" y="2150226"/>
          <a:ext cx="1800000" cy="247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require query plans as input for the LLM.</a:t>
          </a:r>
        </a:p>
      </dsp:txBody>
      <dsp:txXfrm>
        <a:off x="33430" y="2150226"/>
        <a:ext cx="1800000" cy="2472395"/>
      </dsp:txXfrm>
    </dsp:sp>
    <dsp:sp modelId="{3DFC030B-141F-4924-B9C5-248EE751BCD9}">
      <dsp:nvSpPr>
        <dsp:cNvPr id="0" name=""/>
        <dsp:cNvSpPr/>
      </dsp:nvSpPr>
      <dsp:spPr>
        <a:xfrm>
          <a:off x="2643430" y="76089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9EBBD-77E3-4226-996E-0FF4DE98CF04}">
      <dsp:nvSpPr>
        <dsp:cNvPr id="0" name=""/>
        <dsp:cNvSpPr/>
      </dsp:nvSpPr>
      <dsp:spPr>
        <a:xfrm>
          <a:off x="2148430" y="2150226"/>
          <a:ext cx="1800000" cy="247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 have used the EXPLAIN JSON command in PostgreSQL to obtain the detailed query plan in JSON format.</a:t>
          </a:r>
        </a:p>
      </dsp:txBody>
      <dsp:txXfrm>
        <a:off x="2148430" y="2150226"/>
        <a:ext cx="1800000" cy="2472395"/>
      </dsp:txXfrm>
    </dsp:sp>
    <dsp:sp modelId="{65458E59-0F5F-4E40-9A67-9CDB82D82F98}">
      <dsp:nvSpPr>
        <dsp:cNvPr id="0" name=""/>
        <dsp:cNvSpPr/>
      </dsp:nvSpPr>
      <dsp:spPr>
        <a:xfrm>
          <a:off x="4758430" y="76089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78F7D-5EB7-4015-8295-175E838DDC1F}">
      <dsp:nvSpPr>
        <dsp:cNvPr id="0" name=""/>
        <dsp:cNvSpPr/>
      </dsp:nvSpPr>
      <dsp:spPr>
        <a:xfrm>
          <a:off x="4263430" y="2150226"/>
          <a:ext cx="1800000" cy="2472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then “clean” the query plan to remove system-specific information such as planning time, execution time, no. of disk blocks read, etc.</a:t>
          </a:r>
        </a:p>
      </dsp:txBody>
      <dsp:txXfrm>
        <a:off x="4263430" y="2150226"/>
        <a:ext cx="1800000" cy="2472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81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4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7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0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5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1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0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1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40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61" r:id="rId7"/>
    <p:sldLayoutId id="2147483760" r:id="rId8"/>
    <p:sldLayoutId id="2147483759" r:id="rId9"/>
    <p:sldLayoutId id="2147483758" r:id="rId10"/>
    <p:sldLayoutId id="214748375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lluminated server room panel">
            <a:extLst>
              <a:ext uri="{FF2B5EF4-FFF2-40B4-BE49-F238E27FC236}">
                <a16:creationId xmlns:a16="http://schemas.microsoft.com/office/drawing/2014/main" id="{2BE7843A-6746-2015-DC6F-EF9A0996C8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2"/>
          <a:stretch>
            <a:fillRect/>
          </a:stretch>
        </p:blipFill>
        <p:spPr>
          <a:xfrm>
            <a:off x="20" y="0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181FE4-9339-D455-B519-61A2C571A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Database Management Systems – E0261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3FBF76-65BA-5EAC-8EE0-1F7384407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Suhas Kamath &amp; Anish Tiwari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42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31E75-775E-A615-BA8D-AAA7F97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4C5E28-6F1E-D15E-A01A-DB2F6761E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13420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012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64A43-2A0F-E441-BED7-4A3EA794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794763"/>
            <a:ext cx="4057650" cy="2139081"/>
          </a:xfrm>
        </p:spPr>
        <p:txBody>
          <a:bodyPr anchor="t">
            <a:normAutofit/>
          </a:bodyPr>
          <a:lstStyle/>
          <a:p>
            <a:r>
              <a:rPr lang="en-US" sz="3700"/>
              <a:t>Step 1: Extracting query plans from PostgreSQL</a:t>
            </a:r>
            <a:endParaRPr lang="en-IN" sz="3700"/>
          </a:p>
        </p:txBody>
      </p:sp>
      <p:pic>
        <p:nvPicPr>
          <p:cNvPr id="2050" name="Picture 2" descr="Intro to PostgreSQL. Create and Query Postgres Database | by Lauren  Cunningham | CodeX | Medium">
            <a:extLst>
              <a:ext uri="{FF2B5EF4-FFF2-40B4-BE49-F238E27FC236}">
                <a16:creationId xmlns:a16="http://schemas.microsoft.com/office/drawing/2014/main" id="{13001CFF-F7D0-9DF8-72B9-89BAD36E8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836142"/>
            <a:ext cx="3979412" cy="1830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9E69138-E433-0D39-FFBA-25EF3FA5D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391709"/>
              </p:ext>
            </p:extLst>
          </p:nvPr>
        </p:nvGraphicFramePr>
        <p:xfrm>
          <a:off x="5434149" y="914399"/>
          <a:ext cx="6096861" cy="5383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515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CAD1-AD69-CFCC-6520-7D6E95E3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939522"/>
            <a:ext cx="10890929" cy="1097280"/>
          </a:xfrm>
        </p:spPr>
        <p:txBody>
          <a:bodyPr/>
          <a:lstStyle/>
          <a:p>
            <a:r>
              <a:rPr lang="en-US" dirty="0"/>
              <a:t>Step 2: Prompt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7AC4-C5E7-977F-C895-E8AD9238A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5" y="2036802"/>
            <a:ext cx="4403868" cy="35661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need the LLM to output only two things:</a:t>
            </a:r>
          </a:p>
          <a:p>
            <a:pPr lvl="1"/>
            <a:r>
              <a:rPr lang="en-IN" dirty="0"/>
              <a:t>Whether or not the query plans are equivalent</a:t>
            </a:r>
          </a:p>
          <a:p>
            <a:pPr lvl="1"/>
            <a:r>
              <a:rPr lang="en-IN" dirty="0"/>
              <a:t>If they are equivalent, what are the transformations that map from plan A to plan B</a:t>
            </a:r>
          </a:p>
          <a:p>
            <a:r>
              <a:rPr lang="en-IN" dirty="0"/>
              <a:t>After plenty of trials, we have found that the following prompt achieves the best results: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7E8608-2568-D853-9CBD-D04F72D2940A}"/>
              </a:ext>
            </a:extLst>
          </p:cNvPr>
          <p:cNvSpPr txBox="1">
            <a:spLocks/>
          </p:cNvSpPr>
          <p:nvPr/>
        </p:nvSpPr>
        <p:spPr>
          <a:xfrm>
            <a:off x="5525729" y="2036801"/>
            <a:ext cx="6386051" cy="4334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Compare these two query plans and if they are equivalent, output true.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Otherwise, output false. If true, output the following: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list of Apache calcite transformations that can map from the first plan to the second plan.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 NOT OUTPUT ANYTHING ELSE.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 NOT GIVE ANY EXPLANATIONS.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 transformations from the following supported list only: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no transformations can map the first plan to the second plan, output "No transformations found".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21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DD72-A646-8730-04A8-B1263893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794763"/>
            <a:ext cx="4057650" cy="2139081"/>
          </a:xfrm>
        </p:spPr>
        <p:txBody>
          <a:bodyPr anchor="t">
            <a:normAutofit/>
          </a:bodyPr>
          <a:lstStyle/>
          <a:p>
            <a:r>
              <a:rPr lang="en-US" dirty="0"/>
              <a:t>Step 3: Apache Calcite</a:t>
            </a:r>
            <a:endParaRPr lang="en-IN" dirty="0"/>
          </a:p>
        </p:txBody>
      </p:sp>
      <p:pic>
        <p:nvPicPr>
          <p:cNvPr id="1026" name="Picture 2" descr="Apache calcite : How to produced physical(Optimised) tree ...">
            <a:extLst>
              <a:ext uri="{FF2B5EF4-FFF2-40B4-BE49-F238E27FC236}">
                <a16:creationId xmlns:a16="http://schemas.microsoft.com/office/drawing/2014/main" id="{44132D00-4986-B7B8-0F22-71DAF56C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836142"/>
            <a:ext cx="3979412" cy="9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817C-EF79-043B-C7B7-38E081D0F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14399"/>
            <a:ext cx="6096861" cy="5383519"/>
          </a:xfrm>
        </p:spPr>
        <p:txBody>
          <a:bodyPr anchor="t">
            <a:normAutofit/>
          </a:bodyPr>
          <a:lstStyle/>
          <a:p>
            <a:r>
              <a:rPr lang="en-US" dirty="0"/>
              <a:t>Apache Calcite is an open-source framework for building databases and data management systems.</a:t>
            </a:r>
          </a:p>
          <a:p>
            <a:r>
              <a:rPr lang="en-US" dirty="0"/>
              <a:t>It includes a SQL parser, an API for building expressions in relational algebra, and a query planning engine.</a:t>
            </a:r>
          </a:p>
          <a:p>
            <a:r>
              <a:rPr lang="en-US" dirty="0"/>
              <a:t>We use Apache Calcite to check the LLM’s answers</a:t>
            </a:r>
          </a:p>
          <a:p>
            <a:r>
              <a:rPr lang="en-US" dirty="0"/>
              <a:t>This is currently a work in progress</a:t>
            </a:r>
          </a:p>
          <a:p>
            <a:r>
              <a:rPr lang="en-US" dirty="0"/>
              <a:t>We know how to equate two basic queries, but we are yet to find out how to apply transformations to query plans.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65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0B992-CB4B-6FEF-0D36-6A7FF51A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7010061" cy="1097280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  <a:endParaRPr lang="en-IN" dirty="0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2869E4-CB11-88CC-760D-EBD95508F4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4" r="22360"/>
          <a:stretch>
            <a:fillRect/>
          </a:stretch>
        </p:blipFill>
        <p:spPr bwMode="auto">
          <a:xfrm>
            <a:off x="8567928" y="643468"/>
            <a:ext cx="1672943" cy="168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AE4B9-16AE-4210-A356-132F90F65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6204"/>
            <a:ext cx="7010060" cy="3661714"/>
          </a:xfrm>
        </p:spPr>
        <p:txBody>
          <a:bodyPr>
            <a:normAutofit/>
          </a:bodyPr>
          <a:lstStyle/>
          <a:p>
            <a:r>
              <a:rPr lang="en-US" dirty="0"/>
              <a:t>We are currently using OpenAI’s GPT-5. We can try using other LLMs, such as Google’s Gemini, Perplexity, etc. and see if they provide a better accuracy than GPT-5.</a:t>
            </a:r>
          </a:p>
          <a:p>
            <a:r>
              <a:rPr lang="en-US" dirty="0"/>
              <a:t>We need to try to find the limitations of the model.</a:t>
            </a:r>
            <a:endParaRPr lang="en-IN" dirty="0"/>
          </a:p>
        </p:txBody>
      </p:sp>
      <p:pic>
        <p:nvPicPr>
          <p:cNvPr id="3078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7A8DFE13-7A69-F294-4131-64BCDD59F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7928" y="3113019"/>
            <a:ext cx="2980604" cy="71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oogle Gemini Logo PNG HD Download With Transparent Background | PNGHDPro">
            <a:extLst>
              <a:ext uri="{FF2B5EF4-FFF2-40B4-BE49-F238E27FC236}">
                <a16:creationId xmlns:a16="http://schemas.microsoft.com/office/drawing/2014/main" id="{BA7BD888-470B-C039-8136-E70733E4E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00" b="36000"/>
          <a:stretch>
            <a:fillRect/>
          </a:stretch>
        </p:blipFill>
        <p:spPr bwMode="auto">
          <a:xfrm>
            <a:off x="8567928" y="5062062"/>
            <a:ext cx="2980604" cy="76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11204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</TotalTime>
  <Words>388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Courier New</vt:lpstr>
      <vt:lpstr>Grandview Display</vt:lpstr>
      <vt:lpstr>DashVTI</vt:lpstr>
      <vt:lpstr>Database Management Systems – E0261</vt:lpstr>
      <vt:lpstr>Project Objectives</vt:lpstr>
      <vt:lpstr>Step 1: Extracting query plans from PostgreSQL</vt:lpstr>
      <vt:lpstr>Step 2: Prompt Engineering</vt:lpstr>
      <vt:lpstr>Step 3: Apache Calcite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Suhas Kamath</dc:creator>
  <cp:lastModifiedBy>Suhas Kamath</cp:lastModifiedBy>
  <cp:revision>7</cp:revision>
  <dcterms:created xsi:type="dcterms:W3CDTF">2025-10-22T05:14:40Z</dcterms:created>
  <dcterms:modified xsi:type="dcterms:W3CDTF">2025-10-22T05:48:48Z</dcterms:modified>
</cp:coreProperties>
</file>